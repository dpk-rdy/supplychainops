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6a336ab-c96b-ef68-6fd3-bd939649a738}">
          <p14:sldIdLst>
            <p14:sldId id="256"/>
            <p14:sldId id="257"/>
          </p14:sldIdLst>
        </p14:section>
        <p14:section name="What it does" id="{74b54bbe-41a4-d8c2-e233-ebe52c48e8b9}">
          <p14:sldIdLst>
            <p14:sldId id="258"/>
          </p14:sldIdLst>
        </p14:section>
        <p14:section name="What the data says" id="{8041f50e-24c7-8818-91c1-0f9e6412b18f}">
          <p14:sldIdLst>
            <p14:sldId id="259"/>
            <p14:sldId id="260"/>
            <p14:sldId id="261"/>
            <p14:sldId id="262"/>
            <p14:sldId id="263"/>
          </p14:sldIdLst>
        </p14:section>
        <p14:section name="The decision tool" id="{f089fde2-a094-dd90-5234-5551ffc74b86}">
          <p14:sldIdLst>
            <p14:sldId id="264"/>
            <p14:sldId id="265"/>
          </p14:sldIdLst>
        </p14:section>
        <p14:section name="Next steps" id="{6de5d0b6-4c53-58bb-462e-7f91ca8ead8f}">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Hit rate</c:v>
                </c:pt>
              </c:strCache>
            </c:strRef>
          </c:tx>
          <c:spPr>
            <a:solidFill>
              <a:srgbClr val="2A78D6"/>
            </a:solidFill>
            <a:effectLst/>
          </c:spPr>
          <c:invertIfNegative val="0"/>
          <c:dLbls>
            <c:numFmt formatCode="0&quot;%&quot;" sourceLinked="0"/>
            <c:txPr>
              <a:bodyPr/>
              <a:lstStyle/>
              <a:p>
                <a:pPr>
                  <a:defRPr b="0" i="0" strike="noStrike" sz="1000" u="none">
                    <a:solidFill>
                      <a:srgbClr val="4A5660"/>
                    </a:solidFill>
                    <a:latin typeface="+mn-lt"/>
                  </a:defRPr>
                </a:pPr>
              </a:p>
            </c:txPr>
            <c:showLegendKey val="0"/>
            <c:showVal val="1"/>
            <c:showCatName val="0"/>
            <c:showSerName val="0"/>
            <c:showPercent val="0"/>
            <c:showBubbleSize val="0"/>
            <c:showLeaderLines val="0"/>
          </c:dLbls>
          <c:cat>
            <c:multiLvlStrRef>
              <c:f>Sheet1!$A$2:$A$13</c:f>
              <c:multiLvlStrCache>
                <c:ptCount val="12"/>
                <c:lvl>
                  <c:pt idx="0">
                    <c:v>Multifamily podium</c:v>
                  </c:pt>
                  <c:pt idx="1">
                    <c:v>Hospitality</c:v>
                  </c:pt>
                  <c:pt idx="2">
                    <c:v>Sports / rec</c:v>
                  </c:pt>
                  <c:pt idx="3">
                    <c:v>Office</c:v>
                  </c:pt>
                  <c:pt idx="4">
                    <c:v>Healthcare</c:v>
                  </c:pt>
                  <c:pt idx="5">
                    <c:v>Higher ed</c:v>
                  </c:pt>
                  <c:pt idx="6">
                    <c:v>Municipal</c:v>
                  </c:pt>
                  <c:pt idx="7">
                    <c:v>Warehouse</c:v>
                  </c:pt>
                  <c:pt idx="8">
                    <c:v>Industrial</c:v>
                  </c:pt>
                  <c:pt idx="9">
                    <c:v>Retail</c:v>
                  </c:pt>
                  <c:pt idx="10">
                    <c:v>Church</c:v>
                  </c:pt>
                  <c:pt idx="11">
                    <c:v>K-12 school</c:v>
                  </c:pt>
                </c:lvl>
              </c:multiLvlStrCache>
            </c:multiLvlStrRef>
          </c:cat>
          <c:val>
            <c:numRef>
              <c:f>Sheet1!$B$2:$B$13</c:f>
              <c:numCache>
                <c:formatCode>General</c:formatCode>
                <c:ptCount val="12"/>
                <c:pt idx="0">
                  <c:v>11.5</c:v>
                </c:pt>
                <c:pt idx="1">
                  <c:v>13.8</c:v>
                </c:pt>
                <c:pt idx="2">
                  <c:v>15.2</c:v>
                </c:pt>
                <c:pt idx="3">
                  <c:v>16</c:v>
                </c:pt>
                <c:pt idx="4">
                  <c:v>18.5</c:v>
                </c:pt>
                <c:pt idx="5">
                  <c:v>20</c:v>
                </c:pt>
                <c:pt idx="6">
                  <c:v>33.3</c:v>
                </c:pt>
                <c:pt idx="7">
                  <c:v>33.3</c:v>
                </c:pt>
                <c:pt idx="8">
                  <c:v>35.3</c:v>
                </c:pt>
                <c:pt idx="9">
                  <c:v>36.8</c:v>
                </c:pt>
                <c:pt idx="10">
                  <c:v>40</c:v>
                </c:pt>
                <c:pt idx="11">
                  <c:v>40.9</c:v>
                </c:pt>
              </c:numCache>
            </c:numRef>
          </c:val>
        </c:ser>
        <c:dLbls>
          <c:numFmt formatCode="0&quot;%&quot;" sourceLinked="0"/>
          <c:txPr>
            <a:bodyPr/>
            <a:lstStyle/>
            <a:p>
              <a:pPr>
                <a:defRPr b="0" i="0" strike="noStrike" sz="10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Estimated</c:v>
                </c:pt>
              </c:strCache>
            </c:strRef>
          </c:tx>
          <c:spPr>
            <a:solidFill>
              <a:srgbClr val="2A78D6"/>
            </a:solidFill>
            <a:effectLst/>
          </c:spPr>
          <c:invertIfNegative val="0"/>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Sheet1!$A$2:$A$7</c:f>
              <c:multiLvlStrCache>
                <c:ptCount val="6"/>
                <c:lvl>
                  <c:pt idx="0">
                    <c:v>Multifamily podium</c:v>
                  </c:pt>
                  <c:pt idx="1">
                    <c:v>Sports / rec</c:v>
                  </c:pt>
                  <c:pt idx="2">
                    <c:v>Higher ed</c:v>
                  </c:pt>
                  <c:pt idx="3">
                    <c:v>K-12 school</c:v>
                  </c:pt>
                  <c:pt idx="4">
                    <c:v>Retail</c:v>
                  </c:pt>
                  <c:pt idx="5">
                    <c:v>Warehouse</c:v>
                  </c:pt>
                </c:lvl>
              </c:multiLvlStrCache>
            </c:multiLvlStrRef>
          </c:cat>
          <c:val>
            <c:numRef>
              <c:f>Sheet1!$B$2:$B$7</c:f>
              <c:numCache>
                <c:formatCode>General</c:formatCode>
                <c:ptCount val="6"/>
                <c:pt idx="0">
                  <c:v>20.8</c:v>
                </c:pt>
                <c:pt idx="1">
                  <c:v>21.3</c:v>
                </c:pt>
                <c:pt idx="2">
                  <c:v>23.3</c:v>
                </c:pt>
                <c:pt idx="3">
                  <c:v>22.4</c:v>
                </c:pt>
                <c:pt idx="4">
                  <c:v>21.9</c:v>
                </c:pt>
                <c:pt idx="5">
                  <c:v>23.7</c:v>
                </c:pt>
              </c:numCache>
            </c:numRef>
          </c:val>
        </c:ser>
        <c:ser>
          <c:idx val="1"/>
          <c:order val="1"/>
          <c:tx>
            <c:strRef>
              <c:f>Sheet1!$C$1</c:f>
              <c:strCache>
                <c:ptCount val="1"/>
                <c:pt idx="0">
                  <c:v>Actually earned</c:v>
                </c:pt>
              </c:strCache>
            </c:strRef>
          </c:tx>
          <c:spPr>
            <a:solidFill>
              <a:srgbClr val="EB6834"/>
            </a:solidFill>
            <a:effectLst/>
          </c:spPr>
          <c:invertIfNegative val="0"/>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Sheet1!$A$2:$A$7</c:f>
              <c:multiLvlStrCache>
                <c:ptCount val="6"/>
                <c:lvl>
                  <c:pt idx="0">
                    <c:v>Multifamily podium</c:v>
                  </c:pt>
                  <c:pt idx="1">
                    <c:v>Sports / rec</c:v>
                  </c:pt>
                  <c:pt idx="2">
                    <c:v>Higher ed</c:v>
                  </c:pt>
                  <c:pt idx="3">
                    <c:v>K-12 school</c:v>
                  </c:pt>
                  <c:pt idx="4">
                    <c:v>Retail</c:v>
                  </c:pt>
                  <c:pt idx="5">
                    <c:v>Warehouse</c:v>
                  </c:pt>
                </c:lvl>
              </c:multiLvlStrCache>
            </c:multiLvlStrRef>
          </c:cat>
          <c:val>
            <c:numRef>
              <c:f>Sheet1!$C$2:$C$7</c:f>
              <c:numCache>
                <c:formatCode>General</c:formatCode>
                <c:ptCount val="6"/>
                <c:pt idx="0">
                  <c:v>10.5</c:v>
                </c:pt>
                <c:pt idx="1">
                  <c:v>12.5</c:v>
                </c:pt>
                <c:pt idx="2">
                  <c:v>15.1</c:v>
                </c:pt>
                <c:pt idx="3">
                  <c:v>19.9</c:v>
                </c:pt>
                <c:pt idx="4">
                  <c:v>20.3</c:v>
                </c:pt>
                <c:pt idx="5">
                  <c:v>23.4</c:v>
                </c:pt>
              </c:numCache>
            </c:numRef>
          </c:val>
        </c:ser>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3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4A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Won work</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2026Q3</c:v>
                  </c:pt>
                  <c:pt idx="1">
                    <c:v>2026Q4</c:v>
                  </c:pt>
                  <c:pt idx="2">
                    <c:v>2027Q1</c:v>
                  </c:pt>
                  <c:pt idx="3">
                    <c:v>2027Q2</c:v>
                  </c:pt>
                  <c:pt idx="4">
                    <c:v>2027Q3</c:v>
                  </c:pt>
                  <c:pt idx="5">
                    <c:v>2027Q4</c:v>
                  </c:pt>
                  <c:pt idx="6">
                    <c:v>2028Q1</c:v>
                  </c:pt>
                </c:lvl>
              </c:multiLvlStrCache>
            </c:multiLvlStrRef>
          </c:cat>
          <c:val>
            <c:numRef>
              <c:f>Sheet1!$B$2:$B$8</c:f>
              <c:numCache>
                <c:formatCode>General</c:formatCode>
                <c:ptCount val="7"/>
                <c:pt idx="0">
                  <c:v>108</c:v>
                </c:pt>
                <c:pt idx="1">
                  <c:v>93</c:v>
                </c:pt>
                <c:pt idx="2">
                  <c:v>47</c:v>
                </c:pt>
                <c:pt idx="3">
                  <c:v>27</c:v>
                </c:pt>
                <c:pt idx="4">
                  <c:v>0</c:v>
                </c:pt>
                <c:pt idx="5">
                  <c:v>0</c:v>
                </c:pt>
                <c:pt idx="6">
                  <c:v>0</c:v>
                </c:pt>
              </c:numCache>
            </c:numRef>
          </c:val>
        </c:ser>
        <c:ser>
          <c:idx val="1"/>
          <c:order val="1"/>
          <c:tx>
            <c:strRef>
              <c:f>Sheet1!$C$1</c:f>
              <c:strCache>
                <c:ptCount val="1"/>
                <c:pt idx="0">
                  <c:v>Upcoming work at its odds</c:v>
                </c:pt>
              </c:strCache>
            </c:strRef>
          </c:tx>
          <c:spPr>
            <a:solidFill>
              <a:srgbClr val="EDA1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2026Q3</c:v>
                  </c:pt>
                  <c:pt idx="1">
                    <c:v>2026Q4</c:v>
                  </c:pt>
                  <c:pt idx="2">
                    <c:v>2027Q1</c:v>
                  </c:pt>
                  <c:pt idx="3">
                    <c:v>2027Q2</c:v>
                  </c:pt>
                  <c:pt idx="4">
                    <c:v>2027Q3</c:v>
                  </c:pt>
                  <c:pt idx="5">
                    <c:v>2027Q4</c:v>
                  </c:pt>
                  <c:pt idx="6">
                    <c:v>2028Q1</c:v>
                  </c:pt>
                </c:lvl>
              </c:multiLvlStrCache>
            </c:multiLvlStrRef>
          </c:cat>
          <c:val>
            <c:numRef>
              <c:f>Sheet1!$C$2:$C$8</c:f>
              <c:numCache>
                <c:formatCode>General</c:formatCode>
                <c:ptCount val="7"/>
                <c:pt idx="0">
                  <c:v>0</c:v>
                </c:pt>
                <c:pt idx="1">
                  <c:v>0</c:v>
                </c:pt>
                <c:pt idx="2">
                  <c:v>21</c:v>
                </c:pt>
                <c:pt idx="3">
                  <c:v>37</c:v>
                </c:pt>
                <c:pt idx="4">
                  <c:v>50</c:v>
                </c:pt>
                <c:pt idx="5">
                  <c:v>81</c:v>
                </c:pt>
                <c:pt idx="6">
                  <c:v>54</c:v>
                </c:pt>
              </c:numCache>
            </c:numRef>
          </c:val>
        </c:ser>
        <c:ser>
          <c:idx val="2"/>
          <c:order val="2"/>
          <c:tx>
            <c:strRef>
              <c:f>Sheet1!$D$1</c:f>
              <c:strCache>
                <c:ptCount val="1"/>
                <c:pt idx="0">
                  <c:v>Open capacity</c:v>
                </c:pt>
              </c:strCache>
            </c:strRef>
          </c:tx>
          <c:spPr>
            <a:solidFill>
              <a:srgbClr val="D5DBD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2026Q3</c:v>
                  </c:pt>
                  <c:pt idx="1">
                    <c:v>2026Q4</c:v>
                  </c:pt>
                  <c:pt idx="2">
                    <c:v>2027Q1</c:v>
                  </c:pt>
                  <c:pt idx="3">
                    <c:v>2027Q2</c:v>
                  </c:pt>
                  <c:pt idx="4">
                    <c:v>2027Q3</c:v>
                  </c:pt>
                  <c:pt idx="5">
                    <c:v>2027Q4</c:v>
                  </c:pt>
                  <c:pt idx="6">
                    <c:v>2028Q1</c:v>
                  </c:pt>
                </c:lvl>
              </c:multiLvlStrCache>
            </c:multiLvlStrRef>
          </c:cat>
          <c:val>
            <c:numRef>
              <c:f>Sheet1!$D$2:$D$8</c:f>
              <c:numCache>
                <c:formatCode>General</c:formatCode>
                <c:ptCount val="7"/>
                <c:pt idx="0">
                  <c:v>32</c:v>
                </c:pt>
                <c:pt idx="1">
                  <c:v>47</c:v>
                </c:pt>
                <c:pt idx="2">
                  <c:v>72</c:v>
                </c:pt>
                <c:pt idx="3">
                  <c:v>76</c:v>
                </c:pt>
                <c:pt idx="4">
                  <c:v>90</c:v>
                </c:pt>
                <c:pt idx="5">
                  <c:v>59</c:v>
                </c:pt>
                <c:pt idx="6">
                  <c:v>86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140"/>
        </c:scaling>
        <c:delete val="0"/>
        <c:axPos val="l"/>
        <c:majorGridlines>
          <c:spPr>
            <a:ln w="6350" cap="flat">
              <a:solidFill>
                <a:srgbClr val="D5DBDF"/>
              </a:solidFill>
              <a:prstDash val="solid"/>
              <a:round/>
            </a:ln>
          </c:spPr>
        </c:majorGridlines>
        <c:title>
          <c:tx>
            <c:rich>
              <a:bodyPr/>
              <a:lstStyle/>
              <a:p>
                <a:pPr>
                  <a:defRPr sz="900" b="0" i="0" u="none" strike="noStrike">
                    <a:solidFill>
                      <a:srgbClr val="4A5660"/>
                    </a:solidFill>
                    <a:latin typeface="+mn-lt"/>
                  </a:defRPr>
                </a:pPr>
                <a:r>
                  <a:rPr sz="900" b="0" i="0" u="none" strike="noStrike">
                    <a:solidFill>
                      <a:srgbClr val="4A5660"/>
                    </a:solidFill>
                    <a:latin typeface="+mn-lt"/>
                  </a:rPr>
                  <a:t>tons per week</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4A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summary: every bid we send teaches us something. Today that lesson lives in people's heads. This puts it in a table, turns it into a ranked list every Monday, and tells us how full the shop will be next year. Say clearly: the data is made up, the method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every fabricator recognises. Do not dwell; the point is that these are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measure, rank, decide. Steps 1 and 2 are the first 60 days on real data; 3 and 4 come after, and only work if 1 is disciplined.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one sentence each. Pause on the two orange ones: those are the numbers an owner feels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Decided bids only, so cancelled projects do not drag the rate down. The action is not never bid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behind this has one row per GC: hit rate, value, price gap, realised margin, change-order approval, days to pay. The A/B/C class is a starting point for account planning, not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is what the bid assumed, orange is what the job earned, dollar-weighted over completed jobs. Three worst and three best kinds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Won work spread evenly over each job's fabrication weeks. Upcoming work counted at its win odds: a 400-ton job at 25% counts as 100 tons. This is the business-development target in 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Pursue row and one Pass row and read the Why column aloud. The reasons are plain words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small statistical model, the kind an insurer uses, not a chatbot. Being honest about its limits is the point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Intake first, numbers second, scorecard third. The slow part is collecting lost reasons and low-bid numbers, which is phone calls, not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 line and offer the PDF and the 90-day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86384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640080" y="2926080"/>
            <a:ext cx="7863840" cy="10972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indent="0" marL="0">
              <a:buNone/>
              <a:defRPr lang="en-US" sz="2600" b="1" dirty="0">
                <a:solidFill>
                  <a:schemeClr val="tx1"/>
                </a:solidFill>
              </a:defRPr>
            </a:lvl1pPr>
          </a:lstStyle>
          <a:p>
            <a:pPr indent="0" marL="0">
              <a:buNone/>
            </a:pPr>
            <a:endParaRPr lang="en-US" sz="26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900" dirty="0">
                <a:solidFill>
                  <a:schemeClr val="accent5"/>
                </a:solidFill>
              </a:rPr>
              <a:t>Weibee Steel  |  Bid intelligence  |  work sample on synthetic data</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863840" cy="1371600"/>
          </a:xfrm>
          <a:prstGeom prst="rect">
            <a:avLst/>
          </a:prstGeom>
          <a:noFill/>
          <a:ln/>
        </p:spPr>
        <p:txBody>
          <a:bodyPr wrap="square" lIns="0" tIns="0" rIns="0" bIns="0" rtlCol="0" anchor="b"/>
          <a:lstStyle/>
          <a:p>
            <a:pPr indent="0" marL="0">
              <a:buNone/>
            </a:pPr>
            <a:r>
              <a:rPr lang="en-US" sz="4000" b="1" dirty="0">
                <a:solidFill>
                  <a:schemeClr val="bg1"/>
                </a:solidFill>
              </a:rPr>
              <a:t>Where we win, what it earns, and what to bid next</a:t>
            </a:r>
            <a:endParaRPr lang="en-US" sz="4000" dirty="0"/>
          </a:p>
        </p:txBody>
      </p:sp>
      <p:sp>
        <p:nvSpPr>
          <p:cNvPr id="3" name="Text 0"/>
          <p:cNvSpPr/>
          <p:nvPr>
            <p:ph idx="101" type="body" hasCustomPrompt="1"/>
          </p:nvPr>
        </p:nvSpPr>
        <p:spPr>
          <a:xfrm>
            <a:off x="640080" y="2926080"/>
            <a:ext cx="7863840" cy="1097280"/>
          </a:xfrm>
          <a:prstGeom prst="rect">
            <a:avLst/>
          </a:prstGeom>
          <a:noFill/>
          <a:ln/>
        </p:spPr>
        <p:txBody>
          <a:bodyPr wrap="square" lIns="0" tIns="0" rIns="0" bIns="0" rtlCol="0" anchor="t"/>
          <a:lstStyle/>
          <a:p>
            <a:pPr indent="0" marL="0">
              <a:buNone/>
            </a:pPr>
            <a:r>
              <a:rPr lang="en-US" sz="1800" dirty="0">
                <a:solidFill>
                  <a:schemeClr val="accent6"/>
                </a:solidFill>
              </a:rPr>
              <a:t>Bid intelligence for Weibee Steel. A working data-and-decisions loop, shown on synthetic data.</a:t>
            </a:r>
            <a:endParaRPr lang="en-US" sz="1800" dirty="0"/>
          </a:p>
        </p:txBody>
      </p:sp>
      <p:sp>
        <p:nvSpPr>
          <p:cNvPr id="4" name="byline"/>
          <p:cNvSpPr txBox="1"/>
          <p:nvPr/>
        </p:nvSpPr>
        <p:spPr>
          <a:xfrm>
            <a:off x="640080" y="4297680"/>
            <a:ext cx="7863840" cy="365760"/>
          </a:xfrm>
          <a:prstGeom prst="rect">
            <a:avLst/>
          </a:prstGeom>
          <a:noFill/>
          <a:ln/>
        </p:spPr>
        <p:txBody>
          <a:bodyPr wrap="square" lIns="0" tIns="0" rIns="0" bIns="0" rtlCol="0" anchor="ctr"/>
          <a:lstStyle/>
          <a:p>
            <a:pPr indent="0" marL="0">
              <a:buNone/>
            </a:pPr>
            <a:r>
              <a:rPr lang="en-US" sz="1200" dirty="0">
                <a:solidFill>
                  <a:schemeClr val="accent5"/>
                </a:solidFill>
              </a:rPr>
              <a:t>Deepak Reddy  |  Business Development Associate candidate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Every bid teaches us something. Today the lesson stays in people's heads</a:t>
            </a:r>
            <a:endParaRPr lang="en-US" sz="2600" dirty="0"/>
          </a:p>
        </p:txBody>
      </p:sp>
      <p:sp>
        <p:nvSpPr>
          <p:cNvPr id="3" name="icon circle"/>
          <p:cNvSpPr/>
          <p:nvPr/>
        </p:nvSpPr>
        <p:spPr>
          <a:xfrm>
            <a:off x="548640" y="1280160"/>
            <a:ext cx="640080" cy="64008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704088" y="1435608"/>
            <a:ext cx="329184" cy="329184"/>
          </a:xfrm>
          <a:prstGeom prst="rect">
            <a:avLst/>
          </a:prstGeom>
        </p:spPr>
      </p:pic>
      <p:sp>
        <p:nvSpPr>
          <p:cNvPr id="5" name="pain text"/>
          <p:cNvSpPr txBox="1"/>
          <p:nvPr/>
        </p:nvSpPr>
        <p:spPr>
          <a:xfrm>
            <a:off x="1417320" y="1234440"/>
            <a:ext cx="7223760" cy="731520"/>
          </a:xfrm>
          <a:prstGeom prst="rect">
            <a:avLst/>
          </a:prstGeom>
          <a:noFill/>
          <a:ln/>
        </p:spPr>
        <p:txBody>
          <a:bodyPr wrap="square" lIns="0" tIns="0" rIns="0" bIns="0" rtlCol="0" anchor="ctr"/>
          <a:lstStyle/>
          <a:p>
            <a:pPr indent="0" marL="0">
              <a:buNone/>
            </a:pPr>
            <a:r>
              <a:rPr lang="en-US" sz="1600" dirty="0">
                <a:solidFill>
                  <a:schemeClr val="tx1"/>
                </a:solidFill>
              </a:rPr>
              <a:t>We know we 'do well on schools', but not the hit rate with a denominator, by type, size, distance and customer.</a:t>
            </a:r>
            <a:endParaRPr lang="en-US" sz="1600" dirty="0"/>
          </a:p>
        </p:txBody>
      </p:sp>
      <p:sp>
        <p:nvSpPr>
          <p:cNvPr id="6" name="icon circle"/>
          <p:cNvSpPr/>
          <p:nvPr/>
        </p:nvSpPr>
        <p:spPr>
          <a:xfrm>
            <a:off x="548640" y="2331720"/>
            <a:ext cx="640080" cy="64008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2"/>
          <a:stretch>
            <a:fillRect/>
          </a:stretch>
        </p:blipFill>
        <p:spPr>
          <a:xfrm>
            <a:off x="704088" y="2487168"/>
            <a:ext cx="329184" cy="329184"/>
          </a:xfrm>
          <a:prstGeom prst="rect">
            <a:avLst/>
          </a:prstGeom>
        </p:spPr>
      </p:pic>
      <p:sp>
        <p:nvSpPr>
          <p:cNvPr id="8" name="pain text"/>
          <p:cNvSpPr txBox="1"/>
          <p:nvPr/>
        </p:nvSpPr>
        <p:spPr>
          <a:xfrm>
            <a:off x="1417320" y="2286000"/>
            <a:ext cx="7223760" cy="731520"/>
          </a:xfrm>
          <a:prstGeom prst="rect">
            <a:avLst/>
          </a:prstGeom>
          <a:noFill/>
          <a:ln/>
        </p:spPr>
        <p:txBody>
          <a:bodyPr wrap="square" lIns="0" tIns="0" rIns="0" bIns="0" rtlCol="0" anchor="ctr"/>
          <a:lstStyle/>
          <a:p>
            <a:pPr indent="0" marL="0">
              <a:buNone/>
            </a:pPr>
            <a:r>
              <a:rPr lang="en-US" sz="1600" dirty="0">
                <a:solidFill>
                  <a:schemeClr val="tx1"/>
                </a:solidFill>
              </a:rPr>
              <a:t>The estimate and the job's final cost never meet. We do not know which kinds of work keep their margin and which give it back.</a:t>
            </a:r>
            <a:endParaRPr lang="en-US" sz="1600" dirty="0"/>
          </a:p>
        </p:txBody>
      </p:sp>
      <p:sp>
        <p:nvSpPr>
          <p:cNvPr id="9" name="icon circle"/>
          <p:cNvSpPr/>
          <p:nvPr/>
        </p:nvSpPr>
        <p:spPr>
          <a:xfrm>
            <a:off x="548640" y="3383280"/>
            <a:ext cx="640080" cy="64008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3"/>
          <a:stretch>
            <a:fillRect/>
          </a:stretch>
        </p:blipFill>
        <p:spPr>
          <a:xfrm>
            <a:off x="704088" y="3538728"/>
            <a:ext cx="329184" cy="329184"/>
          </a:xfrm>
          <a:prstGeom prst="rect">
            <a:avLst/>
          </a:prstGeom>
        </p:spPr>
      </p:pic>
      <p:sp>
        <p:nvSpPr>
          <p:cNvPr id="11" name="pain text"/>
          <p:cNvSpPr txBox="1"/>
          <p:nvPr/>
        </p:nvSpPr>
        <p:spPr>
          <a:xfrm>
            <a:off x="1417320" y="3337560"/>
            <a:ext cx="7223760" cy="731520"/>
          </a:xfrm>
          <a:prstGeom prst="rect">
            <a:avLst/>
          </a:prstGeom>
          <a:noFill/>
          <a:ln/>
        </p:spPr>
        <p:txBody>
          <a:bodyPr wrap="square" lIns="0" tIns="0" rIns="0" bIns="0" rtlCol="0" anchor="ctr"/>
          <a:lstStyle/>
          <a:p>
            <a:pPr indent="0" marL="0">
              <a:buNone/>
            </a:pPr>
            <a:r>
              <a:rPr lang="en-US" sz="1600" dirty="0">
                <a:solidFill>
                  <a:schemeClr val="tx1"/>
                </a:solidFill>
              </a:rPr>
              <a:t>Estimating hours go wherever the invitations come from. Nobody ranks the invitations before a week of takeoff starts.</a:t>
            </a:r>
            <a:endParaRPr lang="en-US" sz="1600" dirty="0"/>
          </a:p>
        </p:txBody>
      </p:sp>
      <p:sp>
        <p:nvSpPr>
          <p:cNvPr id="12" name="tie to role"/>
          <p:cNvSpPr txBox="1"/>
          <p:nvPr/>
        </p:nvSpPr>
        <p:spPr>
          <a:xfrm>
            <a:off x="548640" y="4206240"/>
            <a:ext cx="8046720" cy="457200"/>
          </a:xfrm>
          <a:prstGeom prst="rect">
            <a:avLst/>
          </a:prstGeom>
          <a:noFill/>
          <a:ln/>
        </p:spPr>
        <p:txBody>
          <a:bodyPr wrap="square" lIns="0" tIns="0" rIns="0" bIns="0" rtlCol="0" anchor="ctr"/>
          <a:lstStyle/>
          <a:p>
            <a:pPr indent="0" marL="0">
              <a:buNone/>
            </a:pPr>
            <a:r>
              <a:rPr lang="en-US" sz="1250" i="1" dirty="0">
                <a:solidFill>
                  <a:schemeClr val="tx2"/>
                </a:solidFill>
              </a:rPr>
              <a:t>The posting asks for someone to build exactly this loop: the GC database, bid results, pricing feedback, why we win or lose, and a bid/no-bid process.</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What the pipeline does, in four steps</a:t>
            </a:r>
            <a:endParaRPr lang="en-US" sz="2600" dirty="0"/>
          </a:p>
        </p:txBody>
      </p:sp>
      <p:sp>
        <p:nvSpPr>
          <p:cNvPr id="3" name="step Collect"/>
          <p:cNvSpPr/>
          <p:nvPr/>
        </p:nvSpPr>
        <p:spPr>
          <a:xfrm>
            <a:off x="457200" y="1280160"/>
            <a:ext cx="1920240" cy="3017520"/>
          </a:xfrm>
          <a:prstGeom prst="roundRect">
            <a:avLst>
              <a:gd name="adj" fmla="val 3810"/>
            </a:avLst>
          </a:prstGeom>
          <a:solidFill>
            <a:schemeClr val="bg2"/>
          </a:solidFill>
          <a:ln w="9525">
            <a:solidFill>
              <a:schemeClr val="accent6"/>
            </a:solidFill>
            <a:prstDash val="solid"/>
          </a:ln>
        </p:spPr>
      </p:sp>
      <p:sp>
        <p:nvSpPr>
          <p:cNvPr id="4" name="step icon circle"/>
          <p:cNvSpPr/>
          <p:nvPr/>
        </p:nvSpPr>
        <p:spPr>
          <a:xfrm>
            <a:off x="640080" y="1463040"/>
            <a:ext cx="548640" cy="548640"/>
          </a:xfrm>
          <a:prstGeom prst="ellipse">
            <a:avLst/>
          </a:prstGeom>
          <a:solidFill>
            <a:schemeClr val="accent2"/>
          </a:solidFill>
          <a:ln w="12700">
            <a:solidFill>
              <a:schemeClr val="accent2"/>
            </a:solidFill>
            <a:prstDash val="solid"/>
          </a:ln>
        </p:spPr>
      </p:sp>
      <p:pic>
        <p:nvPicPr>
          <p:cNvPr id="5" name="step icon" descr="preencoded.png">    </p:cNvPr>
          <p:cNvPicPr>
            <a:picLocks noChangeAspect="1"/>
          </p:cNvPicPr>
          <p:nvPr/>
        </p:nvPicPr>
        <p:blipFill>
          <a:blip r:embed="rId1"/>
          <a:stretch>
            <a:fillRect/>
          </a:stretch>
        </p:blipFill>
        <p:spPr>
          <a:xfrm>
            <a:off x="777240" y="1600200"/>
            <a:ext cx="274320" cy="274320"/>
          </a:xfrm>
          <a:prstGeom prst="rect">
            <a:avLst/>
          </a:prstGeom>
        </p:spPr>
      </p:pic>
      <p:sp>
        <p:nvSpPr>
          <p:cNvPr id="6" name="step head"/>
          <p:cNvSpPr txBox="1"/>
          <p:nvPr/>
        </p:nvSpPr>
        <p:spPr>
          <a:xfrm>
            <a:off x="640080" y="214884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1. Collect</a:t>
            </a:r>
            <a:endParaRPr lang="en-US" sz="1800" dirty="0"/>
          </a:p>
        </p:txBody>
      </p:sp>
      <p:sp>
        <p:nvSpPr>
          <p:cNvPr id="7" name="step text"/>
          <p:cNvSpPr txBox="1"/>
          <p:nvPr/>
        </p:nvSpPr>
        <p:spPr>
          <a:xfrm>
            <a:off x="640080" y="2560320"/>
            <a:ext cx="1600200" cy="1645920"/>
          </a:xfrm>
          <a:prstGeom prst="rect">
            <a:avLst/>
          </a:prstGeom>
          <a:noFill/>
          <a:ln/>
        </p:spPr>
        <p:txBody>
          <a:bodyPr wrap="square" lIns="0" tIns="0" rIns="0" bIns="0" rtlCol="0" anchor="t"/>
          <a:lstStyle/>
          <a:p>
            <a:pPr indent="0" marL="0">
              <a:buNone/>
            </a:pPr>
            <a:r>
              <a:rPr lang="en-US" sz="1250" dirty="0">
                <a:solidFill>
                  <a:schemeClr val="tx2"/>
                </a:solidFill>
              </a:rPr>
              <a:t>Every invitation, bid, result, low-bid number and job close-out in one place.</a:t>
            </a:r>
            <a:endParaRPr lang="en-US" sz="1250" dirty="0"/>
          </a:p>
        </p:txBody>
      </p:sp>
      <p:sp>
        <p:nvSpPr>
          <p:cNvPr id="8" name="step Measure"/>
          <p:cNvSpPr/>
          <p:nvPr/>
        </p:nvSpPr>
        <p:spPr>
          <a:xfrm>
            <a:off x="2560320" y="1280160"/>
            <a:ext cx="1920240" cy="3017520"/>
          </a:xfrm>
          <a:prstGeom prst="roundRect">
            <a:avLst>
              <a:gd name="adj" fmla="val 3810"/>
            </a:avLst>
          </a:prstGeom>
          <a:solidFill>
            <a:schemeClr val="bg2"/>
          </a:solidFill>
          <a:ln w="9525">
            <a:solidFill>
              <a:schemeClr val="accent6"/>
            </a:solidFill>
            <a:prstDash val="solid"/>
          </a:ln>
        </p:spPr>
      </p:sp>
      <p:sp>
        <p:nvSpPr>
          <p:cNvPr id="9" name="step icon circle"/>
          <p:cNvSpPr/>
          <p:nvPr/>
        </p:nvSpPr>
        <p:spPr>
          <a:xfrm>
            <a:off x="2743200" y="1463040"/>
            <a:ext cx="548640" cy="548640"/>
          </a:xfrm>
          <a:prstGeom prst="ellipse">
            <a:avLst/>
          </a:prstGeom>
          <a:solidFill>
            <a:schemeClr val="accent2"/>
          </a:solidFill>
          <a:ln w="12700">
            <a:solidFill>
              <a:schemeClr val="accent2"/>
            </a:solidFill>
            <a:prstDash val="solid"/>
          </a:ln>
        </p:spPr>
      </p:sp>
      <p:pic>
        <p:nvPicPr>
          <p:cNvPr id="10" name="step icon" descr="preencoded.png">    </p:cNvPr>
          <p:cNvPicPr>
            <a:picLocks noChangeAspect="1"/>
          </p:cNvPicPr>
          <p:nvPr/>
        </p:nvPicPr>
        <p:blipFill>
          <a:blip r:embed="rId2"/>
          <a:stretch>
            <a:fillRect/>
          </a:stretch>
        </p:blipFill>
        <p:spPr>
          <a:xfrm>
            <a:off x="2880360" y="1600200"/>
            <a:ext cx="274320" cy="274320"/>
          </a:xfrm>
          <a:prstGeom prst="rect">
            <a:avLst/>
          </a:prstGeom>
        </p:spPr>
      </p:pic>
      <p:sp>
        <p:nvSpPr>
          <p:cNvPr id="11" name="step head"/>
          <p:cNvSpPr txBox="1"/>
          <p:nvPr/>
        </p:nvSpPr>
        <p:spPr>
          <a:xfrm>
            <a:off x="2743200" y="214884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2. Measure</a:t>
            </a:r>
            <a:endParaRPr lang="en-US" sz="1800" dirty="0"/>
          </a:p>
        </p:txBody>
      </p:sp>
      <p:sp>
        <p:nvSpPr>
          <p:cNvPr id="12" name="step text"/>
          <p:cNvSpPr txBox="1"/>
          <p:nvPr/>
        </p:nvSpPr>
        <p:spPr>
          <a:xfrm>
            <a:off x="2743200" y="2560320"/>
            <a:ext cx="1600200" cy="1645920"/>
          </a:xfrm>
          <a:prstGeom prst="rect">
            <a:avLst/>
          </a:prstGeom>
          <a:noFill/>
          <a:ln/>
        </p:spPr>
        <p:txBody>
          <a:bodyPr wrap="square" lIns="0" tIns="0" rIns="0" bIns="0" rtlCol="0" anchor="t"/>
          <a:lstStyle/>
          <a:p>
            <a:pPr indent="0" marL="0">
              <a:buNone/>
            </a:pPr>
            <a:r>
              <a:rPr lang="en-US" sz="1250" dirty="0">
                <a:solidFill>
                  <a:schemeClr val="tx2"/>
                </a:solidFill>
              </a:rPr>
              <a:t>Hit rates with denominators. Estimated versus realised margin. Dollars won per estimating hour.</a:t>
            </a:r>
            <a:endParaRPr lang="en-US" sz="1250" dirty="0"/>
          </a:p>
        </p:txBody>
      </p:sp>
      <p:sp>
        <p:nvSpPr>
          <p:cNvPr id="13" name="step Rank"/>
          <p:cNvSpPr/>
          <p:nvPr/>
        </p:nvSpPr>
        <p:spPr>
          <a:xfrm>
            <a:off x="4663440" y="1280160"/>
            <a:ext cx="1920240" cy="3017520"/>
          </a:xfrm>
          <a:prstGeom prst="roundRect">
            <a:avLst>
              <a:gd name="adj" fmla="val 3810"/>
            </a:avLst>
          </a:prstGeom>
          <a:solidFill>
            <a:schemeClr val="bg2"/>
          </a:solidFill>
          <a:ln w="9525">
            <a:solidFill>
              <a:schemeClr val="accent6"/>
            </a:solidFill>
            <a:prstDash val="solid"/>
          </a:ln>
        </p:spPr>
      </p:sp>
      <p:sp>
        <p:nvSpPr>
          <p:cNvPr id="14" name="step icon circle"/>
          <p:cNvSpPr/>
          <p:nvPr/>
        </p:nvSpPr>
        <p:spPr>
          <a:xfrm>
            <a:off x="4846320" y="1463040"/>
            <a:ext cx="548640" cy="548640"/>
          </a:xfrm>
          <a:prstGeom prst="ellipse">
            <a:avLst/>
          </a:prstGeom>
          <a:solidFill>
            <a:schemeClr val="accent2"/>
          </a:solidFill>
          <a:ln w="12700">
            <a:solidFill>
              <a:schemeClr val="accent2"/>
            </a:solidFill>
            <a:prstDash val="solid"/>
          </a:ln>
        </p:spPr>
      </p:sp>
      <p:pic>
        <p:nvPicPr>
          <p:cNvPr id="15" name="step icon" descr="preencoded.png">    </p:cNvPr>
          <p:cNvPicPr>
            <a:picLocks noChangeAspect="1"/>
          </p:cNvPicPr>
          <p:nvPr/>
        </p:nvPicPr>
        <p:blipFill>
          <a:blip r:embed="rId3"/>
          <a:stretch>
            <a:fillRect/>
          </a:stretch>
        </p:blipFill>
        <p:spPr>
          <a:xfrm>
            <a:off x="4983480" y="1600200"/>
            <a:ext cx="274320" cy="274320"/>
          </a:xfrm>
          <a:prstGeom prst="rect">
            <a:avLst/>
          </a:prstGeom>
        </p:spPr>
      </p:pic>
      <p:sp>
        <p:nvSpPr>
          <p:cNvPr id="16" name="step head"/>
          <p:cNvSpPr txBox="1"/>
          <p:nvPr/>
        </p:nvSpPr>
        <p:spPr>
          <a:xfrm>
            <a:off x="4846320" y="214884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3. Rank</a:t>
            </a:r>
            <a:endParaRPr lang="en-US" sz="1800" dirty="0"/>
          </a:p>
        </p:txBody>
      </p:sp>
      <p:sp>
        <p:nvSpPr>
          <p:cNvPr id="17" name="step text"/>
          <p:cNvSpPr txBox="1"/>
          <p:nvPr/>
        </p:nvSpPr>
        <p:spPr>
          <a:xfrm>
            <a:off x="4846320" y="2560320"/>
            <a:ext cx="1600200" cy="1645920"/>
          </a:xfrm>
          <a:prstGeom prst="rect">
            <a:avLst/>
          </a:prstGeom>
          <a:noFill/>
          <a:ln/>
        </p:spPr>
        <p:txBody>
          <a:bodyPr wrap="square" lIns="0" tIns="0" rIns="0" bIns="0" rtlCol="0" anchor="t"/>
          <a:lstStyle/>
          <a:p>
            <a:pPr indent="0" marL="0">
              <a:buNone/>
            </a:pPr>
            <a:r>
              <a:rPr lang="en-US" sz="1250" dirty="0">
                <a:solidFill>
                  <a:schemeClr val="tx2"/>
                </a:solidFill>
              </a:rPr>
              <a:t>Every upcoming project scored: win odds, margin we really keep, estimating cost, shop load.</a:t>
            </a:r>
            <a:endParaRPr lang="en-US" sz="1250" dirty="0"/>
          </a:p>
        </p:txBody>
      </p:sp>
      <p:sp>
        <p:nvSpPr>
          <p:cNvPr id="18" name="step Decide"/>
          <p:cNvSpPr/>
          <p:nvPr/>
        </p:nvSpPr>
        <p:spPr>
          <a:xfrm>
            <a:off x="6766560" y="1280160"/>
            <a:ext cx="1920240" cy="3017520"/>
          </a:xfrm>
          <a:prstGeom prst="roundRect">
            <a:avLst>
              <a:gd name="adj" fmla="val 3810"/>
            </a:avLst>
          </a:prstGeom>
          <a:solidFill>
            <a:schemeClr val="bg2"/>
          </a:solidFill>
          <a:ln w="9525">
            <a:solidFill>
              <a:schemeClr val="accent6"/>
            </a:solidFill>
            <a:prstDash val="solid"/>
          </a:ln>
        </p:spPr>
      </p:sp>
      <p:sp>
        <p:nvSpPr>
          <p:cNvPr id="19" name="step icon circle"/>
          <p:cNvSpPr/>
          <p:nvPr/>
        </p:nvSpPr>
        <p:spPr>
          <a:xfrm>
            <a:off x="6949440" y="1463040"/>
            <a:ext cx="548640" cy="548640"/>
          </a:xfrm>
          <a:prstGeom prst="ellipse">
            <a:avLst/>
          </a:prstGeom>
          <a:solidFill>
            <a:schemeClr val="accent2"/>
          </a:solidFill>
          <a:ln w="12700">
            <a:solidFill>
              <a:schemeClr val="accent2"/>
            </a:solidFill>
            <a:prstDash val="solid"/>
          </a:ln>
        </p:spPr>
      </p:sp>
      <p:pic>
        <p:nvPicPr>
          <p:cNvPr id="20" name="step icon" descr="preencoded.png">    </p:cNvPr>
          <p:cNvPicPr>
            <a:picLocks noChangeAspect="1"/>
          </p:cNvPicPr>
          <p:nvPr/>
        </p:nvPicPr>
        <p:blipFill>
          <a:blip r:embed="rId4"/>
          <a:stretch>
            <a:fillRect/>
          </a:stretch>
        </p:blipFill>
        <p:spPr>
          <a:xfrm>
            <a:off x="7086600" y="1600200"/>
            <a:ext cx="274320" cy="274320"/>
          </a:xfrm>
          <a:prstGeom prst="rect">
            <a:avLst/>
          </a:prstGeom>
        </p:spPr>
      </p:pic>
      <p:sp>
        <p:nvSpPr>
          <p:cNvPr id="21" name="step head"/>
          <p:cNvSpPr txBox="1"/>
          <p:nvPr/>
        </p:nvSpPr>
        <p:spPr>
          <a:xfrm>
            <a:off x="6949440" y="2148840"/>
            <a:ext cx="1554480" cy="365760"/>
          </a:xfrm>
          <a:prstGeom prst="rect">
            <a:avLst/>
          </a:prstGeom>
          <a:noFill/>
          <a:ln/>
        </p:spPr>
        <p:txBody>
          <a:bodyPr wrap="square" lIns="0" tIns="0" rIns="0" bIns="0" rtlCol="0" anchor="ctr"/>
          <a:lstStyle/>
          <a:p>
            <a:pPr indent="0" marL="0">
              <a:buNone/>
            </a:pPr>
            <a:r>
              <a:rPr lang="en-US" sz="1800" b="1" dirty="0">
                <a:solidFill>
                  <a:schemeClr val="tx1"/>
                </a:solidFill>
              </a:rPr>
              <a:t>4. Decide</a:t>
            </a:r>
            <a:endParaRPr lang="en-US" sz="1800" dirty="0"/>
          </a:p>
        </p:txBody>
      </p:sp>
      <p:sp>
        <p:nvSpPr>
          <p:cNvPr id="22" name="step text"/>
          <p:cNvSpPr txBox="1"/>
          <p:nvPr/>
        </p:nvSpPr>
        <p:spPr>
          <a:xfrm>
            <a:off x="6949440" y="2560320"/>
            <a:ext cx="1600200" cy="1645920"/>
          </a:xfrm>
          <a:prstGeom prst="rect">
            <a:avLst/>
          </a:prstGeom>
          <a:noFill/>
          <a:ln/>
        </p:spPr>
        <p:txBody>
          <a:bodyPr wrap="square" lIns="0" tIns="0" rIns="0" bIns="0" rtlCol="0" anchor="t"/>
          <a:lstStyle/>
          <a:p>
            <a:pPr indent="0" marL="0">
              <a:buNone/>
            </a:pPr>
            <a:r>
              <a:rPr lang="en-US" sz="1250" dirty="0">
                <a:solidFill>
                  <a:schemeClr val="tx2"/>
                </a:solidFill>
              </a:rPr>
              <a:t>A Pursue / Review / Pass list for the Monday bid meeting. The room overrides; the override is logged.</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The business at a glance, trailing twelve months</a:t>
            </a:r>
            <a:endParaRPr lang="en-US" sz="2600" dirty="0"/>
          </a:p>
        </p:txBody>
      </p:sp>
      <p:sp>
        <p:nvSpPr>
          <p:cNvPr id="3" name="stat Hit rate"/>
          <p:cNvSpPr/>
          <p:nvPr/>
        </p:nvSpPr>
        <p:spPr>
          <a:xfrm>
            <a:off x="457200" y="1234440"/>
            <a:ext cx="2697480" cy="1417320"/>
          </a:xfrm>
          <a:prstGeom prst="roundRect">
            <a:avLst>
              <a:gd name="adj" fmla="val 5161"/>
            </a:avLst>
          </a:prstGeom>
          <a:solidFill>
            <a:schemeClr val="bg2"/>
          </a:solidFill>
          <a:ln w="9525">
            <a:solidFill>
              <a:schemeClr val="accent6"/>
            </a:solidFill>
            <a:prstDash val="solid"/>
          </a:ln>
        </p:spPr>
      </p:sp>
      <p:sp>
        <p:nvSpPr>
          <p:cNvPr id="4" name="stat value Hit rate"/>
          <p:cNvSpPr txBox="1"/>
          <p:nvPr/>
        </p:nvSpPr>
        <p:spPr>
          <a:xfrm>
            <a:off x="640080" y="1344168"/>
            <a:ext cx="2331720" cy="594360"/>
          </a:xfrm>
          <a:prstGeom prst="rect">
            <a:avLst/>
          </a:prstGeom>
          <a:noFill/>
          <a:ln/>
        </p:spPr>
        <p:txBody>
          <a:bodyPr wrap="square" lIns="0" tIns="0" rIns="0" bIns="0" rtlCol="0" anchor="ctr"/>
          <a:lstStyle/>
          <a:p>
            <a:pPr indent="0" marL="0">
              <a:buNone/>
            </a:pPr>
            <a:r>
              <a:rPr lang="en-US" sz="3000" b="1" dirty="0">
                <a:solidFill>
                  <a:schemeClr val="tx1"/>
                </a:solidFill>
              </a:rPr>
              <a:t>25%</a:t>
            </a:r>
            <a:endParaRPr lang="en-US" sz="3000" dirty="0"/>
          </a:p>
        </p:txBody>
      </p:sp>
      <p:sp>
        <p:nvSpPr>
          <p:cNvPr id="5" name="stat label Hit rate"/>
          <p:cNvSpPr txBox="1"/>
          <p:nvPr/>
        </p:nvSpPr>
        <p:spPr>
          <a:xfrm>
            <a:off x="640080" y="1947672"/>
            <a:ext cx="2331720" cy="320040"/>
          </a:xfrm>
          <a:prstGeom prst="rect">
            <a:avLst/>
          </a:prstGeom>
          <a:noFill/>
          <a:ln/>
        </p:spPr>
        <p:txBody>
          <a:bodyPr wrap="square" lIns="0" tIns="0" rIns="0" bIns="0" rtlCol="0" anchor="ctr"/>
          <a:lstStyle/>
          <a:p>
            <a:pPr indent="0" marL="0">
              <a:buNone/>
            </a:pPr>
            <a:r>
              <a:rPr lang="en-US" sz="1250" b="1" dirty="0">
                <a:solidFill>
                  <a:schemeClr val="tx2"/>
                </a:solidFill>
              </a:rPr>
              <a:t>Hit rate</a:t>
            </a:r>
            <a:endParaRPr lang="en-US" sz="1250" dirty="0"/>
          </a:p>
        </p:txBody>
      </p:sp>
      <p:sp>
        <p:nvSpPr>
          <p:cNvPr id="6" name="stat note Hit rate"/>
          <p:cNvSpPr txBox="1"/>
          <p:nvPr/>
        </p:nvSpPr>
        <p:spPr>
          <a:xfrm>
            <a:off x="640080" y="2240280"/>
            <a:ext cx="2331720" cy="365760"/>
          </a:xfrm>
          <a:prstGeom prst="rect">
            <a:avLst/>
          </a:prstGeom>
          <a:noFill/>
          <a:ln/>
        </p:spPr>
        <p:txBody>
          <a:bodyPr wrap="square" lIns="0" tIns="0" rIns="0" bIns="0" rtlCol="0" anchor="ctr"/>
          <a:lstStyle/>
          <a:p>
            <a:pPr indent="0" marL="0">
              <a:buNone/>
            </a:pPr>
            <a:r>
              <a:rPr lang="en-US" sz="1050" dirty="0">
                <a:solidFill>
                  <a:schemeClr val="accent5"/>
                </a:solidFill>
              </a:rPr>
              <a:t>20 of 80 decided bids; prior year 33%</a:t>
            </a:r>
            <a:endParaRPr lang="en-US" sz="1050" dirty="0"/>
          </a:p>
        </p:txBody>
      </p:sp>
      <p:sp>
        <p:nvSpPr>
          <p:cNvPr id="7" name="stat Value won"/>
          <p:cNvSpPr/>
          <p:nvPr/>
        </p:nvSpPr>
        <p:spPr>
          <a:xfrm>
            <a:off x="3246120" y="1234440"/>
            <a:ext cx="2697480" cy="1417320"/>
          </a:xfrm>
          <a:prstGeom prst="roundRect">
            <a:avLst>
              <a:gd name="adj" fmla="val 5161"/>
            </a:avLst>
          </a:prstGeom>
          <a:solidFill>
            <a:schemeClr val="bg2"/>
          </a:solidFill>
          <a:ln w="9525">
            <a:solidFill>
              <a:schemeClr val="accent6"/>
            </a:solidFill>
            <a:prstDash val="solid"/>
          </a:ln>
        </p:spPr>
      </p:sp>
      <p:sp>
        <p:nvSpPr>
          <p:cNvPr id="8" name="stat value Value won"/>
          <p:cNvSpPr txBox="1"/>
          <p:nvPr/>
        </p:nvSpPr>
        <p:spPr>
          <a:xfrm>
            <a:off x="3429000" y="1344168"/>
            <a:ext cx="2331720" cy="594360"/>
          </a:xfrm>
          <a:prstGeom prst="rect">
            <a:avLst/>
          </a:prstGeom>
          <a:noFill/>
          <a:ln/>
        </p:spPr>
        <p:txBody>
          <a:bodyPr wrap="square" lIns="0" tIns="0" rIns="0" bIns="0" rtlCol="0" anchor="ctr"/>
          <a:lstStyle/>
          <a:p>
            <a:pPr indent="0" marL="0">
              <a:buNone/>
            </a:pPr>
            <a:r>
              <a:rPr lang="en-US" sz="3000" b="1" dirty="0">
                <a:solidFill>
                  <a:schemeClr val="tx1"/>
                </a:solidFill>
              </a:rPr>
              <a:t>$19.4M</a:t>
            </a:r>
            <a:endParaRPr lang="en-US" sz="3000" dirty="0"/>
          </a:p>
        </p:txBody>
      </p:sp>
      <p:sp>
        <p:nvSpPr>
          <p:cNvPr id="9" name="stat label Value won"/>
          <p:cNvSpPr txBox="1"/>
          <p:nvPr/>
        </p:nvSpPr>
        <p:spPr>
          <a:xfrm>
            <a:off x="3429000" y="1947672"/>
            <a:ext cx="2331720" cy="320040"/>
          </a:xfrm>
          <a:prstGeom prst="rect">
            <a:avLst/>
          </a:prstGeom>
          <a:noFill/>
          <a:ln/>
        </p:spPr>
        <p:txBody>
          <a:bodyPr wrap="square" lIns="0" tIns="0" rIns="0" bIns="0" rtlCol="0" anchor="ctr"/>
          <a:lstStyle/>
          <a:p>
            <a:pPr indent="0" marL="0">
              <a:buNone/>
            </a:pPr>
            <a:r>
              <a:rPr lang="en-US" sz="1250" b="1" dirty="0">
                <a:solidFill>
                  <a:schemeClr val="tx2"/>
                </a:solidFill>
              </a:rPr>
              <a:t>Value won</a:t>
            </a:r>
            <a:endParaRPr lang="en-US" sz="1250" dirty="0"/>
          </a:p>
        </p:txBody>
      </p:sp>
      <p:sp>
        <p:nvSpPr>
          <p:cNvPr id="10" name="stat note Value won"/>
          <p:cNvSpPr txBox="1"/>
          <p:nvPr/>
        </p:nvSpPr>
        <p:spPr>
          <a:xfrm>
            <a:off x="3429000" y="2240280"/>
            <a:ext cx="2331720" cy="365760"/>
          </a:xfrm>
          <a:prstGeom prst="rect">
            <a:avLst/>
          </a:prstGeom>
          <a:noFill/>
          <a:ln/>
        </p:spPr>
        <p:txBody>
          <a:bodyPr wrap="square" lIns="0" tIns="0" rIns="0" bIns="0" rtlCol="0" anchor="ctr"/>
          <a:lstStyle/>
          <a:p>
            <a:pPr indent="0" marL="0">
              <a:buNone/>
            </a:pPr>
            <a:r>
              <a:rPr lang="en-US" sz="1050" dirty="0">
                <a:solidFill>
                  <a:schemeClr val="accent5"/>
                </a:solidFill>
              </a:rPr>
              <a:t>5,088 tons</a:t>
            </a:r>
            <a:endParaRPr lang="en-US" sz="1050" dirty="0"/>
          </a:p>
        </p:txBody>
      </p:sp>
      <p:sp>
        <p:nvSpPr>
          <p:cNvPr id="11" name="stat Won work waiting for the shop"/>
          <p:cNvSpPr/>
          <p:nvPr/>
        </p:nvSpPr>
        <p:spPr>
          <a:xfrm>
            <a:off x="6035040" y="1234440"/>
            <a:ext cx="2697480" cy="1417320"/>
          </a:xfrm>
          <a:prstGeom prst="roundRect">
            <a:avLst>
              <a:gd name="adj" fmla="val 5161"/>
            </a:avLst>
          </a:prstGeom>
          <a:solidFill>
            <a:schemeClr val="bg2"/>
          </a:solidFill>
          <a:ln w="9525">
            <a:solidFill>
              <a:schemeClr val="accent6"/>
            </a:solidFill>
            <a:prstDash val="solid"/>
          </a:ln>
        </p:spPr>
      </p:sp>
      <p:sp>
        <p:nvSpPr>
          <p:cNvPr id="12" name="stat value Won work waiting for the shop"/>
          <p:cNvSpPr txBox="1"/>
          <p:nvPr/>
        </p:nvSpPr>
        <p:spPr>
          <a:xfrm>
            <a:off x="6217920" y="1344168"/>
            <a:ext cx="2331720" cy="594360"/>
          </a:xfrm>
          <a:prstGeom prst="rect">
            <a:avLst/>
          </a:prstGeom>
          <a:noFill/>
          <a:ln/>
        </p:spPr>
        <p:txBody>
          <a:bodyPr wrap="square" lIns="0" tIns="0" rIns="0" bIns="0" rtlCol="0" anchor="ctr"/>
          <a:lstStyle/>
          <a:p>
            <a:pPr indent="0" marL="0">
              <a:buNone/>
            </a:pPr>
            <a:r>
              <a:rPr lang="en-US" sz="3000" b="1" dirty="0">
                <a:solidFill>
                  <a:schemeClr val="tx1"/>
                </a:solidFill>
              </a:rPr>
              <a:t>16 weeks</a:t>
            </a:r>
            <a:endParaRPr lang="en-US" sz="3000" dirty="0"/>
          </a:p>
        </p:txBody>
      </p:sp>
      <p:sp>
        <p:nvSpPr>
          <p:cNvPr id="13" name="stat label Won work waiting for the shop"/>
          <p:cNvSpPr txBox="1"/>
          <p:nvPr/>
        </p:nvSpPr>
        <p:spPr>
          <a:xfrm>
            <a:off x="6217920" y="1947672"/>
            <a:ext cx="2331720" cy="320040"/>
          </a:xfrm>
          <a:prstGeom prst="rect">
            <a:avLst/>
          </a:prstGeom>
          <a:noFill/>
          <a:ln/>
        </p:spPr>
        <p:txBody>
          <a:bodyPr wrap="square" lIns="0" tIns="0" rIns="0" bIns="0" rtlCol="0" anchor="ctr"/>
          <a:lstStyle/>
          <a:p>
            <a:pPr indent="0" marL="0">
              <a:buNone/>
            </a:pPr>
            <a:r>
              <a:rPr lang="en-US" sz="1250" b="1" dirty="0">
                <a:solidFill>
                  <a:schemeClr val="tx2"/>
                </a:solidFill>
              </a:rPr>
              <a:t>Won work waiting for the shop</a:t>
            </a:r>
            <a:endParaRPr lang="en-US" sz="1250" dirty="0"/>
          </a:p>
        </p:txBody>
      </p:sp>
      <p:sp>
        <p:nvSpPr>
          <p:cNvPr id="14" name="stat note Won work waiting for the shop"/>
          <p:cNvSpPr txBox="1"/>
          <p:nvPr/>
        </p:nvSpPr>
        <p:spPr>
          <a:xfrm>
            <a:off x="6217920" y="2240280"/>
            <a:ext cx="2331720" cy="365760"/>
          </a:xfrm>
          <a:prstGeom prst="rect">
            <a:avLst/>
          </a:prstGeom>
          <a:noFill/>
          <a:ln/>
        </p:spPr>
        <p:txBody>
          <a:bodyPr wrap="square" lIns="0" tIns="0" rIns="0" bIns="0" rtlCol="0" anchor="ctr"/>
          <a:lstStyle/>
          <a:p>
            <a:pPr indent="0" marL="0">
              <a:buNone/>
            </a:pPr>
            <a:r>
              <a:rPr lang="en-US" sz="1050" dirty="0">
                <a:solidFill>
                  <a:schemeClr val="accent5"/>
                </a:solidFill>
              </a:rPr>
              <a:t>2,286 tons at 140 tons a week</a:t>
            </a:r>
            <a:endParaRPr lang="en-US" sz="1050" dirty="0"/>
          </a:p>
        </p:txBody>
      </p:sp>
      <p:sp>
        <p:nvSpPr>
          <p:cNvPr id="15" name="stat How full the shop looks next year"/>
          <p:cNvSpPr/>
          <p:nvPr/>
        </p:nvSpPr>
        <p:spPr>
          <a:xfrm>
            <a:off x="457200" y="2880360"/>
            <a:ext cx="2697480" cy="1417320"/>
          </a:xfrm>
          <a:prstGeom prst="roundRect">
            <a:avLst>
              <a:gd name="adj" fmla="val 5161"/>
            </a:avLst>
          </a:prstGeom>
          <a:solidFill>
            <a:schemeClr val="bg2"/>
          </a:solidFill>
          <a:ln w="9525">
            <a:solidFill>
              <a:schemeClr val="accent6"/>
            </a:solidFill>
            <a:prstDash val="solid"/>
          </a:ln>
        </p:spPr>
      </p:sp>
      <p:sp>
        <p:nvSpPr>
          <p:cNvPr id="16" name="stat value How full the shop looks next year"/>
          <p:cNvSpPr txBox="1"/>
          <p:nvPr/>
        </p:nvSpPr>
        <p:spPr>
          <a:xfrm>
            <a:off x="640080" y="2990088"/>
            <a:ext cx="2331720" cy="594360"/>
          </a:xfrm>
          <a:prstGeom prst="rect">
            <a:avLst/>
          </a:prstGeom>
          <a:noFill/>
          <a:ln/>
        </p:spPr>
        <p:txBody>
          <a:bodyPr wrap="square" lIns="0" tIns="0" rIns="0" bIns="0" rtlCol="0" anchor="ctr"/>
          <a:lstStyle/>
          <a:p>
            <a:pPr indent="0" marL="0">
              <a:buNone/>
            </a:pPr>
            <a:r>
              <a:rPr lang="en-US" sz="3000" b="1" dirty="0">
                <a:solidFill>
                  <a:schemeClr val="accent1"/>
                </a:solidFill>
              </a:rPr>
              <a:t>50%</a:t>
            </a:r>
            <a:endParaRPr lang="en-US" sz="3000" dirty="0"/>
          </a:p>
        </p:txBody>
      </p:sp>
      <p:sp>
        <p:nvSpPr>
          <p:cNvPr id="17" name="stat label How full the shop looks next year"/>
          <p:cNvSpPr txBox="1"/>
          <p:nvPr/>
        </p:nvSpPr>
        <p:spPr>
          <a:xfrm>
            <a:off x="640080" y="3593592"/>
            <a:ext cx="2331720" cy="320040"/>
          </a:xfrm>
          <a:prstGeom prst="rect">
            <a:avLst/>
          </a:prstGeom>
          <a:noFill/>
          <a:ln/>
        </p:spPr>
        <p:txBody>
          <a:bodyPr wrap="square" lIns="0" tIns="0" rIns="0" bIns="0" rtlCol="0" anchor="ctr"/>
          <a:lstStyle/>
          <a:p>
            <a:pPr indent="0" marL="0">
              <a:buNone/>
            </a:pPr>
            <a:r>
              <a:rPr lang="en-US" sz="1250" b="1" dirty="0">
                <a:solidFill>
                  <a:schemeClr val="tx2"/>
                </a:solidFill>
              </a:rPr>
              <a:t>How full the shop looks next year</a:t>
            </a:r>
            <a:endParaRPr lang="en-US" sz="1250" dirty="0"/>
          </a:p>
        </p:txBody>
      </p:sp>
      <p:sp>
        <p:nvSpPr>
          <p:cNvPr id="18" name="stat note How full the shop looks next year"/>
          <p:cNvSpPr txBox="1"/>
          <p:nvPr/>
        </p:nvSpPr>
        <p:spPr>
          <a:xfrm>
            <a:off x="640080" y="3886200"/>
            <a:ext cx="2331720" cy="365760"/>
          </a:xfrm>
          <a:prstGeom prst="rect">
            <a:avLst/>
          </a:prstGeom>
          <a:noFill/>
          <a:ln/>
        </p:spPr>
        <p:txBody>
          <a:bodyPr wrap="square" lIns="0" tIns="0" rIns="0" bIns="0" rtlCol="0" anchor="ctr"/>
          <a:lstStyle/>
          <a:p>
            <a:pPr indent="0" marL="0">
              <a:buNone/>
            </a:pPr>
            <a:r>
              <a:rPr lang="en-US" sz="1050" dirty="0">
                <a:solidFill>
                  <a:schemeClr val="accent5"/>
                </a:solidFill>
              </a:rPr>
              <a:t>won work plus upcoming work at its odds</a:t>
            </a:r>
            <a:endParaRPr lang="en-US" sz="1050" dirty="0"/>
          </a:p>
        </p:txBody>
      </p:sp>
      <p:sp>
        <p:nvSpPr>
          <p:cNvPr id="19" name="stat Margin estimated but not kept"/>
          <p:cNvSpPr/>
          <p:nvPr/>
        </p:nvSpPr>
        <p:spPr>
          <a:xfrm>
            <a:off x="3246120" y="2880360"/>
            <a:ext cx="2697480" cy="1417320"/>
          </a:xfrm>
          <a:prstGeom prst="roundRect">
            <a:avLst>
              <a:gd name="adj" fmla="val 5161"/>
            </a:avLst>
          </a:prstGeom>
          <a:solidFill>
            <a:schemeClr val="bg2"/>
          </a:solidFill>
          <a:ln w="9525">
            <a:solidFill>
              <a:schemeClr val="accent6"/>
            </a:solidFill>
            <a:prstDash val="solid"/>
          </a:ln>
        </p:spPr>
      </p:sp>
      <p:sp>
        <p:nvSpPr>
          <p:cNvPr id="20" name="stat value Margin estimated but not kept"/>
          <p:cNvSpPr txBox="1"/>
          <p:nvPr/>
        </p:nvSpPr>
        <p:spPr>
          <a:xfrm>
            <a:off x="3429000" y="2990088"/>
            <a:ext cx="2331720" cy="594360"/>
          </a:xfrm>
          <a:prstGeom prst="rect">
            <a:avLst/>
          </a:prstGeom>
          <a:noFill/>
          <a:ln/>
        </p:spPr>
        <p:txBody>
          <a:bodyPr wrap="square" lIns="0" tIns="0" rIns="0" bIns="0" rtlCol="0" anchor="ctr"/>
          <a:lstStyle/>
          <a:p>
            <a:pPr indent="0" marL="0">
              <a:buNone/>
            </a:pPr>
            <a:r>
              <a:rPr lang="en-US" sz="3000" b="1" dirty="0">
                <a:solidFill>
                  <a:schemeClr val="accent1"/>
                </a:solidFill>
              </a:rPr>
              <a:t>4.5 pts</a:t>
            </a:r>
            <a:endParaRPr lang="en-US" sz="3000" dirty="0"/>
          </a:p>
        </p:txBody>
      </p:sp>
      <p:sp>
        <p:nvSpPr>
          <p:cNvPr id="21" name="stat label Margin estimated but not kept"/>
          <p:cNvSpPr txBox="1"/>
          <p:nvPr/>
        </p:nvSpPr>
        <p:spPr>
          <a:xfrm>
            <a:off x="3429000" y="3593592"/>
            <a:ext cx="2331720" cy="320040"/>
          </a:xfrm>
          <a:prstGeom prst="rect">
            <a:avLst/>
          </a:prstGeom>
          <a:noFill/>
          <a:ln/>
        </p:spPr>
        <p:txBody>
          <a:bodyPr wrap="square" lIns="0" tIns="0" rIns="0" bIns="0" rtlCol="0" anchor="ctr"/>
          <a:lstStyle/>
          <a:p>
            <a:pPr indent="0" marL="0">
              <a:buNone/>
            </a:pPr>
            <a:r>
              <a:rPr lang="en-US" sz="1250" b="1" dirty="0">
                <a:solidFill>
                  <a:schemeClr val="tx2"/>
                </a:solidFill>
              </a:rPr>
              <a:t>Margin estimated but not kept</a:t>
            </a:r>
            <a:endParaRPr lang="en-US" sz="1250" dirty="0"/>
          </a:p>
        </p:txBody>
      </p:sp>
      <p:sp>
        <p:nvSpPr>
          <p:cNvPr id="22" name="stat note Margin estimated but not kept"/>
          <p:cNvSpPr txBox="1"/>
          <p:nvPr/>
        </p:nvSpPr>
        <p:spPr>
          <a:xfrm>
            <a:off x="3429000" y="3886200"/>
            <a:ext cx="2331720" cy="365760"/>
          </a:xfrm>
          <a:prstGeom prst="rect">
            <a:avLst/>
          </a:prstGeom>
          <a:noFill/>
          <a:ln/>
        </p:spPr>
        <p:txBody>
          <a:bodyPr wrap="square" lIns="0" tIns="0" rIns="0" bIns="0" rtlCol="0" anchor="ctr"/>
          <a:lstStyle/>
          <a:p>
            <a:pPr indent="0" marL="0">
              <a:buNone/>
            </a:pPr>
            <a:r>
              <a:rPr lang="en-US" sz="1050" dirty="0">
                <a:solidFill>
                  <a:schemeClr val="accent5"/>
                </a:solidFill>
              </a:rPr>
              <a:t>estimated 22.9%, actually earned 18.3%</a:t>
            </a:r>
            <a:endParaRPr lang="en-US" sz="1050" dirty="0"/>
          </a:p>
        </p:txBody>
      </p:sp>
      <p:sp>
        <p:nvSpPr>
          <p:cNvPr id="23" name="stat Upcoming projects worth chasing"/>
          <p:cNvSpPr/>
          <p:nvPr/>
        </p:nvSpPr>
        <p:spPr>
          <a:xfrm>
            <a:off x="6035040" y="2880360"/>
            <a:ext cx="2697480" cy="1417320"/>
          </a:xfrm>
          <a:prstGeom prst="roundRect">
            <a:avLst>
              <a:gd name="adj" fmla="val 5161"/>
            </a:avLst>
          </a:prstGeom>
          <a:solidFill>
            <a:schemeClr val="bg2"/>
          </a:solidFill>
          <a:ln w="9525">
            <a:solidFill>
              <a:schemeClr val="accent6"/>
            </a:solidFill>
            <a:prstDash val="solid"/>
          </a:ln>
        </p:spPr>
      </p:sp>
      <p:sp>
        <p:nvSpPr>
          <p:cNvPr id="24" name="stat value Upcoming projects worth chasing"/>
          <p:cNvSpPr txBox="1"/>
          <p:nvPr/>
        </p:nvSpPr>
        <p:spPr>
          <a:xfrm>
            <a:off x="6217920" y="2990088"/>
            <a:ext cx="2331720" cy="594360"/>
          </a:xfrm>
          <a:prstGeom prst="rect">
            <a:avLst/>
          </a:prstGeom>
          <a:noFill/>
          <a:ln/>
        </p:spPr>
        <p:txBody>
          <a:bodyPr wrap="square" lIns="0" tIns="0" rIns="0" bIns="0" rtlCol="0" anchor="ctr"/>
          <a:lstStyle/>
          <a:p>
            <a:pPr indent="0" marL="0">
              <a:buNone/>
            </a:pPr>
            <a:r>
              <a:rPr lang="en-US" sz="3000" b="1" dirty="0">
                <a:solidFill>
                  <a:schemeClr val="accent2"/>
                </a:solidFill>
              </a:rPr>
              <a:t>29 of 90</a:t>
            </a:r>
            <a:endParaRPr lang="en-US" sz="3000" dirty="0"/>
          </a:p>
        </p:txBody>
      </p:sp>
      <p:sp>
        <p:nvSpPr>
          <p:cNvPr id="25" name="stat label Upcoming projects worth chasing"/>
          <p:cNvSpPr txBox="1"/>
          <p:nvPr/>
        </p:nvSpPr>
        <p:spPr>
          <a:xfrm>
            <a:off x="6217920" y="3593592"/>
            <a:ext cx="2331720" cy="320040"/>
          </a:xfrm>
          <a:prstGeom prst="rect">
            <a:avLst/>
          </a:prstGeom>
          <a:noFill/>
          <a:ln/>
        </p:spPr>
        <p:txBody>
          <a:bodyPr wrap="square" lIns="0" tIns="0" rIns="0" bIns="0" rtlCol="0" anchor="ctr"/>
          <a:lstStyle/>
          <a:p>
            <a:pPr indent="0" marL="0">
              <a:buNone/>
            </a:pPr>
            <a:r>
              <a:rPr lang="en-US" sz="1250" b="1" dirty="0">
                <a:solidFill>
                  <a:schemeClr val="tx2"/>
                </a:solidFill>
              </a:rPr>
              <a:t>Upcoming projects worth chasing</a:t>
            </a:r>
            <a:endParaRPr lang="en-US" sz="1250" dirty="0"/>
          </a:p>
        </p:txBody>
      </p:sp>
      <p:sp>
        <p:nvSpPr>
          <p:cNvPr id="26" name="stat note Upcoming projects worth chasing"/>
          <p:cNvSpPr txBox="1"/>
          <p:nvPr/>
        </p:nvSpPr>
        <p:spPr>
          <a:xfrm>
            <a:off x="6217920" y="3886200"/>
            <a:ext cx="2331720" cy="365760"/>
          </a:xfrm>
          <a:prstGeom prst="rect">
            <a:avLst/>
          </a:prstGeom>
          <a:noFill/>
          <a:ln/>
        </p:spPr>
        <p:txBody>
          <a:bodyPr wrap="square" lIns="0" tIns="0" rIns="0" bIns="0" rtlCol="0" anchor="ctr"/>
          <a:lstStyle/>
          <a:p>
            <a:pPr indent="0" marL="0">
              <a:buNone/>
            </a:pPr>
            <a:r>
              <a:rPr lang="en-US" sz="1050" dirty="0">
                <a:solidFill>
                  <a:schemeClr val="accent5"/>
                </a:solidFill>
              </a:rPr>
              <a:t>about 700 estimating hours to bid them</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Where the shop fits: hit rate by kind of project</a:t>
            </a:r>
            <a:endParaRPr lang="en-US" sz="2600" dirty="0"/>
          </a:p>
        </p:txBody>
      </p:sp>
      <p:graphicFrame>
        <p:nvGraphicFramePr>
          <p:cNvPr id="3" name="hit rate by project type" descr=""/>
          <p:cNvGraphicFramePr/>
          <p:nvPr/>
        </p:nvGraphicFramePr>
        <p:xfrm>
          <a:off x="457200" y="114300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4" name="commentary"/>
          <p:cNvSpPr/>
          <p:nvPr/>
        </p:nvSpPr>
        <p:spPr>
          <a:xfrm>
            <a:off x="5852160" y="1143000"/>
            <a:ext cx="2834640" cy="3520440"/>
          </a:xfrm>
          <a:prstGeom prst="roundRect">
            <a:avLst>
              <a:gd name="adj" fmla="val 2581"/>
            </a:avLst>
          </a:prstGeom>
          <a:solidFill>
            <a:schemeClr val="bg2"/>
          </a:solidFill>
          <a:ln w="9525">
            <a:solidFill>
              <a:schemeClr val="accent6"/>
            </a:solidFill>
            <a:prstDash val="solid"/>
          </a:ln>
        </p:spPr>
      </p:sp>
      <p:sp>
        <p:nvSpPr>
          <p:cNvPr id="5" name="commentary text"/>
          <p:cNvSpPr txBox="1"/>
          <p:nvPr/>
        </p:nvSpPr>
        <p:spPr>
          <a:xfrm>
            <a:off x="6035040" y="1325880"/>
            <a:ext cx="2468880" cy="320040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Three kinds of work win 37 to 41% and keep their margin.</a:t>
            </a:r>
            <a:endParaRPr lang="en-US" sz="1300" dirty="0"/>
          </a:p>
          <a:p>
            <a:pPr indent="0" marL="0">
              <a:spcAft>
                <a:spcPts val="800"/>
              </a:spcAft>
              <a:buNone/>
            </a:pPr>
            <a:r>
              <a:rPr lang="en-US" sz="1300" dirty="0">
                <a:solidFill>
                  <a:schemeClr val="tx1"/>
                </a:solidFill>
              </a:rPr>
              <a:t>Three others win 12 to 15% and give back 7 to 10 points of margin once built.</a:t>
            </a:r>
            <a:endParaRPr lang="en-US" sz="1300" dirty="0"/>
          </a:p>
          <a:p>
            <a:pPr indent="0" marL="0">
              <a:spcAft>
                <a:spcPts val="800"/>
              </a:spcAft>
              <a:buNone/>
            </a:pPr>
            <a:r>
              <a:rPr lang="en-US" sz="1300" dirty="0">
                <a:solidFill>
                  <a:schemeClr val="tx1"/>
                </a:solidFill>
              </a:rPr>
              <a:t>The bottom three took 29% of estimating hours for 18% of the dollars won.</a:t>
            </a:r>
            <a:endParaRPr lang="en-US" sz="1300" dirty="0"/>
          </a:p>
          <a:p>
            <a:pPr indent="0" marL="0">
              <a:buNone/>
            </a:pPr>
            <a:r>
              <a:rPr lang="en-US" sz="1300" b="1" dirty="0">
                <a:solidFill>
                  <a:schemeClr val="accent1"/>
                </a:solidFill>
              </a:rPr>
              <a:t>Action: default them to Review. Bid them when a relationship GC asks, not on a hard bid.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Who awards us work, and who only checks their numbers against us</a:t>
            </a:r>
            <a:endParaRPr lang="en-US" sz="2600" dirty="0"/>
          </a:p>
        </p:txBody>
      </p:sp>
      <p:sp>
        <p:nvSpPr>
          <p:cNvPr id="3" name="Seven price shoppers"/>
          <p:cNvSpPr/>
          <p:nvPr/>
        </p:nvSpPr>
        <p:spPr>
          <a:xfrm>
            <a:off x="457200" y="1188720"/>
            <a:ext cx="4023360" cy="3383280"/>
          </a:xfrm>
          <a:prstGeom prst="roundRect">
            <a:avLst>
              <a:gd name="adj" fmla="val 2162"/>
            </a:avLst>
          </a:prstGeom>
          <a:solidFill>
            <a:schemeClr val="bg2"/>
          </a:solidFill>
          <a:ln w="9525">
            <a:solidFill>
              <a:schemeClr val="accent6"/>
            </a:solidFill>
            <a:prstDash val="solid"/>
          </a:ln>
        </p:spPr>
      </p:sp>
      <p:sp>
        <p:nvSpPr>
          <p:cNvPr id="4" name="col icon circle"/>
          <p:cNvSpPr/>
          <p:nvPr/>
        </p:nvSpPr>
        <p:spPr>
          <a:xfrm>
            <a:off x="685800" y="1371600"/>
            <a:ext cx="502920" cy="502920"/>
          </a:xfrm>
          <a:prstGeom prst="ellipse">
            <a:avLst/>
          </a:prstGeom>
          <a:solidFill>
            <a:srgbClr val="8A96A0"/>
          </a:solidFill>
          <a:ln w="12700">
            <a:solidFill>
              <a:srgbClr val="8A96A0"/>
            </a:solidFill>
            <a:prstDash val="solid"/>
          </a:ln>
        </p:spPr>
      </p:sp>
      <p:pic>
        <p:nvPicPr>
          <p:cNvPr id="5" name="col icon" descr="preencoded.png">    </p:cNvPr>
          <p:cNvPicPr>
            <a:picLocks noChangeAspect="1"/>
          </p:cNvPicPr>
          <p:nvPr/>
        </p:nvPicPr>
        <p:blipFill>
          <a:blip r:embed="rId1"/>
          <a:stretch>
            <a:fillRect/>
          </a:stretch>
        </p:blipFill>
        <p:spPr>
          <a:xfrm>
            <a:off x="809244" y="1495044"/>
            <a:ext cx="256032" cy="256032"/>
          </a:xfrm>
          <a:prstGeom prst="rect">
            <a:avLst/>
          </a:prstGeom>
        </p:spPr>
      </p:pic>
      <p:sp>
        <p:nvSpPr>
          <p:cNvPr id="6" name="col head"/>
          <p:cNvSpPr txBox="1"/>
          <p:nvPr/>
        </p:nvSpPr>
        <p:spPr>
          <a:xfrm>
            <a:off x="1325880" y="1371600"/>
            <a:ext cx="3017520" cy="502920"/>
          </a:xfrm>
          <a:prstGeom prst="rect">
            <a:avLst/>
          </a:prstGeom>
          <a:noFill/>
          <a:ln/>
        </p:spPr>
        <p:txBody>
          <a:bodyPr wrap="square" lIns="0" tIns="0" rIns="0" bIns="0" rtlCol="0" anchor="ctr"/>
          <a:lstStyle/>
          <a:p>
            <a:pPr indent="0" marL="0">
              <a:buNone/>
            </a:pPr>
            <a:r>
              <a:rPr lang="en-US" sz="1800" b="1" dirty="0">
                <a:solidFill>
                  <a:schemeClr val="tx1"/>
                </a:solidFill>
              </a:rPr>
              <a:t>Seven price shoppers</a:t>
            </a:r>
            <a:endParaRPr lang="en-US" sz="1800" dirty="0"/>
          </a:p>
        </p:txBody>
      </p:sp>
      <p:sp>
        <p:nvSpPr>
          <p:cNvPr id="7" name="col lines"/>
          <p:cNvSpPr txBox="1"/>
          <p:nvPr/>
        </p:nvSpPr>
        <p:spPr>
          <a:xfrm>
            <a:off x="685800" y="2011680"/>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Award us 18% of what we price for them</a:t>
            </a:r>
            <a:endParaRPr lang="en-US" sz="1400" dirty="0"/>
          </a:p>
          <a:p>
            <a:pPr marL="342900" indent="-342900">
              <a:spcAft>
                <a:spcPts val="600"/>
              </a:spcAft>
              <a:buSzPct val="100000"/>
              <a:buChar char="•"/>
            </a:pPr>
            <a:r>
              <a:rPr lang="en-US" sz="1400" dirty="0">
                <a:solidFill>
                  <a:schemeClr val="tx1"/>
                </a:solidFill>
              </a:rPr>
              <a:t>We are 11% high when we lose</a:t>
            </a:r>
            <a:endParaRPr lang="en-US" sz="1400" dirty="0"/>
          </a:p>
          <a:p>
            <a:pPr marL="342900" indent="-342900">
              <a:spcAft>
                <a:spcPts val="600"/>
              </a:spcAft>
              <a:buSzPct val="100000"/>
              <a:buChar char="•"/>
            </a:pPr>
            <a:r>
              <a:rPr lang="en-US" sz="1400" dirty="0">
                <a:solidFill>
                  <a:schemeClr val="tx1"/>
                </a:solidFill>
              </a:rPr>
              <a:t>2,650 estimating hours for $19.1M won</a:t>
            </a:r>
            <a:endParaRPr lang="en-US" sz="1400" dirty="0"/>
          </a:p>
        </p:txBody>
      </p:sp>
      <p:sp>
        <p:nvSpPr>
          <p:cNvPr id="8" name="col note"/>
          <p:cNvSpPr txBox="1"/>
          <p:nvPr/>
        </p:nvSpPr>
        <p:spPr>
          <a:xfrm>
            <a:off x="685800" y="3886200"/>
            <a:ext cx="3611880" cy="548640"/>
          </a:xfrm>
          <a:prstGeom prst="rect">
            <a:avLst/>
          </a:prstGeom>
          <a:noFill/>
          <a:ln/>
        </p:spPr>
        <p:txBody>
          <a:bodyPr wrap="square" lIns="0" tIns="0" rIns="0" bIns="0" rtlCol="0" anchor="ctr"/>
          <a:lstStyle/>
          <a:p>
            <a:pPr indent="0" marL="0">
              <a:buNone/>
            </a:pPr>
            <a:r>
              <a:rPr lang="en-US" sz="1200" i="1" dirty="0">
                <a:solidFill>
                  <a:schemeClr val="tx2"/>
                </a:solidFill>
              </a:rPr>
              <a:t>Bid them only when the shop needs fill-in work.</a:t>
            </a:r>
            <a:endParaRPr lang="en-US" sz="1200" dirty="0"/>
          </a:p>
        </p:txBody>
      </p:sp>
      <p:sp>
        <p:nvSpPr>
          <p:cNvPr id="9" name="Four A-class accounts"/>
          <p:cNvSpPr/>
          <p:nvPr/>
        </p:nvSpPr>
        <p:spPr>
          <a:xfrm>
            <a:off x="4663440" y="1188720"/>
            <a:ext cx="4023360" cy="3383280"/>
          </a:xfrm>
          <a:prstGeom prst="roundRect">
            <a:avLst>
              <a:gd name="adj" fmla="val 2162"/>
            </a:avLst>
          </a:prstGeom>
          <a:solidFill>
            <a:schemeClr val="bg2"/>
          </a:solidFill>
          <a:ln w="9525">
            <a:solidFill>
              <a:schemeClr val="accent6"/>
            </a:solidFill>
            <a:prstDash val="solid"/>
          </a:ln>
        </p:spPr>
      </p:sp>
      <p:sp>
        <p:nvSpPr>
          <p:cNvPr id="10" name="col icon circle"/>
          <p:cNvSpPr/>
          <p:nvPr/>
        </p:nvSpPr>
        <p:spPr>
          <a:xfrm>
            <a:off x="4892040" y="1371600"/>
            <a:ext cx="502920" cy="502920"/>
          </a:xfrm>
          <a:prstGeom prst="ellipse">
            <a:avLst/>
          </a:prstGeom>
          <a:solidFill>
            <a:srgbClr val="1BAF7A"/>
          </a:solidFill>
          <a:ln w="12700">
            <a:solidFill>
              <a:srgbClr val="1BAF7A"/>
            </a:solidFill>
            <a:prstDash val="solid"/>
          </a:ln>
        </p:spPr>
      </p:sp>
      <p:pic>
        <p:nvPicPr>
          <p:cNvPr id="11" name="col icon" descr="preencoded.png">    </p:cNvPr>
          <p:cNvPicPr>
            <a:picLocks noChangeAspect="1"/>
          </p:cNvPicPr>
          <p:nvPr/>
        </p:nvPicPr>
        <p:blipFill>
          <a:blip r:embed="rId2"/>
          <a:stretch>
            <a:fillRect/>
          </a:stretch>
        </p:blipFill>
        <p:spPr>
          <a:xfrm>
            <a:off x="5015484" y="1495044"/>
            <a:ext cx="256032" cy="256032"/>
          </a:xfrm>
          <a:prstGeom prst="rect">
            <a:avLst/>
          </a:prstGeom>
        </p:spPr>
      </p:pic>
      <p:sp>
        <p:nvSpPr>
          <p:cNvPr id="12" name="col head"/>
          <p:cNvSpPr txBox="1"/>
          <p:nvPr/>
        </p:nvSpPr>
        <p:spPr>
          <a:xfrm>
            <a:off x="5532120" y="1371600"/>
            <a:ext cx="3017520" cy="502920"/>
          </a:xfrm>
          <a:prstGeom prst="rect">
            <a:avLst/>
          </a:prstGeom>
          <a:noFill/>
          <a:ln/>
        </p:spPr>
        <p:txBody>
          <a:bodyPr wrap="square" lIns="0" tIns="0" rIns="0" bIns="0" rtlCol="0" anchor="ctr"/>
          <a:lstStyle/>
          <a:p>
            <a:pPr indent="0" marL="0">
              <a:buNone/>
            </a:pPr>
            <a:r>
              <a:rPr lang="en-US" sz="1800" b="1" dirty="0">
                <a:solidFill>
                  <a:schemeClr val="tx1"/>
                </a:solidFill>
              </a:rPr>
              <a:t>Four A-class accounts</a:t>
            </a:r>
            <a:endParaRPr lang="en-US" sz="1800" dirty="0"/>
          </a:p>
        </p:txBody>
      </p:sp>
      <p:sp>
        <p:nvSpPr>
          <p:cNvPr id="13" name="col lines"/>
          <p:cNvSpPr txBox="1"/>
          <p:nvPr/>
        </p:nvSpPr>
        <p:spPr>
          <a:xfrm>
            <a:off x="4892040" y="2011680"/>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Award us 40% or more</a:t>
            </a:r>
            <a:endParaRPr lang="en-US" sz="1400" dirty="0"/>
          </a:p>
          <a:p>
            <a:pPr marL="342900" indent="-342900">
              <a:spcAft>
                <a:spcPts val="600"/>
              </a:spcAft>
              <a:buSzPct val="100000"/>
              <a:buChar char="•"/>
            </a:pPr>
            <a:r>
              <a:rPr lang="en-US" sz="1400" dirty="0">
                <a:solidFill>
                  <a:schemeClr val="tx1"/>
                </a:solidFill>
              </a:rPr>
              <a:t>Jobs earn at or above shop margin</a:t>
            </a:r>
            <a:endParaRPr lang="en-US" sz="1400" dirty="0"/>
          </a:p>
          <a:p>
            <a:pPr marL="342900" indent="-342900">
              <a:spcAft>
                <a:spcPts val="600"/>
              </a:spcAft>
              <a:buSzPct val="100000"/>
              <a:buChar char="•"/>
            </a:pPr>
            <a:r>
              <a:rPr lang="en-US" sz="1400" dirty="0">
                <a:solidFill>
                  <a:schemeClr val="tx1"/>
                </a:solidFill>
              </a:rPr>
              <a:t>1,920 estimating hours for $29.4M won</a:t>
            </a:r>
            <a:endParaRPr lang="en-US" sz="1400" dirty="0"/>
          </a:p>
        </p:txBody>
      </p:sp>
      <p:sp>
        <p:nvSpPr>
          <p:cNvPr id="14" name="col note"/>
          <p:cNvSpPr txBox="1"/>
          <p:nvPr/>
        </p:nvSpPr>
        <p:spPr>
          <a:xfrm>
            <a:off x="4892040" y="3886200"/>
            <a:ext cx="3611880" cy="548640"/>
          </a:xfrm>
          <a:prstGeom prst="rect">
            <a:avLst/>
          </a:prstGeom>
          <a:noFill/>
          <a:ln/>
        </p:spPr>
        <p:txBody>
          <a:bodyPr wrap="square" lIns="0" tIns="0" rIns="0" bIns="0" rtlCol="0" anchor="ctr"/>
          <a:lstStyle/>
          <a:p>
            <a:pPr indent="0" marL="0">
              <a:buNone/>
            </a:pPr>
            <a:r>
              <a:rPr lang="en-US" sz="1200" i="1" dirty="0">
                <a:solidFill>
                  <a:schemeClr val="tx2"/>
                </a:solidFill>
              </a:rPr>
              <a:t>Spend the hours here, and on new GCs that look like them.</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The margin we estimated but did not keep</a:t>
            </a:r>
            <a:endParaRPr lang="en-US" sz="2600" dirty="0"/>
          </a:p>
        </p:txBody>
      </p:sp>
      <p:graphicFrame>
        <p:nvGraphicFramePr>
          <p:cNvPr id="3" name="estimated vs actual gross margin" descr=""/>
          <p:cNvGraphicFramePr/>
          <p:nvPr/>
        </p:nvGraphicFramePr>
        <p:xfrm>
          <a:off x="457200" y="1143000"/>
          <a:ext cx="5394960" cy="3108960"/>
        </p:xfrm>
        <a:graphic xmlns:a="http://schemas.openxmlformats.org/drawingml/2006/main">
          <a:graphicData uri="http://schemas.openxmlformats.org/drawingml/2006/chart">
            <c:chart xmlns:c="http://schemas.openxmlformats.org/drawingml/2006/chart" r:id="rId1"/>
          </a:graphicData>
        </a:graphic>
      </p:graphicFrame>
      <p:sp>
        <p:nvSpPr>
          <p:cNvPr id="4" name="stat Gross margin not kept"/>
          <p:cNvSpPr/>
          <p:nvPr/>
        </p:nvSpPr>
        <p:spPr>
          <a:xfrm>
            <a:off x="6126480" y="1143000"/>
            <a:ext cx="2560320" cy="1417320"/>
          </a:xfrm>
          <a:prstGeom prst="roundRect">
            <a:avLst>
              <a:gd name="adj" fmla="val 5161"/>
            </a:avLst>
          </a:prstGeom>
          <a:solidFill>
            <a:schemeClr val="bg2"/>
          </a:solidFill>
          <a:ln w="9525">
            <a:solidFill>
              <a:schemeClr val="accent6"/>
            </a:solidFill>
            <a:prstDash val="solid"/>
          </a:ln>
        </p:spPr>
      </p:sp>
      <p:sp>
        <p:nvSpPr>
          <p:cNvPr id="5" name="stat value Gross margin not kept"/>
          <p:cNvSpPr txBox="1"/>
          <p:nvPr/>
        </p:nvSpPr>
        <p:spPr>
          <a:xfrm>
            <a:off x="6309360" y="1252728"/>
            <a:ext cx="2194560" cy="594360"/>
          </a:xfrm>
          <a:prstGeom prst="rect">
            <a:avLst/>
          </a:prstGeom>
          <a:noFill/>
          <a:ln/>
        </p:spPr>
        <p:txBody>
          <a:bodyPr wrap="square" lIns="0" tIns="0" rIns="0" bIns="0" rtlCol="0" anchor="ctr"/>
          <a:lstStyle/>
          <a:p>
            <a:pPr indent="0" marL="0">
              <a:buNone/>
            </a:pPr>
            <a:r>
              <a:rPr lang="en-US" sz="3000" b="1" dirty="0">
                <a:solidFill>
                  <a:schemeClr val="accent1"/>
                </a:solidFill>
              </a:rPr>
              <a:t>4.5 pts</a:t>
            </a:r>
            <a:endParaRPr lang="en-US" sz="3000" dirty="0"/>
          </a:p>
        </p:txBody>
      </p:sp>
      <p:sp>
        <p:nvSpPr>
          <p:cNvPr id="6" name="stat label Gross margin not kept"/>
          <p:cNvSpPr txBox="1"/>
          <p:nvPr/>
        </p:nvSpPr>
        <p:spPr>
          <a:xfrm>
            <a:off x="6309360" y="1856232"/>
            <a:ext cx="2194560" cy="320040"/>
          </a:xfrm>
          <a:prstGeom prst="rect">
            <a:avLst/>
          </a:prstGeom>
          <a:noFill/>
          <a:ln/>
        </p:spPr>
        <p:txBody>
          <a:bodyPr wrap="square" lIns="0" tIns="0" rIns="0" bIns="0" rtlCol="0" anchor="ctr"/>
          <a:lstStyle/>
          <a:p>
            <a:pPr indent="0" marL="0">
              <a:buNone/>
            </a:pPr>
            <a:r>
              <a:rPr lang="en-US" sz="1250" b="1" dirty="0">
                <a:solidFill>
                  <a:schemeClr val="tx2"/>
                </a:solidFill>
              </a:rPr>
              <a:t>Gross margin not kept</a:t>
            </a:r>
            <a:endParaRPr lang="en-US" sz="1250" dirty="0"/>
          </a:p>
        </p:txBody>
      </p:sp>
      <p:sp>
        <p:nvSpPr>
          <p:cNvPr id="7" name="stat note Gross margin not kept"/>
          <p:cNvSpPr txBox="1"/>
          <p:nvPr/>
        </p:nvSpPr>
        <p:spPr>
          <a:xfrm>
            <a:off x="6309360" y="2148840"/>
            <a:ext cx="2194560" cy="365760"/>
          </a:xfrm>
          <a:prstGeom prst="rect">
            <a:avLst/>
          </a:prstGeom>
          <a:noFill/>
          <a:ln/>
        </p:spPr>
        <p:txBody>
          <a:bodyPr wrap="square" lIns="0" tIns="0" rIns="0" bIns="0" rtlCol="0" anchor="ctr"/>
          <a:lstStyle/>
          <a:p>
            <a:pPr indent="0" marL="0">
              <a:buNone/>
            </a:pPr>
            <a:r>
              <a:rPr lang="en-US" sz="1050" dirty="0">
                <a:solidFill>
                  <a:schemeClr val="accent5"/>
                </a:solidFill>
              </a:rPr>
              <a:t>estimated 22.9%, earned 18.3%, 95 jobs</a:t>
            </a:r>
            <a:endParaRPr lang="en-US" sz="1050" dirty="0"/>
          </a:p>
        </p:txBody>
      </p:sp>
      <p:sp>
        <p:nvSpPr>
          <p:cNvPr id="8" name="stat In the bid, not in the bank"/>
          <p:cNvSpPr/>
          <p:nvPr/>
        </p:nvSpPr>
        <p:spPr>
          <a:xfrm>
            <a:off x="6126480" y="2743200"/>
            <a:ext cx="2560320" cy="1417320"/>
          </a:xfrm>
          <a:prstGeom prst="roundRect">
            <a:avLst>
              <a:gd name="adj" fmla="val 5161"/>
            </a:avLst>
          </a:prstGeom>
          <a:solidFill>
            <a:schemeClr val="bg2"/>
          </a:solidFill>
          <a:ln w="9525">
            <a:solidFill>
              <a:schemeClr val="accent6"/>
            </a:solidFill>
            <a:prstDash val="solid"/>
          </a:ln>
        </p:spPr>
      </p:sp>
      <p:sp>
        <p:nvSpPr>
          <p:cNvPr id="9" name="stat value In the bid, not in the bank"/>
          <p:cNvSpPr txBox="1"/>
          <p:nvPr/>
        </p:nvSpPr>
        <p:spPr>
          <a:xfrm>
            <a:off x="6309360" y="2852928"/>
            <a:ext cx="2194560" cy="594360"/>
          </a:xfrm>
          <a:prstGeom prst="rect">
            <a:avLst/>
          </a:prstGeom>
          <a:noFill/>
          <a:ln/>
        </p:spPr>
        <p:txBody>
          <a:bodyPr wrap="square" lIns="0" tIns="0" rIns="0" bIns="0" rtlCol="0" anchor="ctr"/>
          <a:lstStyle/>
          <a:p>
            <a:pPr indent="0" marL="0">
              <a:buNone/>
            </a:pPr>
            <a:r>
              <a:rPr lang="en-US" sz="3000" b="1" dirty="0">
                <a:solidFill>
                  <a:schemeClr val="tx1"/>
                </a:solidFill>
              </a:rPr>
              <a:t>$4.3M</a:t>
            </a:r>
            <a:endParaRPr lang="en-US" sz="3000" dirty="0"/>
          </a:p>
        </p:txBody>
      </p:sp>
      <p:sp>
        <p:nvSpPr>
          <p:cNvPr id="10" name="stat label In the bid, not in the bank"/>
          <p:cNvSpPr txBox="1"/>
          <p:nvPr/>
        </p:nvSpPr>
        <p:spPr>
          <a:xfrm>
            <a:off x="6309360" y="3456432"/>
            <a:ext cx="2194560" cy="320040"/>
          </a:xfrm>
          <a:prstGeom prst="rect">
            <a:avLst/>
          </a:prstGeom>
          <a:noFill/>
          <a:ln/>
        </p:spPr>
        <p:txBody>
          <a:bodyPr wrap="square" lIns="0" tIns="0" rIns="0" bIns="0" rtlCol="0" anchor="ctr"/>
          <a:lstStyle/>
          <a:p>
            <a:pPr indent="0" marL="0">
              <a:buNone/>
            </a:pPr>
            <a:r>
              <a:rPr lang="en-US" sz="1250" b="1" dirty="0">
                <a:solidFill>
                  <a:schemeClr val="tx2"/>
                </a:solidFill>
              </a:rPr>
              <a:t>In the bid, not in the bank</a:t>
            </a:r>
            <a:endParaRPr lang="en-US" sz="1250" dirty="0"/>
          </a:p>
        </p:txBody>
      </p:sp>
      <p:sp>
        <p:nvSpPr>
          <p:cNvPr id="11" name="stat note In the bid, not in the bank"/>
          <p:cNvSpPr txBox="1"/>
          <p:nvPr/>
        </p:nvSpPr>
        <p:spPr>
          <a:xfrm>
            <a:off x="6309360" y="3749040"/>
            <a:ext cx="2194560" cy="365760"/>
          </a:xfrm>
          <a:prstGeom prst="rect">
            <a:avLst/>
          </a:prstGeom>
          <a:noFill/>
          <a:ln/>
        </p:spPr>
        <p:txBody>
          <a:bodyPr wrap="square" lIns="0" tIns="0" rIns="0" bIns="0" rtlCol="0" anchor="ctr"/>
          <a:lstStyle/>
          <a:p>
            <a:pPr indent="0" marL="0">
              <a:buNone/>
            </a:pPr>
            <a:r>
              <a:rPr lang="en-US" sz="1050" dirty="0">
                <a:solidFill>
                  <a:schemeClr val="accent5"/>
                </a:solidFill>
              </a:rPr>
              <a:t>complex, far-away and change-order-heavy work slips most</a:t>
            </a:r>
            <a:endParaRPr lang="en-US" sz="1050" dirty="0"/>
          </a:p>
        </p:txBody>
      </p:sp>
      <p:sp>
        <p:nvSpPr>
          <p:cNvPr id="12" name="action"/>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250" b="1" dirty="0">
                <a:solidFill>
                  <a:schemeClr val="accent1"/>
                </a:solidFill>
              </a:rPr>
              <a:t>Action: put realised margin by project type back into the estimate as a line item, not a flat markup.</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Can the shop take what we are chasing?</a:t>
            </a:r>
            <a:endParaRPr lang="en-US" sz="2600" dirty="0"/>
          </a:p>
        </p:txBody>
      </p:sp>
      <p:graphicFrame>
        <p:nvGraphicFramePr>
          <p:cNvPr id="3" name="shop load by quarter" descr=""/>
          <p:cNvGraphicFramePr/>
          <p:nvPr/>
        </p:nvGraphicFramePr>
        <p:xfrm>
          <a:off x="457200" y="114300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4" name="capacity commentary"/>
          <p:cNvSpPr/>
          <p:nvPr/>
        </p:nvSpPr>
        <p:spPr>
          <a:xfrm>
            <a:off x="6126480" y="1143000"/>
            <a:ext cx="2560320" cy="3520440"/>
          </a:xfrm>
          <a:prstGeom prst="roundRect">
            <a:avLst>
              <a:gd name="adj" fmla="val 2857"/>
            </a:avLst>
          </a:prstGeom>
          <a:solidFill>
            <a:schemeClr val="bg2"/>
          </a:solidFill>
          <a:ln w="9525">
            <a:solidFill>
              <a:schemeClr val="accent6"/>
            </a:solidFill>
            <a:prstDash val="solid"/>
          </a:ln>
        </p:spPr>
      </p:sp>
      <p:sp>
        <p:nvSpPr>
          <p:cNvPr id="5" name="capacity text"/>
          <p:cNvSpPr txBox="1"/>
          <p:nvPr/>
        </p:nvSpPr>
        <p:spPr>
          <a:xfrm>
            <a:off x="6309360" y="1325880"/>
            <a:ext cx="2194560" cy="320040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The shop does 140 tons a week.</a:t>
            </a:r>
            <a:endParaRPr lang="en-US" sz="1300" dirty="0"/>
          </a:p>
          <a:p>
            <a:pPr indent="0" marL="0">
              <a:spcAft>
                <a:spcPts val="800"/>
              </a:spcAft>
              <a:buNone/>
            </a:pPr>
            <a:r>
              <a:rPr lang="en-US" sz="1300" dirty="0">
                <a:solidFill>
                  <a:schemeClr val="tx1"/>
                </a:solidFill>
              </a:rPr>
              <a:t>Won work covers 16 weeks.</a:t>
            </a:r>
            <a:endParaRPr lang="en-US" sz="1300" dirty="0"/>
          </a:p>
          <a:p>
            <a:pPr indent="0" marL="0">
              <a:spcAft>
                <a:spcPts val="800"/>
              </a:spcAft>
              <a:buNone/>
            </a:pPr>
            <a:r>
              <a:rPr lang="en-US" sz="1300" dirty="0">
                <a:solidFill>
                  <a:schemeClr val="tx1"/>
                </a:solidFill>
              </a:rPr>
              <a:t>From the first quarter of next year the shop is less than half full unless the pipeline converts.</a:t>
            </a:r>
            <a:endParaRPr lang="en-US" sz="1300" dirty="0"/>
          </a:p>
          <a:p>
            <a:pPr indent="0" marL="0">
              <a:buNone/>
            </a:pPr>
            <a:r>
              <a:rPr lang="en-US" sz="1300" b="1" dirty="0">
                <a:solidFill>
                  <a:schemeClr val="accent1"/>
                </a:solidFill>
              </a:rPr>
              <a:t>Target: roughly 9,000 more tons of identified opportunities at today's hit rate.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The Monday tool: every upcoming project, ranked, with a call and the reasons</a:t>
            </a:r>
            <a:endParaRPr lang="en-US" sz="2600" dirty="0"/>
          </a:p>
        </p:txBody>
      </p:sp>
      <p:pic>
        <p:nvPicPr>
          <p:cNvPr id="3" name="scorecard screenshot" descr="/tmp/claude-0/-home-user-SupplyChainOps/947629da-2e70-56f0-abb4-5f7a3b2f76a0/scratchpad/deck/scorecard_crop.png">    </p:cNvPr>
          <p:cNvPicPr>
            <a:picLocks noChangeAspect="1"/>
          </p:cNvPicPr>
          <p:nvPr/>
        </p:nvPicPr>
        <p:blipFill>
          <a:blip r:embed="rId1"/>
          <a:stretch>
            <a:fillRect/>
          </a:stretch>
        </p:blipFill>
        <p:spPr>
          <a:xfrm>
            <a:off x="457200" y="1143000"/>
            <a:ext cx="5760720" cy="2633472"/>
          </a:xfrm>
          <a:prstGeom prst="rect">
            <a:avLst/>
          </a:prstGeom>
        </p:spPr>
      </p:pic>
      <p:sp>
        <p:nvSpPr>
          <p:cNvPr id="4" name="summary Pursue"/>
          <p:cNvSpPr/>
          <p:nvPr/>
        </p:nvSpPr>
        <p:spPr>
          <a:xfrm>
            <a:off x="6400800" y="1143000"/>
            <a:ext cx="2286000" cy="804672"/>
          </a:xfrm>
          <a:prstGeom prst="roundRect">
            <a:avLst>
              <a:gd name="adj" fmla="val 9091"/>
            </a:avLst>
          </a:prstGeom>
          <a:solidFill>
            <a:schemeClr val="bg2"/>
          </a:solidFill>
          <a:ln w="9525">
            <a:solidFill>
              <a:schemeClr val="accent6"/>
            </a:solidFill>
            <a:prstDash val="solid"/>
          </a:ln>
        </p:spPr>
      </p:sp>
      <p:sp>
        <p:nvSpPr>
          <p:cNvPr id="5" name="call Pursue"/>
          <p:cNvSpPr txBox="1"/>
          <p:nvPr/>
        </p:nvSpPr>
        <p:spPr>
          <a:xfrm>
            <a:off x="6537960" y="1188720"/>
            <a:ext cx="1097280" cy="365760"/>
          </a:xfrm>
          <a:prstGeom prst="rect">
            <a:avLst/>
          </a:prstGeom>
          <a:noFill/>
          <a:ln/>
        </p:spPr>
        <p:txBody>
          <a:bodyPr wrap="square" lIns="0" tIns="0" rIns="0" bIns="0" rtlCol="0" anchor="ctr"/>
          <a:lstStyle/>
          <a:p>
            <a:pPr indent="0" marL="0">
              <a:buNone/>
            </a:pPr>
            <a:r>
              <a:rPr lang="en-US" sz="1500" b="1" dirty="0">
                <a:solidFill>
                  <a:schemeClr val="accent3"/>
                </a:solidFill>
              </a:rPr>
              <a:t>Pursue</a:t>
            </a:r>
            <a:endParaRPr lang="en-US" sz="1500" dirty="0"/>
          </a:p>
        </p:txBody>
      </p:sp>
      <p:sp>
        <p:nvSpPr>
          <p:cNvPr id="6" name="count Pursue"/>
          <p:cNvSpPr txBox="1"/>
          <p:nvPr/>
        </p:nvSpPr>
        <p:spPr>
          <a:xfrm>
            <a:off x="7589520" y="1188720"/>
            <a:ext cx="1005840" cy="365760"/>
          </a:xfrm>
          <a:prstGeom prst="rect">
            <a:avLst/>
          </a:prstGeom>
          <a:noFill/>
          <a:ln/>
        </p:spPr>
        <p:txBody>
          <a:bodyPr wrap="square" lIns="0" tIns="0" rIns="0" bIns="0" rtlCol="0" anchor="ctr"/>
          <a:lstStyle/>
          <a:p>
            <a:pPr algn="r" indent="0" marL="0">
              <a:buNone/>
            </a:pPr>
            <a:r>
              <a:rPr lang="en-US" sz="1300" b="1" dirty="0">
                <a:solidFill>
                  <a:schemeClr val="tx1"/>
                </a:solidFill>
              </a:rPr>
              <a:t>29 projects</a:t>
            </a:r>
            <a:endParaRPr lang="en-US" sz="1300" dirty="0"/>
          </a:p>
        </p:txBody>
      </p:sp>
      <p:sp>
        <p:nvSpPr>
          <p:cNvPr id="7" name="detail Pursue"/>
          <p:cNvSpPr txBox="1"/>
          <p:nvPr/>
        </p:nvSpPr>
        <p:spPr>
          <a:xfrm>
            <a:off x="6537960" y="1536192"/>
            <a:ext cx="2057400" cy="365760"/>
          </a:xfrm>
          <a:prstGeom prst="rect">
            <a:avLst/>
          </a:prstGeom>
          <a:noFill/>
          <a:ln/>
        </p:spPr>
        <p:txBody>
          <a:bodyPr wrap="square" lIns="0" tIns="0" rIns="0" bIns="0" rtlCol="0" anchor="ctr"/>
          <a:lstStyle/>
          <a:p>
            <a:pPr indent="0" marL="0">
              <a:buNone/>
            </a:pPr>
            <a:r>
              <a:rPr lang="en-US" sz="950" dirty="0">
                <a:solidFill>
                  <a:schemeClr val="tx2"/>
                </a:solidFill>
              </a:rPr>
              <a:t>698 estimating hours, 9,872 tons, $2.5M expected margin</a:t>
            </a:r>
            <a:endParaRPr lang="en-US" sz="950" dirty="0"/>
          </a:p>
        </p:txBody>
      </p:sp>
      <p:sp>
        <p:nvSpPr>
          <p:cNvPr id="8" name="summary Review"/>
          <p:cNvSpPr/>
          <p:nvPr/>
        </p:nvSpPr>
        <p:spPr>
          <a:xfrm>
            <a:off x="6400800" y="2039112"/>
            <a:ext cx="2286000" cy="804672"/>
          </a:xfrm>
          <a:prstGeom prst="roundRect">
            <a:avLst>
              <a:gd name="adj" fmla="val 9091"/>
            </a:avLst>
          </a:prstGeom>
          <a:solidFill>
            <a:schemeClr val="bg2"/>
          </a:solidFill>
          <a:ln w="9525">
            <a:solidFill>
              <a:schemeClr val="accent6"/>
            </a:solidFill>
            <a:prstDash val="solid"/>
          </a:ln>
        </p:spPr>
      </p:sp>
      <p:sp>
        <p:nvSpPr>
          <p:cNvPr id="9" name="call Review"/>
          <p:cNvSpPr txBox="1"/>
          <p:nvPr/>
        </p:nvSpPr>
        <p:spPr>
          <a:xfrm>
            <a:off x="6537960" y="2084832"/>
            <a:ext cx="1097280" cy="365760"/>
          </a:xfrm>
          <a:prstGeom prst="rect">
            <a:avLst/>
          </a:prstGeom>
          <a:noFill/>
          <a:ln/>
        </p:spPr>
        <p:txBody>
          <a:bodyPr wrap="square" lIns="0" tIns="0" rIns="0" bIns="0" rtlCol="0" anchor="ctr"/>
          <a:lstStyle/>
          <a:p>
            <a:pPr indent="0" marL="0">
              <a:buNone/>
            </a:pPr>
            <a:r>
              <a:rPr lang="en-US" sz="1500" b="1" dirty="0">
                <a:solidFill>
                  <a:schemeClr val="accent4"/>
                </a:solidFill>
              </a:rPr>
              <a:t>Review</a:t>
            </a:r>
            <a:endParaRPr lang="en-US" sz="1500" dirty="0"/>
          </a:p>
        </p:txBody>
      </p:sp>
      <p:sp>
        <p:nvSpPr>
          <p:cNvPr id="10" name="count Review"/>
          <p:cNvSpPr txBox="1"/>
          <p:nvPr/>
        </p:nvSpPr>
        <p:spPr>
          <a:xfrm>
            <a:off x="7589520" y="2084832"/>
            <a:ext cx="1005840" cy="365760"/>
          </a:xfrm>
          <a:prstGeom prst="rect">
            <a:avLst/>
          </a:prstGeom>
          <a:noFill/>
          <a:ln/>
        </p:spPr>
        <p:txBody>
          <a:bodyPr wrap="square" lIns="0" tIns="0" rIns="0" bIns="0" rtlCol="0" anchor="ctr"/>
          <a:lstStyle/>
          <a:p>
            <a:pPr algn="r" indent="0" marL="0">
              <a:buNone/>
            </a:pPr>
            <a:r>
              <a:rPr lang="en-US" sz="1300" b="1" dirty="0">
                <a:solidFill>
                  <a:schemeClr val="tx1"/>
                </a:solidFill>
              </a:rPr>
              <a:t>26 projects</a:t>
            </a:r>
            <a:endParaRPr lang="en-US" sz="1300" dirty="0"/>
          </a:p>
        </p:txBody>
      </p:sp>
      <p:sp>
        <p:nvSpPr>
          <p:cNvPr id="11" name="detail Review"/>
          <p:cNvSpPr txBox="1"/>
          <p:nvPr/>
        </p:nvSpPr>
        <p:spPr>
          <a:xfrm>
            <a:off x="6537960" y="2432304"/>
            <a:ext cx="2057400" cy="365760"/>
          </a:xfrm>
          <a:prstGeom prst="rect">
            <a:avLst/>
          </a:prstGeom>
          <a:noFill/>
          <a:ln/>
        </p:spPr>
        <p:txBody>
          <a:bodyPr wrap="square" lIns="0" tIns="0" rIns="0" bIns="0" rtlCol="0" anchor="ctr"/>
          <a:lstStyle/>
          <a:p>
            <a:pPr indent="0" marL="0">
              <a:buNone/>
            </a:pPr>
            <a:r>
              <a:rPr lang="en-US" sz="950" dirty="0">
                <a:solidFill>
                  <a:schemeClr val="tx2"/>
                </a:solidFill>
              </a:rPr>
              <a:t>451 estimating hours, 4,608 tons, $0.72M expected margin</a:t>
            </a:r>
            <a:endParaRPr lang="en-US" sz="950" dirty="0"/>
          </a:p>
        </p:txBody>
      </p:sp>
      <p:sp>
        <p:nvSpPr>
          <p:cNvPr id="12" name="summary Pass"/>
          <p:cNvSpPr/>
          <p:nvPr/>
        </p:nvSpPr>
        <p:spPr>
          <a:xfrm>
            <a:off x="6400800" y="2935224"/>
            <a:ext cx="2286000" cy="804672"/>
          </a:xfrm>
          <a:prstGeom prst="roundRect">
            <a:avLst>
              <a:gd name="adj" fmla="val 9091"/>
            </a:avLst>
          </a:prstGeom>
          <a:solidFill>
            <a:schemeClr val="bg2"/>
          </a:solidFill>
          <a:ln w="9525">
            <a:solidFill>
              <a:schemeClr val="accent6"/>
            </a:solidFill>
            <a:prstDash val="solid"/>
          </a:ln>
        </p:spPr>
      </p:sp>
      <p:sp>
        <p:nvSpPr>
          <p:cNvPr id="13" name="call Pass"/>
          <p:cNvSpPr txBox="1"/>
          <p:nvPr/>
        </p:nvSpPr>
        <p:spPr>
          <a:xfrm>
            <a:off x="6537960" y="2980944"/>
            <a:ext cx="1097280" cy="365760"/>
          </a:xfrm>
          <a:prstGeom prst="rect">
            <a:avLst/>
          </a:prstGeom>
          <a:noFill/>
          <a:ln/>
        </p:spPr>
        <p:txBody>
          <a:bodyPr wrap="square" lIns="0" tIns="0" rIns="0" bIns="0" rtlCol="0" anchor="ctr"/>
          <a:lstStyle/>
          <a:p>
            <a:pPr indent="0" marL="0">
              <a:buNone/>
            </a:pPr>
            <a:r>
              <a:rPr lang="en-US" sz="1500" b="1" dirty="0">
                <a:solidFill>
                  <a:schemeClr val="accent5"/>
                </a:solidFill>
              </a:rPr>
              <a:t>Pass</a:t>
            </a:r>
            <a:endParaRPr lang="en-US" sz="1500" dirty="0"/>
          </a:p>
        </p:txBody>
      </p:sp>
      <p:sp>
        <p:nvSpPr>
          <p:cNvPr id="14" name="count Pass"/>
          <p:cNvSpPr txBox="1"/>
          <p:nvPr/>
        </p:nvSpPr>
        <p:spPr>
          <a:xfrm>
            <a:off x="7589520" y="2980944"/>
            <a:ext cx="1005840" cy="365760"/>
          </a:xfrm>
          <a:prstGeom prst="rect">
            <a:avLst/>
          </a:prstGeom>
          <a:noFill/>
          <a:ln/>
        </p:spPr>
        <p:txBody>
          <a:bodyPr wrap="square" lIns="0" tIns="0" rIns="0" bIns="0" rtlCol="0" anchor="ctr"/>
          <a:lstStyle/>
          <a:p>
            <a:pPr algn="r" indent="0" marL="0">
              <a:buNone/>
            </a:pPr>
            <a:r>
              <a:rPr lang="en-US" sz="1300" b="1" dirty="0">
                <a:solidFill>
                  <a:schemeClr val="tx1"/>
                </a:solidFill>
              </a:rPr>
              <a:t>35 projects</a:t>
            </a:r>
            <a:endParaRPr lang="en-US" sz="1300" dirty="0"/>
          </a:p>
        </p:txBody>
      </p:sp>
      <p:sp>
        <p:nvSpPr>
          <p:cNvPr id="15" name="detail Pass"/>
          <p:cNvSpPr txBox="1"/>
          <p:nvPr/>
        </p:nvSpPr>
        <p:spPr>
          <a:xfrm>
            <a:off x="6537960" y="3328416"/>
            <a:ext cx="2057400" cy="365760"/>
          </a:xfrm>
          <a:prstGeom prst="rect">
            <a:avLst/>
          </a:prstGeom>
          <a:noFill/>
          <a:ln/>
        </p:spPr>
        <p:txBody>
          <a:bodyPr wrap="square" lIns="0" tIns="0" rIns="0" bIns="0" rtlCol="0" anchor="ctr"/>
          <a:lstStyle/>
          <a:p>
            <a:pPr indent="0" marL="0">
              <a:buNone/>
            </a:pPr>
            <a:r>
              <a:rPr lang="en-US" sz="950" dirty="0">
                <a:solidFill>
                  <a:schemeClr val="tx2"/>
                </a:solidFill>
              </a:rPr>
              <a:t>858 estimating hours, 9,961 tons, $0.53M expected margin</a:t>
            </a:r>
            <a:endParaRPr lang="en-US" sz="950" dirty="0"/>
          </a:p>
        </p:txBody>
      </p:sp>
      <p:sp>
        <p:nvSpPr>
          <p:cNvPr id="16" name="scorecard bullets"/>
          <p:cNvSpPr txBox="1"/>
          <p:nvPr/>
        </p:nvSpPr>
        <p:spPr>
          <a:xfrm>
            <a:off x="457200" y="3840480"/>
            <a:ext cx="5760720" cy="8686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1"/>
                </a:solidFill>
              </a:rPr>
              <a:t>Win odds from our own history with that kind of job and that customer.</a:t>
            </a:r>
            <a:endParaRPr lang="en-US" sz="1150" dirty="0"/>
          </a:p>
          <a:p>
            <a:pPr marL="342900" indent="-342900">
              <a:spcAft>
                <a:spcPts val="600"/>
              </a:spcAft>
              <a:buSzPct val="100000"/>
              <a:buChar char="•"/>
            </a:pPr>
            <a:r>
              <a:rPr lang="en-US" sz="1150" dirty="0">
                <a:solidFill>
                  <a:schemeClr val="tx1"/>
                </a:solidFill>
              </a:rPr>
              <a:t>Expected value: odds x revenue x the margin we really keep, minus the cost of estimating it. Ranked per estimating hour.</a:t>
            </a:r>
            <a:endParaRPr lang="en-US" sz="1150" dirty="0"/>
          </a:p>
          <a:p>
            <a:pPr marL="342900" indent="-342900">
              <a:spcAft>
                <a:spcPts val="600"/>
              </a:spcAft>
              <a:buSzPct val="100000"/>
              <a:buChar char="•"/>
            </a:pPr>
            <a:r>
              <a:rPr lang="en-US" sz="1150" dirty="0">
                <a:solidFill>
                  <a:schemeClr val="tx1"/>
                </a:solidFill>
              </a:rPr>
              <a:t>Shop load if we win it, over the weeks it would be in the shop.</a:t>
            </a:r>
            <a:endParaRPr lang="en-US" sz="1150" dirty="0"/>
          </a:p>
        </p:txBody>
      </p:sp>
      <p:sp>
        <p:nvSpPr>
          <p:cNvPr id="17" name="scorecard note"/>
          <p:cNvSpPr txBox="1"/>
          <p:nvPr/>
        </p:nvSpPr>
        <p:spPr>
          <a:xfrm>
            <a:off x="6400800" y="3840480"/>
            <a:ext cx="2286000" cy="868680"/>
          </a:xfrm>
          <a:prstGeom prst="rect">
            <a:avLst/>
          </a:prstGeom>
          <a:noFill/>
          <a:ln/>
        </p:spPr>
        <p:txBody>
          <a:bodyPr wrap="square" lIns="0" tIns="0" rIns="0" bIns="0" rtlCol="0" anchor="t"/>
          <a:lstStyle/>
          <a:p>
            <a:pPr indent="0" marL="0">
              <a:buNone/>
            </a:pPr>
            <a:r>
              <a:rPr lang="en-US" sz="1100" i="1" dirty="0">
                <a:solidFill>
                  <a:schemeClr val="tx2"/>
                </a:solidFill>
              </a:rPr>
              <a:t>A starting point for the bid meeting, not a verdict. The room overrides it and the override is logged.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How much to trust the win odds</a:t>
            </a:r>
            <a:endParaRPr lang="en-US" sz="2600" dirty="0"/>
          </a:p>
        </p:txBody>
      </p:sp>
      <p:sp>
        <p:nvSpPr>
          <p:cNvPr id="3" name="stat Accuracy score (AUC)"/>
          <p:cNvSpPr/>
          <p:nvPr/>
        </p:nvSpPr>
        <p:spPr>
          <a:xfrm>
            <a:off x="457200" y="1234440"/>
            <a:ext cx="2651760" cy="1417320"/>
          </a:xfrm>
          <a:prstGeom prst="roundRect">
            <a:avLst>
              <a:gd name="adj" fmla="val 5161"/>
            </a:avLst>
          </a:prstGeom>
          <a:solidFill>
            <a:schemeClr val="bg2"/>
          </a:solidFill>
          <a:ln w="9525">
            <a:solidFill>
              <a:schemeClr val="accent6"/>
            </a:solidFill>
            <a:prstDash val="solid"/>
          </a:ln>
        </p:spPr>
      </p:sp>
      <p:sp>
        <p:nvSpPr>
          <p:cNvPr id="4" name="stat value Accuracy score (AUC)"/>
          <p:cNvSpPr txBox="1"/>
          <p:nvPr/>
        </p:nvSpPr>
        <p:spPr>
          <a:xfrm>
            <a:off x="640080" y="1344168"/>
            <a:ext cx="2286000" cy="594360"/>
          </a:xfrm>
          <a:prstGeom prst="rect">
            <a:avLst/>
          </a:prstGeom>
          <a:noFill/>
          <a:ln/>
        </p:spPr>
        <p:txBody>
          <a:bodyPr wrap="square" lIns="0" tIns="0" rIns="0" bIns="0" rtlCol="0" anchor="ctr"/>
          <a:lstStyle/>
          <a:p>
            <a:pPr indent="0" marL="0">
              <a:buNone/>
            </a:pPr>
            <a:r>
              <a:rPr lang="en-US" sz="3000" b="1" dirty="0">
                <a:solidFill>
                  <a:schemeClr val="accent2"/>
                </a:solidFill>
              </a:rPr>
              <a:t>0.75</a:t>
            </a:r>
            <a:endParaRPr lang="en-US" sz="3000" dirty="0"/>
          </a:p>
        </p:txBody>
      </p:sp>
      <p:sp>
        <p:nvSpPr>
          <p:cNvPr id="5" name="stat label Accuracy score (AUC)"/>
          <p:cNvSpPr txBox="1"/>
          <p:nvPr/>
        </p:nvSpPr>
        <p:spPr>
          <a:xfrm>
            <a:off x="640080" y="1947672"/>
            <a:ext cx="2286000" cy="320040"/>
          </a:xfrm>
          <a:prstGeom prst="rect">
            <a:avLst/>
          </a:prstGeom>
          <a:noFill/>
          <a:ln/>
        </p:spPr>
        <p:txBody>
          <a:bodyPr wrap="square" lIns="0" tIns="0" rIns="0" bIns="0" rtlCol="0" anchor="ctr"/>
          <a:lstStyle/>
          <a:p>
            <a:pPr indent="0" marL="0">
              <a:buNone/>
            </a:pPr>
            <a:r>
              <a:rPr lang="en-US" sz="1250" b="1" dirty="0">
                <a:solidFill>
                  <a:schemeClr val="tx2"/>
                </a:solidFill>
              </a:rPr>
              <a:t>Accuracy score (AUC)</a:t>
            </a:r>
            <a:endParaRPr lang="en-US" sz="1250" dirty="0"/>
          </a:p>
        </p:txBody>
      </p:sp>
      <p:sp>
        <p:nvSpPr>
          <p:cNvPr id="6" name="stat note Accuracy score (AUC)"/>
          <p:cNvSpPr txBox="1"/>
          <p:nvPr/>
        </p:nvSpPr>
        <p:spPr>
          <a:xfrm>
            <a:off x="640080" y="2240280"/>
            <a:ext cx="2286000" cy="365760"/>
          </a:xfrm>
          <a:prstGeom prst="rect">
            <a:avLst/>
          </a:prstGeom>
          <a:noFill/>
          <a:ln/>
        </p:spPr>
        <p:txBody>
          <a:bodyPr wrap="square" lIns="0" tIns="0" rIns="0" bIns="0" rtlCol="0" anchor="ctr"/>
          <a:lstStyle/>
          <a:p>
            <a:pPr indent="0" marL="0">
              <a:buNone/>
            </a:pPr>
            <a:r>
              <a:rPr lang="en-US" sz="1050" dirty="0">
                <a:solidFill>
                  <a:schemeClr val="accent5"/>
                </a:solidFill>
              </a:rPr>
              <a:t>0.5 is a coin flip, 1.0 is perfect</a:t>
            </a:r>
            <a:endParaRPr lang="en-US" sz="1050" dirty="0"/>
          </a:p>
        </p:txBody>
      </p:sp>
      <p:sp>
        <p:nvSpPr>
          <p:cNvPr id="7" name="stat Tested on bids it had never seen"/>
          <p:cNvSpPr/>
          <p:nvPr/>
        </p:nvSpPr>
        <p:spPr>
          <a:xfrm>
            <a:off x="3246120" y="1234440"/>
            <a:ext cx="2651760" cy="1417320"/>
          </a:xfrm>
          <a:prstGeom prst="roundRect">
            <a:avLst>
              <a:gd name="adj" fmla="val 5161"/>
            </a:avLst>
          </a:prstGeom>
          <a:solidFill>
            <a:schemeClr val="bg2"/>
          </a:solidFill>
          <a:ln w="9525">
            <a:solidFill>
              <a:schemeClr val="accent6"/>
            </a:solidFill>
            <a:prstDash val="solid"/>
          </a:ln>
        </p:spPr>
      </p:sp>
      <p:sp>
        <p:nvSpPr>
          <p:cNvPr id="8" name="stat value Tested on bids it had never seen"/>
          <p:cNvSpPr txBox="1"/>
          <p:nvPr/>
        </p:nvSpPr>
        <p:spPr>
          <a:xfrm>
            <a:off x="3429000" y="1344168"/>
            <a:ext cx="2286000" cy="594360"/>
          </a:xfrm>
          <a:prstGeom prst="rect">
            <a:avLst/>
          </a:prstGeom>
          <a:noFill/>
          <a:ln/>
        </p:spPr>
        <p:txBody>
          <a:bodyPr wrap="square" lIns="0" tIns="0" rIns="0" bIns="0" rtlCol="0" anchor="ctr"/>
          <a:lstStyle/>
          <a:p>
            <a:pPr indent="0" marL="0">
              <a:buNone/>
            </a:pPr>
            <a:r>
              <a:rPr lang="en-US" sz="3000" b="1" dirty="0">
                <a:solidFill>
                  <a:schemeClr val="tx1"/>
                </a:solidFill>
              </a:rPr>
              <a:t>100 bids</a:t>
            </a:r>
            <a:endParaRPr lang="en-US" sz="3000" dirty="0"/>
          </a:p>
        </p:txBody>
      </p:sp>
      <p:sp>
        <p:nvSpPr>
          <p:cNvPr id="9" name="stat label Tested on bids it had never seen"/>
          <p:cNvSpPr txBox="1"/>
          <p:nvPr/>
        </p:nvSpPr>
        <p:spPr>
          <a:xfrm>
            <a:off x="3429000" y="1947672"/>
            <a:ext cx="2286000" cy="320040"/>
          </a:xfrm>
          <a:prstGeom prst="rect">
            <a:avLst/>
          </a:prstGeom>
          <a:noFill/>
          <a:ln/>
        </p:spPr>
        <p:txBody>
          <a:bodyPr wrap="square" lIns="0" tIns="0" rIns="0" bIns="0" rtlCol="0" anchor="ctr"/>
          <a:lstStyle/>
          <a:p>
            <a:pPr indent="0" marL="0">
              <a:buNone/>
            </a:pPr>
            <a:r>
              <a:rPr lang="en-US" sz="1250" b="1" dirty="0">
                <a:solidFill>
                  <a:schemeClr val="tx2"/>
                </a:solidFill>
              </a:rPr>
              <a:t>Tested on bids it had never seen</a:t>
            </a:r>
            <a:endParaRPr lang="en-US" sz="1250" dirty="0"/>
          </a:p>
        </p:txBody>
      </p:sp>
      <p:sp>
        <p:nvSpPr>
          <p:cNvPr id="10" name="stat note Tested on bids it had never seen"/>
          <p:cNvSpPr txBox="1"/>
          <p:nvPr/>
        </p:nvSpPr>
        <p:spPr>
          <a:xfrm>
            <a:off x="3429000" y="2240280"/>
            <a:ext cx="2286000" cy="365760"/>
          </a:xfrm>
          <a:prstGeom prst="rect">
            <a:avLst/>
          </a:prstGeom>
          <a:noFill/>
          <a:ln/>
        </p:spPr>
        <p:txBody>
          <a:bodyPr wrap="square" lIns="0" tIns="0" rIns="0" bIns="0" rtlCol="0" anchor="ctr"/>
          <a:lstStyle/>
          <a:p>
            <a:pPr indent="0" marL="0">
              <a:buNone/>
            </a:pPr>
            <a:r>
              <a:rPr lang="en-US" sz="1050" dirty="0">
                <a:solidFill>
                  <a:schemeClr val="accent5"/>
                </a:solidFill>
              </a:rPr>
              <a:t>fitted on bids before July 2025, checked on the ones after</a:t>
            </a:r>
            <a:endParaRPr lang="en-US" sz="1050" dirty="0"/>
          </a:p>
        </p:txBody>
      </p:sp>
      <p:sp>
        <p:nvSpPr>
          <p:cNvPr id="11" name="stat Re-fit as results come in"/>
          <p:cNvSpPr/>
          <p:nvPr/>
        </p:nvSpPr>
        <p:spPr>
          <a:xfrm>
            <a:off x="6035040" y="1234440"/>
            <a:ext cx="2651760" cy="1417320"/>
          </a:xfrm>
          <a:prstGeom prst="roundRect">
            <a:avLst>
              <a:gd name="adj" fmla="val 5161"/>
            </a:avLst>
          </a:prstGeom>
          <a:solidFill>
            <a:schemeClr val="bg2"/>
          </a:solidFill>
          <a:ln w="9525">
            <a:solidFill>
              <a:schemeClr val="accent6"/>
            </a:solidFill>
            <a:prstDash val="solid"/>
          </a:ln>
        </p:spPr>
      </p:sp>
      <p:sp>
        <p:nvSpPr>
          <p:cNvPr id="12" name="stat value Re-fit as results come in"/>
          <p:cNvSpPr txBox="1"/>
          <p:nvPr/>
        </p:nvSpPr>
        <p:spPr>
          <a:xfrm>
            <a:off x="6217920" y="1344168"/>
            <a:ext cx="2286000" cy="594360"/>
          </a:xfrm>
          <a:prstGeom prst="rect">
            <a:avLst/>
          </a:prstGeom>
          <a:noFill/>
          <a:ln/>
        </p:spPr>
        <p:txBody>
          <a:bodyPr wrap="square" lIns="0" tIns="0" rIns="0" bIns="0" rtlCol="0" anchor="ctr"/>
          <a:lstStyle/>
          <a:p>
            <a:pPr indent="0" marL="0">
              <a:buNone/>
            </a:pPr>
            <a:r>
              <a:rPr lang="en-US" sz="3000" b="1" dirty="0">
                <a:solidFill>
                  <a:schemeClr val="tx1"/>
                </a:solidFill>
              </a:rPr>
              <a:t>Quarterly</a:t>
            </a:r>
            <a:endParaRPr lang="en-US" sz="3000" dirty="0"/>
          </a:p>
        </p:txBody>
      </p:sp>
      <p:sp>
        <p:nvSpPr>
          <p:cNvPr id="13" name="stat label Re-fit as results come in"/>
          <p:cNvSpPr txBox="1"/>
          <p:nvPr/>
        </p:nvSpPr>
        <p:spPr>
          <a:xfrm>
            <a:off x="6217920" y="1947672"/>
            <a:ext cx="2286000" cy="320040"/>
          </a:xfrm>
          <a:prstGeom prst="rect">
            <a:avLst/>
          </a:prstGeom>
          <a:noFill/>
          <a:ln/>
        </p:spPr>
        <p:txBody>
          <a:bodyPr wrap="square" lIns="0" tIns="0" rIns="0" bIns="0" rtlCol="0" anchor="ctr"/>
          <a:lstStyle/>
          <a:p>
            <a:pPr indent="0" marL="0">
              <a:buNone/>
            </a:pPr>
            <a:r>
              <a:rPr lang="en-US" sz="1250" b="1" dirty="0">
                <a:solidFill>
                  <a:schemeClr val="tx2"/>
                </a:solidFill>
              </a:rPr>
              <a:t>Re-fit as results come in</a:t>
            </a:r>
            <a:endParaRPr lang="en-US" sz="1250" dirty="0"/>
          </a:p>
        </p:txBody>
      </p:sp>
      <p:sp>
        <p:nvSpPr>
          <p:cNvPr id="14" name="stat note Re-fit as results come in"/>
          <p:cNvSpPr txBox="1"/>
          <p:nvPr/>
        </p:nvSpPr>
        <p:spPr>
          <a:xfrm>
            <a:off x="6217920" y="2240280"/>
            <a:ext cx="2286000" cy="365760"/>
          </a:xfrm>
          <a:prstGeom prst="rect">
            <a:avLst/>
          </a:prstGeom>
          <a:noFill/>
          <a:ln/>
        </p:spPr>
        <p:txBody>
          <a:bodyPr wrap="square" lIns="0" tIns="0" rIns="0" bIns="0" rtlCol="0" anchor="ctr"/>
          <a:lstStyle/>
          <a:p>
            <a:pPr indent="0" marL="0">
              <a:buNone/>
            </a:pPr>
            <a:r>
              <a:rPr lang="en-US" sz="1050" dirty="0">
                <a:solidFill>
                  <a:schemeClr val="accent5"/>
                </a:solidFill>
              </a:rPr>
              <a:t>every decided bid and low-bid number makes it better</a:t>
            </a:r>
            <a:endParaRPr lang="en-US" sz="1050" dirty="0"/>
          </a:p>
        </p:txBody>
      </p:sp>
      <p:sp>
        <p:nvSpPr>
          <p:cNvPr id="15" name="trust rule"/>
          <p:cNvSpPr/>
          <p:nvPr/>
        </p:nvSpPr>
        <p:spPr>
          <a:xfrm>
            <a:off x="457200" y="2926080"/>
            <a:ext cx="8229600" cy="1600200"/>
          </a:xfrm>
          <a:prstGeom prst="roundRect">
            <a:avLst>
              <a:gd name="adj" fmla="val 4571"/>
            </a:avLst>
          </a:prstGeom>
          <a:solidFill>
            <a:schemeClr val="bg2"/>
          </a:solidFill>
          <a:ln w="9525">
            <a:solidFill>
              <a:schemeClr val="accent6"/>
            </a:solidFill>
            <a:prstDash val="solid"/>
          </a:ln>
        </p:spPr>
      </p:sp>
      <p:sp>
        <p:nvSpPr>
          <p:cNvPr id="16" name="trust text"/>
          <p:cNvSpPr txBox="1"/>
          <p:nvPr/>
        </p:nvSpPr>
        <p:spPr>
          <a:xfrm>
            <a:off x="685800" y="3063240"/>
            <a:ext cx="7772400" cy="13716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The rule we would run it under</a:t>
            </a:r>
            <a:endParaRPr lang="en-US" sz="1600" dirty="0"/>
          </a:p>
          <a:p>
            <a:pPr indent="0" marL="0">
              <a:buNone/>
            </a:pPr>
            <a:r>
              <a:rPr lang="en-US" sz="1400" dirty="0">
                <a:solidFill>
                  <a:schemeClr val="tx1"/>
                </a:solidFill>
              </a:rPr>
              <a:t>Good enough to rank projects and budget estimating hours. Not good enough to overrule the room on one job. The report says this in its own words, and the scorecard shows every input next to the call so the room can argue with the number.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2600" b="1" dirty="0">
                <a:solidFill>
                  <a:schemeClr val="tx1"/>
                </a:solidFill>
              </a:rPr>
              <a:t>What it takes to run this on Weibee Steel's own numbers</a:t>
            </a:r>
            <a:endParaRPr lang="en-US" sz="2600" dirty="0"/>
          </a:p>
        </p:txBody>
      </p:sp>
      <p:sp>
        <p:nvSpPr>
          <p:cNvPr id="3" name="phase Weeks 1 to 4"/>
          <p:cNvSpPr/>
          <p:nvPr/>
        </p:nvSpPr>
        <p:spPr>
          <a:xfrm>
            <a:off x="457200" y="1188720"/>
            <a:ext cx="2651760" cy="2286000"/>
          </a:xfrm>
          <a:prstGeom prst="roundRect">
            <a:avLst>
              <a:gd name="adj" fmla="val 3200"/>
            </a:avLst>
          </a:prstGeom>
          <a:solidFill>
            <a:schemeClr val="bg2"/>
          </a:solidFill>
          <a:ln w="9525">
            <a:solidFill>
              <a:schemeClr val="accent6"/>
            </a:solidFill>
            <a:prstDash val="solid"/>
          </a:ln>
        </p:spPr>
      </p:sp>
      <p:sp>
        <p:nvSpPr>
          <p:cNvPr id="4" name="phase when"/>
          <p:cNvSpPr txBox="1"/>
          <p:nvPr/>
        </p:nvSpPr>
        <p:spPr>
          <a:xfrm>
            <a:off x="640080" y="1298448"/>
            <a:ext cx="2286000" cy="274320"/>
          </a:xfrm>
          <a:prstGeom prst="rect">
            <a:avLst/>
          </a:prstGeom>
          <a:noFill/>
          <a:ln/>
        </p:spPr>
        <p:txBody>
          <a:bodyPr wrap="square" lIns="0" tIns="0" rIns="0" bIns="0" rtlCol="0" anchor="ctr"/>
          <a:lstStyle/>
          <a:p>
            <a:pPr indent="0" marL="0">
              <a:buNone/>
            </a:pPr>
            <a:r>
              <a:rPr lang="en-US" sz="1100" b="1" dirty="0">
                <a:solidFill>
                  <a:schemeClr val="accent1"/>
                </a:solidFill>
              </a:rPr>
              <a:t>Weeks 1 to 4</a:t>
            </a:r>
            <a:endParaRPr lang="en-US" sz="1100" dirty="0"/>
          </a:p>
        </p:txBody>
      </p:sp>
      <p:sp>
        <p:nvSpPr>
          <p:cNvPr id="5" name="phase head"/>
          <p:cNvSpPr txBox="1"/>
          <p:nvPr/>
        </p:nvSpPr>
        <p:spPr>
          <a:xfrm>
            <a:off x="640080" y="1572768"/>
            <a:ext cx="2286000" cy="502920"/>
          </a:xfrm>
          <a:prstGeom prst="rect">
            <a:avLst/>
          </a:prstGeom>
          <a:noFill/>
          <a:ln/>
        </p:spPr>
        <p:txBody>
          <a:bodyPr wrap="square" lIns="0" tIns="0" rIns="0" bIns="0" rtlCol="0" anchor="t"/>
          <a:lstStyle/>
          <a:p>
            <a:pPr indent="0" marL="0">
              <a:buNone/>
            </a:pPr>
            <a:r>
              <a:rPr lang="en-US" sz="1500" b="1" dirty="0">
                <a:solidFill>
                  <a:schemeClr val="tx1"/>
                </a:solidFill>
              </a:rPr>
              <a:t>Learn the shop, build the intake</a:t>
            </a:r>
            <a:endParaRPr lang="en-US" sz="1500" dirty="0"/>
          </a:p>
        </p:txBody>
      </p:sp>
      <p:sp>
        <p:nvSpPr>
          <p:cNvPr id="6" name="phase text"/>
          <p:cNvSpPr txBox="1"/>
          <p:nvPr/>
        </p:nvSpPr>
        <p:spPr>
          <a:xfrm>
            <a:off x="640080" y="2103120"/>
            <a:ext cx="2286000" cy="1280160"/>
          </a:xfrm>
          <a:prstGeom prst="rect">
            <a:avLst/>
          </a:prstGeom>
          <a:noFill/>
          <a:ln/>
        </p:spPr>
        <p:txBody>
          <a:bodyPr wrap="square" lIns="0" tIns="0" rIns="0" bIns="0" rtlCol="0" anchor="t"/>
          <a:lstStyle/>
          <a:p>
            <a:pPr indent="0" marL="0">
              <a:buNone/>
            </a:pPr>
            <a:r>
              <a:rPr lang="en-US" sz="1150" dirty="0">
                <a:solidFill>
                  <a:schemeClr val="tx2"/>
                </a:solidFill>
              </a:rPr>
              <a:t>Shadow estimating, PM, QC, shop and field. Load three years of bid logs and job closes. Phone the GCs we lost to for the low number.</a:t>
            </a:r>
            <a:endParaRPr lang="en-US" sz="1150" dirty="0"/>
          </a:p>
        </p:txBody>
      </p:sp>
      <p:sp>
        <p:nvSpPr>
          <p:cNvPr id="7" name="phase Weeks 5 to 8"/>
          <p:cNvSpPr/>
          <p:nvPr/>
        </p:nvSpPr>
        <p:spPr>
          <a:xfrm>
            <a:off x="3246120" y="1188720"/>
            <a:ext cx="2651760" cy="2286000"/>
          </a:xfrm>
          <a:prstGeom prst="roundRect">
            <a:avLst>
              <a:gd name="adj" fmla="val 3200"/>
            </a:avLst>
          </a:prstGeom>
          <a:solidFill>
            <a:schemeClr val="bg2"/>
          </a:solidFill>
          <a:ln w="9525">
            <a:solidFill>
              <a:schemeClr val="accent6"/>
            </a:solidFill>
            <a:prstDash val="solid"/>
          </a:ln>
        </p:spPr>
      </p:sp>
      <p:sp>
        <p:nvSpPr>
          <p:cNvPr id="8" name="phase when"/>
          <p:cNvSpPr txBox="1"/>
          <p:nvPr/>
        </p:nvSpPr>
        <p:spPr>
          <a:xfrm>
            <a:off x="3429000" y="1298448"/>
            <a:ext cx="2286000" cy="274320"/>
          </a:xfrm>
          <a:prstGeom prst="rect">
            <a:avLst/>
          </a:prstGeom>
          <a:noFill/>
          <a:ln/>
        </p:spPr>
        <p:txBody>
          <a:bodyPr wrap="square" lIns="0" tIns="0" rIns="0" bIns="0" rtlCol="0" anchor="ctr"/>
          <a:lstStyle/>
          <a:p>
            <a:pPr indent="0" marL="0">
              <a:buNone/>
            </a:pPr>
            <a:r>
              <a:rPr lang="en-US" sz="1100" b="1" dirty="0">
                <a:solidFill>
                  <a:schemeClr val="accent1"/>
                </a:solidFill>
              </a:rPr>
              <a:t>Weeks 5 to 8</a:t>
            </a:r>
            <a:endParaRPr lang="en-US" sz="1100" dirty="0"/>
          </a:p>
        </p:txBody>
      </p:sp>
      <p:sp>
        <p:nvSpPr>
          <p:cNvPr id="9" name="phase head"/>
          <p:cNvSpPr txBox="1"/>
          <p:nvPr/>
        </p:nvSpPr>
        <p:spPr>
          <a:xfrm>
            <a:off x="3429000" y="1572768"/>
            <a:ext cx="2286000" cy="502920"/>
          </a:xfrm>
          <a:prstGeom prst="rect">
            <a:avLst/>
          </a:prstGeom>
          <a:noFill/>
          <a:ln/>
        </p:spPr>
        <p:txBody>
          <a:bodyPr wrap="square" lIns="0" tIns="0" rIns="0" bIns="0" rtlCol="0" anchor="t"/>
          <a:lstStyle/>
          <a:p>
            <a:pPr indent="0" marL="0">
              <a:buNone/>
            </a:pPr>
            <a:r>
              <a:rPr lang="en-US" sz="1500" b="1" dirty="0">
                <a:solidFill>
                  <a:schemeClr val="tx1"/>
                </a:solidFill>
              </a:rPr>
              <a:t>Get the numbers live</a:t>
            </a:r>
            <a:endParaRPr lang="en-US" sz="1500" dirty="0"/>
          </a:p>
        </p:txBody>
      </p:sp>
      <p:sp>
        <p:nvSpPr>
          <p:cNvPr id="10" name="phase text"/>
          <p:cNvSpPr txBox="1"/>
          <p:nvPr/>
        </p:nvSpPr>
        <p:spPr>
          <a:xfrm>
            <a:off x="3429000" y="2103120"/>
            <a:ext cx="2286000" cy="1280160"/>
          </a:xfrm>
          <a:prstGeom prst="rect">
            <a:avLst/>
          </a:prstGeom>
          <a:noFill/>
          <a:ln/>
        </p:spPr>
        <p:txBody>
          <a:bodyPr wrap="square" lIns="0" tIns="0" rIns="0" bIns="0" rtlCol="0" anchor="t"/>
          <a:lstStyle/>
          <a:p>
            <a:pPr indent="0" marL="0">
              <a:buNone/>
            </a:pPr>
            <a:r>
              <a:rPr lang="en-US" sz="1150" dirty="0">
                <a:solidFill>
                  <a:schemeClr val="tx2"/>
                </a:solidFill>
              </a:rPr>
              <a:t>Hit rate, customer and estimate-versus-actual pages on real history. Sit with estimators and PMs until the definitions are right.</a:t>
            </a:r>
            <a:endParaRPr lang="en-US" sz="1150" dirty="0"/>
          </a:p>
        </p:txBody>
      </p:sp>
      <p:sp>
        <p:nvSpPr>
          <p:cNvPr id="11" name="phase Weeks 9 to 13"/>
          <p:cNvSpPr/>
          <p:nvPr/>
        </p:nvSpPr>
        <p:spPr>
          <a:xfrm>
            <a:off x="6035040" y="1188720"/>
            <a:ext cx="2651760" cy="2286000"/>
          </a:xfrm>
          <a:prstGeom prst="roundRect">
            <a:avLst>
              <a:gd name="adj" fmla="val 3200"/>
            </a:avLst>
          </a:prstGeom>
          <a:solidFill>
            <a:schemeClr val="bg2"/>
          </a:solidFill>
          <a:ln w="9525">
            <a:solidFill>
              <a:schemeClr val="accent6"/>
            </a:solidFill>
            <a:prstDash val="solid"/>
          </a:ln>
        </p:spPr>
      </p:sp>
      <p:sp>
        <p:nvSpPr>
          <p:cNvPr id="12" name="phase when"/>
          <p:cNvSpPr txBox="1"/>
          <p:nvPr/>
        </p:nvSpPr>
        <p:spPr>
          <a:xfrm>
            <a:off x="6217920" y="1298448"/>
            <a:ext cx="2286000" cy="274320"/>
          </a:xfrm>
          <a:prstGeom prst="rect">
            <a:avLst/>
          </a:prstGeom>
          <a:noFill/>
          <a:ln/>
        </p:spPr>
        <p:txBody>
          <a:bodyPr wrap="square" lIns="0" tIns="0" rIns="0" bIns="0" rtlCol="0" anchor="ctr"/>
          <a:lstStyle/>
          <a:p>
            <a:pPr indent="0" marL="0">
              <a:buNone/>
            </a:pPr>
            <a:r>
              <a:rPr lang="en-US" sz="1100" b="1" dirty="0">
                <a:solidFill>
                  <a:schemeClr val="accent1"/>
                </a:solidFill>
              </a:rPr>
              <a:t>Weeks 9 to 13</a:t>
            </a:r>
            <a:endParaRPr lang="en-US" sz="1100" dirty="0"/>
          </a:p>
        </p:txBody>
      </p:sp>
      <p:sp>
        <p:nvSpPr>
          <p:cNvPr id="13" name="phase head"/>
          <p:cNvSpPr txBox="1"/>
          <p:nvPr/>
        </p:nvSpPr>
        <p:spPr>
          <a:xfrm>
            <a:off x="6217920" y="1572768"/>
            <a:ext cx="2286000" cy="502920"/>
          </a:xfrm>
          <a:prstGeom prst="rect">
            <a:avLst/>
          </a:prstGeom>
          <a:noFill/>
          <a:ln/>
        </p:spPr>
        <p:txBody>
          <a:bodyPr wrap="square" lIns="0" tIns="0" rIns="0" bIns="0" rtlCol="0" anchor="t"/>
          <a:lstStyle/>
          <a:p>
            <a:pPr indent="0" marL="0">
              <a:buNone/>
            </a:pPr>
            <a:r>
              <a:rPr lang="en-US" sz="1500" b="1" dirty="0">
                <a:solidFill>
                  <a:schemeClr val="tx1"/>
                </a:solidFill>
              </a:rPr>
              <a:t>Turn on the Monday scorecard</a:t>
            </a:r>
            <a:endParaRPr lang="en-US" sz="1500" dirty="0"/>
          </a:p>
        </p:txBody>
      </p:sp>
      <p:sp>
        <p:nvSpPr>
          <p:cNvPr id="14" name="phase text"/>
          <p:cNvSpPr txBox="1"/>
          <p:nvPr/>
        </p:nvSpPr>
        <p:spPr>
          <a:xfrm>
            <a:off x="6217920" y="2103120"/>
            <a:ext cx="2286000" cy="1280160"/>
          </a:xfrm>
          <a:prstGeom prst="rect">
            <a:avLst/>
          </a:prstGeom>
          <a:noFill/>
          <a:ln/>
        </p:spPr>
        <p:txBody>
          <a:bodyPr wrap="square" lIns="0" tIns="0" rIns="0" bIns="0" rtlCol="0" anchor="t"/>
          <a:lstStyle/>
          <a:p>
            <a:pPr indent="0" marL="0">
              <a:buNone/>
            </a:pPr>
            <a:r>
              <a:rPr lang="en-US" sz="1150" dirty="0">
                <a:solidFill>
                  <a:schemeClr val="tx2"/>
                </a:solidFill>
              </a:rPr>
              <a:t>Rank the pipeline, set the estimating-hour budget, log overrides. Review the capacity chart with shop leadership monthly.</a:t>
            </a:r>
            <a:endParaRPr lang="en-US" sz="1150" dirty="0"/>
          </a:p>
        </p:txBody>
      </p:sp>
      <p:sp>
        <p:nvSpPr>
          <p:cNvPr id="15" name="needs"/>
          <p:cNvSpPr txBox="1"/>
          <p:nvPr/>
        </p:nvSpPr>
        <p:spPr>
          <a:xfrm>
            <a:off x="457200" y="3703320"/>
            <a:ext cx="8229600" cy="822960"/>
          </a:xfrm>
          <a:prstGeom prst="rect">
            <a:avLst/>
          </a:prstGeom>
          <a:noFill/>
          <a:ln/>
        </p:spPr>
        <p:txBody>
          <a:bodyPr wrap="square" lIns="0" tIns="0" rIns="0" bIns="0" rtlCol="0" anchor="t"/>
          <a:lstStyle/>
          <a:p>
            <a:pPr indent="0" marL="0">
              <a:buNone/>
            </a:pPr>
            <a:r>
              <a:rPr lang="en-US" sz="1300" b="1" dirty="0">
                <a:solidFill>
                  <a:schemeClr val="tx1"/>
                </a:solidFill>
              </a:rPr>
              <a:t>What we would need: </a:t>
            </a:r>
            <a:pPr indent="0" marL="0">
              <a:buNone/>
            </a:pPr>
            <a:r>
              <a:rPr lang="en-US" sz="1300" dirty="0">
                <a:solidFill>
                  <a:schemeClr val="tx1"/>
                </a:solidFill>
              </a:rPr>
              <a:t>the bid log, job-cost close-outs and a list of general contractors. Most shops already have all three, in three different places. No licences: Python and a free database, one afternoon a quarter to re-fit.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6A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7863840" cy="1371600"/>
          </a:xfrm>
          <a:prstGeom prst="rect">
            <a:avLst/>
          </a:prstGeom>
          <a:noFill/>
          <a:ln/>
        </p:spPr>
        <p:txBody>
          <a:bodyPr wrap="square" lIns="0" tIns="0" rIns="0" bIns="0" rtlCol="0" anchor="b"/>
          <a:lstStyle/>
          <a:p>
            <a:pPr indent="0" marL="0">
              <a:buNone/>
            </a:pPr>
            <a:r>
              <a:rPr lang="en-US" sz="4000" b="1" dirty="0">
                <a:solidFill>
                  <a:schemeClr val="bg1"/>
                </a:solidFill>
              </a:rPr>
              <a:t>Every bid teaches us something. This puts the lesson in a table and on the Monday agenda.</a:t>
            </a:r>
            <a:endParaRPr lang="en-US" sz="4000" dirty="0"/>
          </a:p>
        </p:txBody>
      </p:sp>
      <p:sp>
        <p:nvSpPr>
          <p:cNvPr id="3" name="Text 0"/>
          <p:cNvSpPr/>
          <p:nvPr>
            <p:ph idx="101" type="body" hasCustomPrompt="1"/>
          </p:nvPr>
        </p:nvSpPr>
        <p:spPr>
          <a:xfrm>
            <a:off x="640080" y="2926080"/>
            <a:ext cx="7863840" cy="1097280"/>
          </a:xfrm>
          <a:prstGeom prst="rect">
            <a:avLst/>
          </a:prstGeom>
          <a:noFill/>
          <a:ln/>
        </p:spPr>
        <p:txBody>
          <a:bodyPr wrap="square" lIns="0" tIns="0" rIns="0" bIns="0" rtlCol="0" anchor="t"/>
          <a:lstStyle/>
          <a:p>
            <a:pPr indent="0" marL="0">
              <a:buNone/>
            </a:pPr>
            <a:r>
              <a:rPr lang="en-US" sz="1800" dirty="0">
                <a:solidFill>
                  <a:schemeClr val="accent6"/>
                </a:solidFill>
              </a:rPr>
              <a:t>Report, PDF, data and code are in the repository. All data is synthetic; the method runs unchanged on real history.</a:t>
            </a:r>
            <a:endParaRPr lang="en-US" sz="1800" dirty="0"/>
          </a:p>
        </p:txBody>
      </p:sp>
      <p:sp>
        <p:nvSpPr>
          <p:cNvPr id="4" name="thanks"/>
          <p:cNvSpPr txBox="1"/>
          <p:nvPr/>
        </p:nvSpPr>
        <p:spPr>
          <a:xfrm>
            <a:off x="640080" y="4297680"/>
            <a:ext cx="7863840" cy="365760"/>
          </a:xfrm>
          <a:prstGeom prst="rect">
            <a:avLst/>
          </a:prstGeom>
          <a:noFill/>
          <a:ln/>
        </p:spPr>
        <p:txBody>
          <a:bodyPr wrap="square" lIns="0" tIns="0" rIns="0" bIns="0" rtlCol="0" anchor="ctr"/>
          <a:lstStyle/>
          <a:p>
            <a:pPr indent="0" marL="0">
              <a:buNone/>
            </a:pPr>
            <a:r>
              <a:rPr lang="en-US" sz="1200" dirty="0">
                <a:solidFill>
                  <a:schemeClr val="accent5"/>
                </a:solidFill>
              </a:rPr>
              <a:t>Thank you</a:t>
            </a:r>
            <a:endParaRPr lang="en-US" sz="1200" dirty="0"/>
          </a:p>
        </p:txBody>
      </p:sp>
    </p:spTree>
  </p:cSld>
  <p:clrMapOvr>
    <a:masterClrMapping/>
  </p:clrMapOvr>
</p:sld>
</file>

<file path=ppt/theme/theme1.xml><?xml version="1.0" encoding="utf-8"?>
<a:theme xmlns:a="http://schemas.openxmlformats.org/drawingml/2006/main" name="Weibee Steel">
  <a:themeElements>
    <a:clrScheme name="Weibee Steel">
      <a:dk1>
        <a:srgbClr val="1F2A33"/>
      </a:dk1>
      <a:lt1>
        <a:srgbClr val="FFFFFF"/>
      </a:lt1>
      <a:dk2>
        <a:srgbClr val="4A5660"/>
      </a:dk2>
      <a:lt2>
        <a:srgbClr val="EEF1F3"/>
      </a:lt2>
      <a:accent1>
        <a:srgbClr val="EB6834"/>
      </a:accent1>
      <a:accent2>
        <a:srgbClr val="2A78D6"/>
      </a:accent2>
      <a:accent3>
        <a:srgbClr val="1BAF7A"/>
      </a:accent3>
      <a:accent4>
        <a:srgbClr val="EDA100"/>
      </a:accent4>
      <a:accent5>
        <a:srgbClr val="8A96A0"/>
      </a:accent5>
      <a:accent6>
        <a:srgbClr val="D5DBDF"/>
      </a:accent6>
      <a:hlink>
        <a:srgbClr val="2A78D6"/>
      </a:hlink>
      <a:folHlink>
        <a:srgbClr val="4A5660"/>
      </a:folHlink>
    </a:clrScheme>
    <a:fontScheme name="Weibee St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Weibee Steel bid intelligence</dc:title>
  <dc:subject>PptxGenJS Presentation</dc:subject>
  <dc:creator>Deepak Reddy</dc:creator>
  <cp:lastModifiedBy>Deepak Reddy</cp:lastModifiedBy>
  <cp:revision>1</cp:revision>
  <dcterms:created xsi:type="dcterms:W3CDTF">2026-10-11T00:32:04Z</dcterms:created>
  <dcterms:modified xsi:type="dcterms:W3CDTF">2026-10-11T00:32:04Z</dcterms:modified>
</cp:coreProperties>
</file>