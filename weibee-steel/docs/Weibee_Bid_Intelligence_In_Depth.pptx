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4.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5.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dc8a784-d4f2-ec31-fc75-bc70135e6995}">
          <p14:sldIdLst>
            <p14:sldId id="256"/>
            <p14:sldId id="257"/>
          </p14:sldIdLst>
        </p14:section>
        <p14:section name="1. Problem and approach" id="{f28745ba-3998-1fba-5f98-de23ec5c8d9e}">
          <p14:sldIdLst>
            <p14:sldId id="258"/>
            <p14:sldId id="259"/>
            <p14:sldId id="260"/>
            <p14:sldId id="261"/>
          </p14:sldIdLst>
        </p14:section>
        <p14:section name="2. What the data says" id="{7273c07e-2330-f384-14af-f6549d2bd392}">
          <p14:sldIdLst>
            <p14:sldId id="262"/>
            <p14:sldId id="263"/>
            <p14:sldId id="264"/>
            <p14:sldId id="265"/>
            <p14:sldId id="266"/>
            <p14:sldId id="267"/>
            <p14:sldId id="268"/>
            <p14:sldId id="269"/>
            <p14:sldId id="270"/>
            <p14:sldId id="271"/>
            <p14:sldId id="272"/>
          </p14:sldIdLst>
        </p14:section>
        <p14:section name="3. The decision tool" id="{527bd309-8768-784d-2532-d88858568e06}">
          <p14:sldIdLst>
            <p14:sldId id="273"/>
            <p14:sldId id="274"/>
            <p14:sldId id="275"/>
            <p14:sldId id="276"/>
            <p14:sldId id="277"/>
            <p14:sldId id="278"/>
          </p14:sldIdLst>
        </p14:section>
        <p14:section name="4. Trust" id="{57854430-87b5-3ca1-85e7-03b2417e3caf}">
          <p14:sldIdLst>
            <p14:sldId id="279"/>
            <p14:sldId id="280"/>
            <p14:sldId id="281"/>
          </p14:sldIdLst>
        </p14:section>
        <p14:section name="5. Making it real" id="{9f5062ed-2659-2e0a-302d-a9da2c187a94}">
          <p14:sldIdLst>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Hit rate by count</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900" u="none">
                    <a:solidFill>
                      <a:srgbClr val="4A5660"/>
                    </a:solidFill>
                    <a:latin typeface="+mn-lt"/>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Sheet1!$A$2:$A$20</c:f>
              <c:multiLvlStrCache>
                <c:ptCount val="19"/>
                <c:lvl>
                  <c:pt idx="0">
                    <c:v>2022 Q1</c:v>
                  </c:pt>
                  <c:pt idx="1">
                    <c:v>2022 Q2</c:v>
                  </c:pt>
                  <c:pt idx="2">
                    <c:v>2022 Q3</c:v>
                  </c:pt>
                  <c:pt idx="3">
                    <c:v>2022 Q4</c:v>
                  </c:pt>
                  <c:pt idx="4">
                    <c:v>2023 Q1</c:v>
                  </c:pt>
                  <c:pt idx="5">
                    <c:v>2023 Q2</c:v>
                  </c:pt>
                  <c:pt idx="6">
                    <c:v>2023 Q3</c:v>
                  </c:pt>
                  <c:pt idx="7">
                    <c:v>2023 Q4</c:v>
                  </c:pt>
                  <c:pt idx="8">
                    <c:v>2024 Q1</c:v>
                  </c:pt>
                  <c:pt idx="9">
                    <c:v>2024 Q2</c:v>
                  </c:pt>
                  <c:pt idx="10">
                    <c:v>2024 Q3</c:v>
                  </c:pt>
                  <c:pt idx="11">
                    <c:v>2024 Q4</c:v>
                  </c:pt>
                  <c:pt idx="12">
                    <c:v>2025 Q1</c:v>
                  </c:pt>
                  <c:pt idx="13">
                    <c:v>2025 Q2</c:v>
                  </c:pt>
                  <c:pt idx="14">
                    <c:v>2025 Q3</c:v>
                  </c:pt>
                  <c:pt idx="15">
                    <c:v>2025 Q4</c:v>
                  </c:pt>
                  <c:pt idx="16">
                    <c:v>2026 Q1</c:v>
                  </c:pt>
                  <c:pt idx="17">
                    <c:v>2026 Q2</c:v>
                  </c:pt>
                  <c:pt idx="18">
                    <c:v>2026 Q3</c:v>
                  </c:pt>
                </c:lvl>
              </c:multiLvlStrCache>
            </c:multiLvlStrRef>
          </c:cat>
          <c:val>
            <c:numRef>
              <c:f>Sheet1!$B$2:$B$20</c:f>
              <c:numCache>
                <c:formatCode>General</c:formatCode>
                <c:ptCount val="19"/>
                <c:pt idx="0">
                  <c:v>23.8</c:v>
                </c:pt>
                <c:pt idx="1">
                  <c:v>40.9</c:v>
                </c:pt>
                <c:pt idx="2">
                  <c:v>36.4</c:v>
                </c:pt>
                <c:pt idx="3">
                  <c:v>11.8</c:v>
                </c:pt>
                <c:pt idx="4">
                  <c:v>36.8</c:v>
                </c:pt>
                <c:pt idx="5">
                  <c:v>44.4</c:v>
                </c:pt>
                <c:pt idx="6">
                  <c:v>0</c:v>
                </c:pt>
                <c:pt idx="7">
                  <c:v>18.2</c:v>
                </c:pt>
                <c:pt idx="8">
                  <c:v>15</c:v>
                </c:pt>
                <c:pt idx="9">
                  <c:v>26.7</c:v>
                </c:pt>
                <c:pt idx="10">
                  <c:v>27.3</c:v>
                </c:pt>
                <c:pt idx="11">
                  <c:v>22.2</c:v>
                </c:pt>
                <c:pt idx="12">
                  <c:v>33.3</c:v>
                </c:pt>
                <c:pt idx="13">
                  <c:v>33.3</c:v>
                </c:pt>
                <c:pt idx="14">
                  <c:v>45</c:v>
                </c:pt>
                <c:pt idx="15">
                  <c:v>13.6</c:v>
                </c:pt>
                <c:pt idx="16">
                  <c:v>28.6</c:v>
                </c:pt>
                <c:pt idx="17">
                  <c:v>24</c:v>
                </c:pt>
                <c:pt idx="18">
                  <c:v>41.7</c:v>
                </c:pt>
              </c:numCache>
            </c:numRef>
          </c:val>
          <c:smooth val="0"/>
        </c:ser>
        <c:ser>
          <c:idx val="1"/>
          <c:order val="1"/>
          <c:tx>
            <c:strRef>
              <c:f>Sheet1!$C$1</c:f>
              <c:strCache>
                <c:ptCount val="1"/>
                <c:pt idx="0">
                  <c:v>Hit rate by value</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900" u="none">
                    <a:solidFill>
                      <a:srgbClr val="4A5660"/>
                    </a:solidFill>
                    <a:latin typeface="+mn-lt"/>
                  </a:defRPr>
                </a:pPr>
              </a:p>
            </c:txPr>
            <c:showLegendKey val="0"/>
            <c:showVal val="0"/>
            <c:showCatName val="0"/>
            <c:showSerName val="0"/>
            <c:showPercent val="0"/>
            <c:showBubbleSize val="0"/>
            <c:showLeaderLines val="0"/>
          </c:dLbls>
          <c:marker>
            <c:symbol val="circle"/>
            <c:size val="6"/>
            <c:spPr>
              <a:solidFill>
                <a:srgbClr val="EB6834"/>
              </a:solidFill>
              <a:ln w="9525" cap="flat">
                <a:solidFill>
                  <a:srgbClr val="EB6834"/>
                </a:solidFill>
                <a:prstDash val="solid"/>
                <a:round/>
              </a:ln>
              <a:effectLst/>
            </c:spPr>
          </c:marker>
          <c:cat>
            <c:multiLvlStrRef>
              <c:f>Sheet1!$A$2:$A$20</c:f>
              <c:multiLvlStrCache>
                <c:ptCount val="19"/>
                <c:lvl>
                  <c:pt idx="0">
                    <c:v>2022 Q1</c:v>
                  </c:pt>
                  <c:pt idx="1">
                    <c:v>2022 Q2</c:v>
                  </c:pt>
                  <c:pt idx="2">
                    <c:v>2022 Q3</c:v>
                  </c:pt>
                  <c:pt idx="3">
                    <c:v>2022 Q4</c:v>
                  </c:pt>
                  <c:pt idx="4">
                    <c:v>2023 Q1</c:v>
                  </c:pt>
                  <c:pt idx="5">
                    <c:v>2023 Q2</c:v>
                  </c:pt>
                  <c:pt idx="6">
                    <c:v>2023 Q3</c:v>
                  </c:pt>
                  <c:pt idx="7">
                    <c:v>2023 Q4</c:v>
                  </c:pt>
                  <c:pt idx="8">
                    <c:v>2024 Q1</c:v>
                  </c:pt>
                  <c:pt idx="9">
                    <c:v>2024 Q2</c:v>
                  </c:pt>
                  <c:pt idx="10">
                    <c:v>2024 Q3</c:v>
                  </c:pt>
                  <c:pt idx="11">
                    <c:v>2024 Q4</c:v>
                  </c:pt>
                  <c:pt idx="12">
                    <c:v>2025 Q1</c:v>
                  </c:pt>
                  <c:pt idx="13">
                    <c:v>2025 Q2</c:v>
                  </c:pt>
                  <c:pt idx="14">
                    <c:v>2025 Q3</c:v>
                  </c:pt>
                  <c:pt idx="15">
                    <c:v>2025 Q4</c:v>
                  </c:pt>
                  <c:pt idx="16">
                    <c:v>2026 Q1</c:v>
                  </c:pt>
                  <c:pt idx="17">
                    <c:v>2026 Q2</c:v>
                  </c:pt>
                  <c:pt idx="18">
                    <c:v>2026 Q3</c:v>
                  </c:pt>
                </c:lvl>
              </c:multiLvlStrCache>
            </c:multiLvlStrRef>
          </c:cat>
          <c:val>
            <c:numRef>
              <c:f>Sheet1!$C$2:$C$20</c:f>
              <c:numCache>
                <c:formatCode>General</c:formatCode>
                <c:ptCount val="19"/>
                <c:pt idx="0">
                  <c:v>31.5</c:v>
                </c:pt>
                <c:pt idx="1">
                  <c:v>44.5</c:v>
                </c:pt>
                <c:pt idx="2">
                  <c:v>35.2</c:v>
                </c:pt>
                <c:pt idx="3">
                  <c:v>12.3</c:v>
                </c:pt>
                <c:pt idx="4">
                  <c:v>39.9</c:v>
                </c:pt>
                <c:pt idx="5">
                  <c:v>35.6</c:v>
                </c:pt>
                <c:pt idx="6">
                  <c:v/>
                </c:pt>
                <c:pt idx="7">
                  <c:v>13.9</c:v>
                </c:pt>
                <c:pt idx="8">
                  <c:v>15.8</c:v>
                </c:pt>
                <c:pt idx="9">
                  <c:v>14.4</c:v>
                </c:pt>
                <c:pt idx="10">
                  <c:v>20.1</c:v>
                </c:pt>
                <c:pt idx="11">
                  <c:v>19.3</c:v>
                </c:pt>
                <c:pt idx="12">
                  <c:v>20.9</c:v>
                </c:pt>
                <c:pt idx="13">
                  <c:v>25.6</c:v>
                </c:pt>
                <c:pt idx="14">
                  <c:v>40.8</c:v>
                </c:pt>
                <c:pt idx="15">
                  <c:v>7.8</c:v>
                </c:pt>
                <c:pt idx="16">
                  <c:v>29.2</c:v>
                </c:pt>
                <c:pt idx="17">
                  <c:v>11.4</c:v>
                </c:pt>
                <c:pt idx="18">
                  <c:v>43.9</c:v>
                </c:pt>
              </c:numCache>
            </c:numRef>
          </c:val>
          <c:smooth val="0"/>
        </c:ser>
        <c:dLbls>
          <c:numFmt formatCode="#,##0" sourceLinked="0"/>
          <c:txPr>
            <a:bodyPr/>
            <a:lstStyle/>
            <a:p>
              <a:pPr>
                <a:defRPr b="0" i="0" strike="noStrike" sz="900" u="none">
                  <a:solidFill>
                    <a:srgbClr val="4A566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5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5DBDF"/>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950">
              <a:solidFill>
                <a:srgbClr val="4A5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660"/>
                </a:solidFill>
                <a:latin typeface="+mn-lt"/>
              </a:defRPr>
            </a:pPr>
            <a:r>
              <a:rPr sz="1000" b="0" i="0" u="none" strike="noStrike">
                <a:solidFill>
                  <a:srgbClr val="4A5660"/>
                </a:solidFill>
                <a:latin typeface="+mn-lt"/>
              </a:rPr>
              <a:t>Hit rate (decided bids)</a:t>
            </a:r>
          </a:p>
        </c:rich>
      </c:tx>
      <c:layout/>
      <c:overlay val="0"/>
    </c:title>
    <c:autoTitleDeleted val="0"/>
    <c:plotArea>
      <c:layout/>
      <c:barChart>
        <c:barDir val="bar"/>
        <c:grouping val="clustered"/>
        <c:varyColors val="0"/>
        <c:ser>
          <c:idx val="0"/>
          <c:order val="0"/>
          <c:tx>
            <c:strRef>
              <c:f>Sheet1!$B$1</c:f>
              <c:strCache>
                <c:ptCount val="1"/>
                <c:pt idx="0">
                  <c:v>Hit rate</c:v>
                </c:pt>
              </c:strCache>
            </c:strRef>
          </c:tx>
          <c:spPr>
            <a:solidFill>
              <a:srgbClr val="2A78D6"/>
            </a:solidFill>
            <a:effectLst/>
          </c:spPr>
          <c:invertIfNegative val="0"/>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cat>
            <c:multiLvlStrRef>
              <c:f>Sheet1!$A$2:$A$13</c:f>
              <c:multiLvlStrCache>
                <c:ptCount val="12"/>
                <c:lvl>
                  <c:pt idx="0">
                    <c:v>Multifamily podium</c:v>
                  </c:pt>
                  <c:pt idx="1">
                    <c:v>Hospitality</c:v>
                  </c:pt>
                  <c:pt idx="2">
                    <c:v>Sports / rec</c:v>
                  </c:pt>
                  <c:pt idx="3">
                    <c:v>Office</c:v>
                  </c:pt>
                  <c:pt idx="4">
                    <c:v>Healthcare</c:v>
                  </c:pt>
                  <c:pt idx="5">
                    <c:v>Higher ed</c:v>
                  </c:pt>
                  <c:pt idx="6">
                    <c:v>Municipal</c:v>
                  </c:pt>
                  <c:pt idx="7">
                    <c:v>Warehouse</c:v>
                  </c:pt>
                  <c:pt idx="8">
                    <c:v>Industrial</c:v>
                  </c:pt>
                  <c:pt idx="9">
                    <c:v>Retail</c:v>
                  </c:pt>
                  <c:pt idx="10">
                    <c:v>Church</c:v>
                  </c:pt>
                  <c:pt idx="11">
                    <c:v>K-12 school</c:v>
                  </c:pt>
                </c:lvl>
              </c:multiLvlStrCache>
            </c:multiLvlStrRef>
          </c:cat>
          <c:val>
            <c:numRef>
              <c:f>Sheet1!$B$2:$B$13</c:f>
              <c:numCache>
                <c:formatCode>General</c:formatCode>
                <c:ptCount val="12"/>
                <c:pt idx="0">
                  <c:v>11.5</c:v>
                </c:pt>
                <c:pt idx="1">
                  <c:v>13.8</c:v>
                </c:pt>
                <c:pt idx="2">
                  <c:v>15.2</c:v>
                </c:pt>
                <c:pt idx="3">
                  <c:v>16</c:v>
                </c:pt>
                <c:pt idx="4">
                  <c:v>18.5</c:v>
                </c:pt>
                <c:pt idx="5">
                  <c:v>20</c:v>
                </c:pt>
                <c:pt idx="6">
                  <c:v>33.3</c:v>
                </c:pt>
                <c:pt idx="7">
                  <c:v>33.3</c:v>
                </c:pt>
                <c:pt idx="8">
                  <c:v>35.3</c:v>
                </c:pt>
                <c:pt idx="9">
                  <c:v>36.8</c:v>
                </c:pt>
                <c:pt idx="10">
                  <c:v>40</c:v>
                </c:pt>
                <c:pt idx="11">
                  <c:v>40.9</c:v>
                </c:pt>
              </c:numCache>
            </c:numRef>
          </c:val>
        </c:ser>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5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660"/>
                </a:solidFill>
                <a:latin typeface="+mn-lt"/>
              </a:defRPr>
            </a:pPr>
            <a:r>
              <a:rPr sz="1000" b="0" i="0" u="none" strike="noStrike">
                <a:solidFill>
                  <a:srgbClr val="4A5660"/>
                </a:solidFill>
                <a:latin typeface="+mn-lt"/>
              </a:rPr>
              <a:t>Dollars won per estimating hour</a:t>
            </a:r>
          </a:p>
        </c:rich>
      </c:tx>
      <c:layout/>
      <c:overlay val="0"/>
    </c:title>
    <c:autoTitleDeleted val="0"/>
    <c:plotArea>
      <c:layout/>
      <c:barChart>
        <c:barDir val="bar"/>
        <c:grouping val="clustered"/>
        <c:varyColors val="0"/>
        <c:ser>
          <c:idx val="0"/>
          <c:order val="0"/>
          <c:tx>
            <c:strRef>
              <c:f>Sheet1!$B$1</c:f>
              <c:strCache>
                <c:ptCount val="1"/>
                <c:pt idx="0">
                  <c:v>$k won per estimating hour</c:v>
                </c:pt>
              </c:strCache>
            </c:strRef>
          </c:tx>
          <c:spPr>
            <a:solidFill>
              <a:srgbClr val="1BAF7A"/>
            </a:solidFill>
            <a:effectLst/>
          </c:spPr>
          <c:invertIfNegative val="0"/>
          <c:dLbls>
            <c:numFmt formatCode="&quot;$&quot;0.0&quot;k&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cat>
            <c:multiLvlStrRef>
              <c:f>Sheet1!$A$2:$A$13</c:f>
              <c:multiLvlStrCache>
                <c:ptCount val="12"/>
                <c:lvl>
                  <c:pt idx="0">
                    <c:v>Sports / rec</c:v>
                  </c:pt>
                  <c:pt idx="1">
                    <c:v>Office</c:v>
                  </c:pt>
                  <c:pt idx="2">
                    <c:v>Retail</c:v>
                  </c:pt>
                  <c:pt idx="3">
                    <c:v>Multifamily podium</c:v>
                  </c:pt>
                  <c:pt idx="4">
                    <c:v>Hospitality</c:v>
                  </c:pt>
                  <c:pt idx="5">
                    <c:v>Healthcare</c:v>
                  </c:pt>
                  <c:pt idx="6">
                    <c:v>Higher ed</c:v>
                  </c:pt>
                  <c:pt idx="7">
                    <c:v>Church</c:v>
                  </c:pt>
                  <c:pt idx="8">
                    <c:v>Industrial</c:v>
                  </c:pt>
                  <c:pt idx="9">
                    <c:v>Municipal</c:v>
                  </c:pt>
                  <c:pt idx="10">
                    <c:v>Warehouse</c:v>
                  </c:pt>
                  <c:pt idx="11">
                    <c:v>K-12 school</c:v>
                  </c:pt>
                </c:lvl>
              </c:multiLvlStrCache>
            </c:multiLvlStrRef>
          </c:cat>
          <c:val>
            <c:numRef>
              <c:f>Sheet1!$B$2:$B$13</c:f>
              <c:numCache>
                <c:formatCode>General</c:formatCode>
                <c:ptCount val="12"/>
                <c:pt idx="0">
                  <c:v>5.3</c:v>
                </c:pt>
                <c:pt idx="1">
                  <c:v>5.9</c:v>
                </c:pt>
                <c:pt idx="2">
                  <c:v>7.1</c:v>
                </c:pt>
                <c:pt idx="3">
                  <c:v>7.4</c:v>
                </c:pt>
                <c:pt idx="4">
                  <c:v>8</c:v>
                </c:pt>
                <c:pt idx="5">
                  <c:v>9.2</c:v>
                </c:pt>
                <c:pt idx="6">
                  <c:v>10.1</c:v>
                </c:pt>
                <c:pt idx="7">
                  <c:v>11.8</c:v>
                </c:pt>
                <c:pt idx="8">
                  <c:v>13.9</c:v>
                </c:pt>
                <c:pt idx="9">
                  <c:v>14.2</c:v>
                </c:pt>
                <c:pt idx="10">
                  <c:v>14.8</c:v>
                </c:pt>
                <c:pt idx="11">
                  <c:v>17.5</c:v>
                </c:pt>
              </c:numCache>
            </c:numRef>
          </c:val>
        </c:ser>
        <c:dLbls>
          <c:numFmt formatCode="&quot;$&quot;0.0&quot;k&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2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660"/>
                </a:solidFill>
                <a:latin typeface="+mn-lt"/>
              </a:defRPr>
            </a:pPr>
            <a:r>
              <a:rPr sz="1000" b="0" i="0" u="none" strike="noStrike">
                <a:solidFill>
                  <a:srgbClr val="4A5660"/>
                </a:solidFill>
                <a:latin typeface="+mn-lt"/>
              </a:rPr>
              <a:t>By tonnage (bids decided)</a:t>
            </a:r>
          </a:p>
        </c:rich>
      </c:tx>
      <c:layout/>
      <c:overlay val="0"/>
    </c:title>
    <c:autoTitleDeleted val="0"/>
    <c:plotArea>
      <c:layout/>
      <c:barChart>
        <c:barDir val="col"/>
        <c:grouping val="clustered"/>
        <c:varyColors val="0"/>
        <c:ser>
          <c:idx val="0"/>
          <c:order val="0"/>
          <c:tx>
            <c:strRef>
              <c:f>Sheet1!$B$1</c:f>
              <c:strCache>
                <c:ptCount val="1"/>
                <c:pt idx="0">
                  <c:v>Hit rate</c:v>
                </c:pt>
              </c:strCache>
            </c:strRef>
          </c:tx>
          <c:spPr>
            <a:solidFill>
              <a:srgbClr val="2A78D6"/>
            </a:solidFill>
            <a:effectLst/>
          </c:spPr>
          <c:invertIfNegative val="0"/>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cat>
            <c:multiLvlStrRef>
              <c:f>Sheet1!$A$2:$A$6</c:f>
              <c:multiLvlStrCache>
                <c:ptCount val="5"/>
                <c:lvl>
                  <c:pt idx="0">
                    <c:v>&lt; 100 t (56)</c:v>
                  </c:pt>
                  <c:pt idx="1">
                    <c:v>100-250 t (152)</c:v>
                  </c:pt>
                  <c:pt idx="2">
                    <c:v>250-500 t (126)</c:v>
                  </c:pt>
                  <c:pt idx="3">
                    <c:v>500-1,000 t (52)</c:v>
                  </c:pt>
                  <c:pt idx="4">
                    <c:v>1,000 t + (4)</c:v>
                  </c:pt>
                </c:lvl>
              </c:multiLvlStrCache>
            </c:multiLvlStrRef>
          </c:cat>
          <c:val>
            <c:numRef>
              <c:f>Sheet1!$B$2:$B$6</c:f>
              <c:numCache>
                <c:formatCode>General</c:formatCode>
                <c:ptCount val="5"/>
                <c:pt idx="0">
                  <c:v>33.9</c:v>
                </c:pt>
                <c:pt idx="1">
                  <c:v>31.6</c:v>
                </c:pt>
                <c:pt idx="2">
                  <c:v>22.2</c:v>
                </c:pt>
                <c:pt idx="3">
                  <c:v>21.2</c:v>
                </c:pt>
                <c:pt idx="4">
                  <c:v>25</c:v>
                </c:pt>
              </c:numCache>
            </c:numRef>
          </c:val>
        </c:ser>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6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660"/>
                </a:solidFill>
                <a:latin typeface="+mn-lt"/>
              </a:defRPr>
            </a:pPr>
            <a:r>
              <a:rPr sz="1000" b="0" i="0" u="none" strike="noStrike">
                <a:solidFill>
                  <a:srgbClr val="4A5660"/>
                </a:solidFill>
                <a:latin typeface="+mn-lt"/>
              </a:rPr>
              <a:t>By distance from the shop</a:t>
            </a:r>
          </a:p>
        </c:rich>
      </c:tx>
      <c:layout/>
      <c:overlay val="0"/>
    </c:title>
    <c:autoTitleDeleted val="0"/>
    <c:plotArea>
      <c:layout/>
      <c:barChart>
        <c:barDir val="col"/>
        <c:grouping val="clustered"/>
        <c:varyColors val="0"/>
        <c:ser>
          <c:idx val="0"/>
          <c:order val="0"/>
          <c:tx>
            <c:strRef>
              <c:f>Sheet1!$B$1</c:f>
              <c:strCache>
                <c:ptCount val="1"/>
                <c:pt idx="0">
                  <c:v>Hit rate</c:v>
                </c:pt>
              </c:strCache>
            </c:strRef>
          </c:tx>
          <c:spPr>
            <a:solidFill>
              <a:srgbClr val="2A78D6"/>
            </a:solidFill>
            <a:effectLst/>
          </c:spPr>
          <c:invertIfNegative val="0"/>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cat>
            <c:multiLvlStrRef>
              <c:f>Sheet1!$A$2:$A$5</c:f>
              <c:multiLvlStrCache>
                <c:ptCount val="4"/>
                <c:lvl>
                  <c:pt idx="0">
                    <c:v>&lt; 60 mi (142)</c:v>
                  </c:pt>
                  <c:pt idx="1">
                    <c:v>60-150 mi (146)</c:v>
                  </c:pt>
                  <c:pt idx="2">
                    <c:v>150-250 mi (79)</c:v>
                  </c:pt>
                  <c:pt idx="3">
                    <c:v>250 mi + (23)</c:v>
                  </c:pt>
                </c:lvl>
              </c:multiLvlStrCache>
            </c:multiLvlStrRef>
          </c:cat>
          <c:val>
            <c:numRef>
              <c:f>Sheet1!$B$2:$B$5</c:f>
              <c:numCache>
                <c:formatCode>General</c:formatCode>
                <c:ptCount val="4"/>
                <c:pt idx="0">
                  <c:v>39.4</c:v>
                </c:pt>
                <c:pt idx="1">
                  <c:v>19.9</c:v>
                </c:pt>
                <c:pt idx="2">
                  <c:v>21.5</c:v>
                </c:pt>
                <c:pt idx="3">
                  <c:v>21.7</c:v>
                </c:pt>
              </c:numCache>
            </c:numRef>
          </c:val>
        </c:ser>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6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660"/>
                </a:solidFill>
                <a:latin typeface="+mn-lt"/>
              </a:defRPr>
            </a:pPr>
            <a:r>
              <a:rPr sz="1000" b="0" i="0" u="none" strike="noStrike">
                <a:solidFill>
                  <a:srgbClr val="4A5660"/>
                </a:solidFill>
                <a:latin typeface="+mn-lt"/>
              </a:rPr>
              <a:t>By delivery method</a:t>
            </a:r>
          </a:p>
        </c:rich>
      </c:tx>
      <c:layout/>
      <c:overlay val="0"/>
    </c:title>
    <c:autoTitleDeleted val="0"/>
    <c:plotArea>
      <c:layout/>
      <c:barChart>
        <c:barDir val="col"/>
        <c:grouping val="clustered"/>
        <c:varyColors val="0"/>
        <c:ser>
          <c:idx val="0"/>
          <c:order val="0"/>
          <c:tx>
            <c:strRef>
              <c:f>Sheet1!$B$1</c:f>
              <c:strCache>
                <c:ptCount val="1"/>
                <c:pt idx="0">
                  <c:v>Hit rate</c:v>
                </c:pt>
              </c:strCache>
            </c:strRef>
          </c:tx>
          <c:spPr>
            <a:solidFill>
              <a:srgbClr val="2A78D6"/>
            </a:solidFill>
            <a:effectLst/>
          </c:spPr>
          <c:invertIfNegative val="0"/>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cat>
            <c:multiLvlStrRef>
              <c:f>Sheet1!$A$2:$A$5</c:f>
              <c:multiLvlStrCache>
                <c:ptCount val="4"/>
                <c:lvl>
                  <c:pt idx="0">
                    <c:v>Negotiated (70)</c:v>
                  </c:pt>
                  <c:pt idx="1">
                    <c:v>Design-build (44)</c:v>
                  </c:pt>
                  <c:pt idx="2">
                    <c:v>CM at risk (103)</c:v>
                  </c:pt>
                  <c:pt idx="3">
                    <c:v>Hard bid (173)</c:v>
                  </c:pt>
                </c:lvl>
              </c:multiLvlStrCache>
            </c:multiLvlStrRef>
          </c:cat>
          <c:val>
            <c:numRef>
              <c:f>Sheet1!$B$2:$B$5</c:f>
              <c:numCache>
                <c:formatCode>General</c:formatCode>
                <c:ptCount val="4"/>
                <c:pt idx="0">
                  <c:v>48.6</c:v>
                </c:pt>
                <c:pt idx="1">
                  <c:v>27.3</c:v>
                </c:pt>
                <c:pt idx="2">
                  <c:v>25.2</c:v>
                </c:pt>
                <c:pt idx="3">
                  <c:v>20.2</c:v>
                </c:pt>
              </c:numCache>
            </c:numRef>
          </c:val>
        </c:ser>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6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660"/>
                </a:solidFill>
                <a:latin typeface="+mn-lt"/>
              </a:defRPr>
            </a:pPr>
            <a:r>
              <a:rPr sz="1000" b="0" i="0" u="none" strike="noStrike">
                <a:solidFill>
                  <a:srgbClr val="4A5660"/>
                </a:solidFill>
                <a:latin typeface="+mn-lt"/>
              </a:rPr>
              <a:t>Gap between our bid and the low bid</a:t>
            </a:r>
          </a:p>
        </c:rich>
      </c:tx>
      <c:layout/>
      <c:overlay val="0"/>
    </c:title>
    <c:autoTitleDeleted val="0"/>
    <c:plotArea>
      <c:layout/>
      <c:barChart>
        <c:barDir val="col"/>
        <c:grouping val="clustered"/>
        <c:varyColors val="0"/>
        <c:ser>
          <c:idx val="0"/>
          <c:order val="0"/>
          <c:tx>
            <c:strRef>
              <c:f>Sheet1!$B$1</c:f>
              <c:strCache>
                <c:ptCount val="1"/>
                <c:pt idx="0">
                  <c:v>Bids lost on price</c:v>
                </c:pt>
              </c:strCache>
            </c:strRef>
          </c:tx>
          <c:spPr>
            <a:solidFill>
              <a:srgbClr val="2A78D6"/>
            </a:solidFill>
            <a:effectLst/>
          </c:spPr>
          <c:invertIfNegative val="0"/>
          <c:dLbls>
            <c:numFmt formatCode="#,##0"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cat>
            <c:multiLvlStrRef>
              <c:f>Sheet1!$A$2:$A$8</c:f>
              <c:multiLvlStrCache>
                <c:ptCount val="7"/>
                <c:lvl>
                  <c:pt idx="0">
                    <c:v>0-2 %</c:v>
                  </c:pt>
                  <c:pt idx="1">
                    <c:v>2-4 %</c:v>
                  </c:pt>
                  <c:pt idx="2">
                    <c:v>4-6 %</c:v>
                  </c:pt>
                  <c:pt idx="3">
                    <c:v>6-8 %</c:v>
                  </c:pt>
                  <c:pt idx="4">
                    <c:v>8-10 %</c:v>
                  </c:pt>
                  <c:pt idx="5">
                    <c:v>10-15 %</c:v>
                  </c:pt>
                  <c:pt idx="6">
                    <c:v>15 % +</c:v>
                  </c:pt>
                </c:lvl>
              </c:multiLvlStrCache>
            </c:multiLvlStrRef>
          </c:cat>
          <c:val>
            <c:numRef>
              <c:f>Sheet1!$B$2:$B$8</c:f>
              <c:numCache>
                <c:formatCode>General</c:formatCode>
                <c:ptCount val="7"/>
                <c:pt idx="0">
                  <c:v>2</c:v>
                </c:pt>
                <c:pt idx="1">
                  <c:v>7</c:v>
                </c:pt>
                <c:pt idx="2">
                  <c:v>10</c:v>
                </c:pt>
                <c:pt idx="3">
                  <c:v>14</c:v>
                </c:pt>
                <c:pt idx="4">
                  <c:v>23</c:v>
                </c:pt>
                <c:pt idx="5">
                  <c:v>39</c:v>
                </c:pt>
                <c:pt idx="6">
                  <c:v>5</c:v>
                </c:pt>
              </c:numCache>
            </c:numRef>
          </c:val>
        </c:ser>
        <c:dLbls>
          <c:numFmt formatCode="#,##0"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A-class</c:v>
                </c:pt>
              </c:strCache>
            </c:strRef>
          </c:tx>
          <c:spPr>
            <a:solidFill>
              <a:srgbClr val="2A78D6"/>
            </a:solidFill>
            <a:ln>
              <a:noFill/>
            </a:ln>
            <a:effectLst/>
          </c:spPr>
          <c:marker>
            <c:symbol val="circle"/>
            <c:size val="9"/>
            <c:spPr>
              <a:solidFill>
                <a:srgbClr val="2A78D6"/>
              </a:solidFill>
              <a:ln w="9525" cap="flat">
                <a:solidFill>
                  <a:srgbClr val="2A78D6"/>
                </a:solidFill>
                <a:prstDash val="solid"/>
                <a:round/>
              </a:ln>
              <a:effectLst/>
            </c:spPr>
          </c:marker>
          <c:xVal>
            <c:numRef>
              <c:f>Sheet1!$A$2:$A$31</c:f>
              <c:numCache>
                <c:formatCode>General</c:formatCode>
                <c:ptCount val="30"/>
                <c:pt idx="0">
                  <c:v>12</c:v>
                </c:pt>
                <c:pt idx="1">
                  <c:v>9.5</c:v>
                </c:pt>
                <c:pt idx="2">
                  <c:v>11.9</c:v>
                </c:pt>
                <c:pt idx="3">
                  <c:v>9.7</c:v>
                </c:pt>
                <c:pt idx="4">
                  <c:v>9.8</c:v>
                </c:pt>
                <c:pt idx="5">
                  <c:v>8.4</c:v>
                </c:pt>
                <c:pt idx="6">
                  <c:v>5.6</c:v>
                </c:pt>
                <c:pt idx="7">
                  <c:v>9.7</c:v>
                </c:pt>
                <c:pt idx="8">
                  <c:v>8.4</c:v>
                </c:pt>
                <c:pt idx="9">
                  <c:v>12.4</c:v>
                </c:pt>
                <c:pt idx="10">
                  <c:v>11.2</c:v>
                </c:pt>
                <c:pt idx="11">
                  <c:v>10.8</c:v>
                </c:pt>
                <c:pt idx="12">
                  <c:v>8.6</c:v>
                </c:pt>
                <c:pt idx="13">
                  <c:v>4.1</c:v>
                </c:pt>
                <c:pt idx="14">
                  <c:v>11.1</c:v>
                </c:pt>
                <c:pt idx="15">
                  <c:v>13.6</c:v>
                </c:pt>
                <c:pt idx="16">
                  <c:v>8.6</c:v>
                </c:pt>
                <c:pt idx="17">
                  <c:v>7.9</c:v>
                </c:pt>
                <c:pt idx="18">
                  <c:v>10.5</c:v>
                </c:pt>
                <c:pt idx="19">
                  <c:v>10</c:v>
                </c:pt>
                <c:pt idx="20">
                  <c:v>6.8</c:v>
                </c:pt>
                <c:pt idx="21">
                  <c:v>9</c:v>
                </c:pt>
                <c:pt idx="22">
                  <c:v>9.6</c:v>
                </c:pt>
                <c:pt idx="23">
                  <c:v>10.7</c:v>
                </c:pt>
                <c:pt idx="24">
                  <c:v>8.9</c:v>
                </c:pt>
                <c:pt idx="25">
                  <c:v>10.2</c:v>
                </c:pt>
                <c:pt idx="26">
                  <c:v>9.1</c:v>
                </c:pt>
                <c:pt idx="27">
                  <c:v>8.7</c:v>
                </c:pt>
                <c:pt idx="28">
                  <c:v>9.5</c:v>
                </c:pt>
                <c:pt idx="29">
                  <c:v>10.9</c:v>
                </c:pt>
              </c:numCache>
            </c:numRef>
          </c:xVal>
          <c:yVal>
            <c:numRef>
              <c:f>Sheet1!$B$2:$B$31</c:f>
              <c:numCache>
                <c:formatCode>General</c:formatCode>
                <c:ptCount val="30"/>
                <c:pt idx="0">
                  <c:v>45</c:v>
                </c:pt>
                <c:pt idx="1">
                  <c:v>41.7</c:v>
                </c:pt>
                <c:pt idx="2">
                  <c:v>52.6</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numCache>
            </c:numRef>
          </c:yVal>
          <c:smooth val="0"/>
        </c:ser>
        <c:ser>
          <c:idx val="1"/>
          <c:order val="1"/>
          <c:tx>
            <c:strRef>
              <c:f>Sheet1!$C$1</c:f>
              <c:strCache>
                <c:ptCount val="1"/>
                <c:pt idx="0">
                  <c:v>B-class</c:v>
                </c:pt>
              </c:strCache>
            </c:strRef>
          </c:tx>
          <c:spPr>
            <a:solidFill>
              <a:srgbClr val="8A96A0"/>
            </a:solidFill>
            <a:ln>
              <a:noFill/>
            </a:ln>
            <a:effectLst/>
          </c:spPr>
          <c:marker>
            <c:symbol val="circle"/>
            <c:size val="9"/>
            <c:spPr>
              <a:solidFill>
                <a:srgbClr val="8A96A0"/>
              </a:solidFill>
              <a:ln w="9525" cap="flat">
                <a:solidFill>
                  <a:srgbClr val="8A96A0"/>
                </a:solidFill>
                <a:prstDash val="solid"/>
                <a:round/>
              </a:ln>
              <a:effectLst/>
            </c:spPr>
          </c:marker>
          <c:xVal>
            <c:numRef>
              <c:f>Sheet1!$A$2:$A$31</c:f>
              <c:numCache>
                <c:formatCode>General</c:formatCode>
                <c:ptCount val="30"/>
                <c:pt idx="0">
                  <c:v>12</c:v>
                </c:pt>
                <c:pt idx="1">
                  <c:v>9.5</c:v>
                </c:pt>
                <c:pt idx="2">
                  <c:v>11.9</c:v>
                </c:pt>
                <c:pt idx="3">
                  <c:v>9.7</c:v>
                </c:pt>
                <c:pt idx="4">
                  <c:v>9.8</c:v>
                </c:pt>
                <c:pt idx="5">
                  <c:v>8.4</c:v>
                </c:pt>
                <c:pt idx="6">
                  <c:v>5.6</c:v>
                </c:pt>
                <c:pt idx="7">
                  <c:v>9.7</c:v>
                </c:pt>
                <c:pt idx="8">
                  <c:v>8.4</c:v>
                </c:pt>
                <c:pt idx="9">
                  <c:v>12.4</c:v>
                </c:pt>
                <c:pt idx="10">
                  <c:v>11.2</c:v>
                </c:pt>
                <c:pt idx="11">
                  <c:v>10.8</c:v>
                </c:pt>
                <c:pt idx="12">
                  <c:v>8.6</c:v>
                </c:pt>
                <c:pt idx="13">
                  <c:v>4.1</c:v>
                </c:pt>
                <c:pt idx="14">
                  <c:v>11.1</c:v>
                </c:pt>
                <c:pt idx="15">
                  <c:v>13.6</c:v>
                </c:pt>
                <c:pt idx="16">
                  <c:v>8.6</c:v>
                </c:pt>
                <c:pt idx="17">
                  <c:v>7.9</c:v>
                </c:pt>
                <c:pt idx="18">
                  <c:v>10.5</c:v>
                </c:pt>
                <c:pt idx="19">
                  <c:v>10</c:v>
                </c:pt>
                <c:pt idx="20">
                  <c:v>6.8</c:v>
                </c:pt>
                <c:pt idx="21">
                  <c:v>9</c:v>
                </c:pt>
                <c:pt idx="22">
                  <c:v>9.6</c:v>
                </c:pt>
                <c:pt idx="23">
                  <c:v>10.7</c:v>
                </c:pt>
                <c:pt idx="24">
                  <c:v>8.9</c:v>
                </c:pt>
                <c:pt idx="25">
                  <c:v>10.2</c:v>
                </c:pt>
                <c:pt idx="26">
                  <c:v>9.1</c:v>
                </c:pt>
                <c:pt idx="27">
                  <c:v>8.7</c:v>
                </c:pt>
                <c:pt idx="28">
                  <c:v>9.5</c:v>
                </c:pt>
                <c:pt idx="29">
                  <c:v>10.9</c:v>
                </c:pt>
              </c:numCache>
            </c:numRef>
          </c:xVal>
          <c:yVal>
            <c:numRef>
              <c:f>Sheet1!$C$2:$C$31</c:f>
              <c:numCache>
                <c:formatCode>General</c:formatCode>
                <c:ptCount val="30"/>
                <c:pt idx="0">
                  <c:v/>
                </c:pt>
                <c:pt idx="1">
                  <c:v/>
                </c:pt>
                <c:pt idx="2">
                  <c:v/>
                </c:pt>
                <c:pt idx="3">
                  <c:v>23.5</c:v>
                </c:pt>
                <c:pt idx="4">
                  <c:v>30.4</c:v>
                </c:pt>
                <c:pt idx="5">
                  <c:v/>
                </c:pt>
                <c:pt idx="6">
                  <c:v>33.3</c:v>
                </c:pt>
                <c:pt idx="7">
                  <c:v>33.3</c:v>
                </c:pt>
                <c:pt idx="8">
                  <c:v>31.6</c:v>
                </c:pt>
                <c:pt idx="9">
                  <c:v>40</c:v>
                </c:pt>
                <c:pt idx="10">
                  <c:v/>
                </c:pt>
                <c:pt idx="11">
                  <c:v>25</c:v>
                </c:pt>
                <c:pt idx="12">
                  <c:v>29.4</c:v>
                </c:pt>
                <c:pt idx="13">
                  <c:v>33.3</c:v>
                </c:pt>
                <c:pt idx="14">
                  <c:v/>
                </c:pt>
                <c:pt idx="15">
                  <c:v>30</c:v>
                </c:pt>
                <c:pt idx="16">
                  <c:v>37.5</c:v>
                </c:pt>
                <c:pt idx="17">
                  <c:v>36.4</c:v>
                </c:pt>
                <c:pt idx="18">
                  <c:v/>
                </c:pt>
                <c:pt idx="19">
                  <c:v>33.3</c:v>
                </c:pt>
                <c:pt idx="20">
                  <c:v/>
                </c:pt>
                <c:pt idx="21">
                  <c:v>25</c:v>
                </c:pt>
                <c:pt idx="22">
                  <c:v/>
                </c:pt>
                <c:pt idx="23">
                  <c:v/>
                </c:pt>
                <c:pt idx="24">
                  <c:v/>
                </c:pt>
                <c:pt idx="25">
                  <c:v/>
                </c:pt>
                <c:pt idx="26">
                  <c:v/>
                </c:pt>
                <c:pt idx="27">
                  <c:v/>
                </c:pt>
                <c:pt idx="28">
                  <c:v/>
                </c:pt>
                <c:pt idx="29">
                  <c:v/>
                </c:pt>
              </c:numCache>
            </c:numRef>
          </c:yVal>
          <c:smooth val="0"/>
        </c:ser>
        <c:ser>
          <c:idx val="2"/>
          <c:order val="2"/>
          <c:tx>
            <c:strRef>
              <c:f>Sheet1!$D$1</c:f>
              <c:strCache>
                <c:ptCount val="1"/>
                <c:pt idx="0">
                  <c:v>C-class</c:v>
                </c:pt>
              </c:strCache>
            </c:strRef>
          </c:tx>
          <c:spPr>
            <a:solidFill>
              <a:srgbClr val="EB6834"/>
            </a:solidFill>
            <a:ln>
              <a:noFill/>
            </a:ln>
            <a:effectLst/>
          </c:spPr>
          <c:marker>
            <c:symbol val="circle"/>
            <c:size val="9"/>
            <c:spPr>
              <a:solidFill>
                <a:srgbClr val="EB6834"/>
              </a:solidFill>
              <a:ln w="9525" cap="flat">
                <a:solidFill>
                  <a:srgbClr val="EB6834"/>
                </a:solidFill>
                <a:prstDash val="solid"/>
                <a:round/>
              </a:ln>
              <a:effectLst/>
            </c:spPr>
          </c:marker>
          <c:xVal>
            <c:numRef>
              <c:f>Sheet1!$A$2:$A$31</c:f>
              <c:numCache>
                <c:formatCode>General</c:formatCode>
                <c:ptCount val="30"/>
                <c:pt idx="0">
                  <c:v>12</c:v>
                </c:pt>
                <c:pt idx="1">
                  <c:v>9.5</c:v>
                </c:pt>
                <c:pt idx="2">
                  <c:v>11.9</c:v>
                </c:pt>
                <c:pt idx="3">
                  <c:v>9.7</c:v>
                </c:pt>
                <c:pt idx="4">
                  <c:v>9.8</c:v>
                </c:pt>
                <c:pt idx="5">
                  <c:v>8.4</c:v>
                </c:pt>
                <c:pt idx="6">
                  <c:v>5.6</c:v>
                </c:pt>
                <c:pt idx="7">
                  <c:v>9.7</c:v>
                </c:pt>
                <c:pt idx="8">
                  <c:v>8.4</c:v>
                </c:pt>
                <c:pt idx="9">
                  <c:v>12.4</c:v>
                </c:pt>
                <c:pt idx="10">
                  <c:v>11.2</c:v>
                </c:pt>
                <c:pt idx="11">
                  <c:v>10.8</c:v>
                </c:pt>
                <c:pt idx="12">
                  <c:v>8.6</c:v>
                </c:pt>
                <c:pt idx="13">
                  <c:v>4.1</c:v>
                </c:pt>
                <c:pt idx="14">
                  <c:v>11.1</c:v>
                </c:pt>
                <c:pt idx="15">
                  <c:v>13.6</c:v>
                </c:pt>
                <c:pt idx="16">
                  <c:v>8.6</c:v>
                </c:pt>
                <c:pt idx="17">
                  <c:v>7.9</c:v>
                </c:pt>
                <c:pt idx="18">
                  <c:v>10.5</c:v>
                </c:pt>
                <c:pt idx="19">
                  <c:v>10</c:v>
                </c:pt>
                <c:pt idx="20">
                  <c:v>6.8</c:v>
                </c:pt>
                <c:pt idx="21">
                  <c:v>9</c:v>
                </c:pt>
                <c:pt idx="22">
                  <c:v>9.6</c:v>
                </c:pt>
                <c:pt idx="23">
                  <c:v>10.7</c:v>
                </c:pt>
                <c:pt idx="24">
                  <c:v>8.9</c:v>
                </c:pt>
                <c:pt idx="25">
                  <c:v>10.2</c:v>
                </c:pt>
                <c:pt idx="26">
                  <c:v>9.1</c:v>
                </c:pt>
                <c:pt idx="27">
                  <c:v>8.7</c:v>
                </c:pt>
                <c:pt idx="28">
                  <c:v>9.5</c:v>
                </c:pt>
                <c:pt idx="29">
                  <c:v>10.9</c:v>
                </c:pt>
              </c:numCache>
            </c:numRef>
          </c:xVal>
          <c:yVal>
            <c:numRef>
              <c:f>Sheet1!$D$2:$D$31</c:f>
              <c:numCache>
                <c:formatCode>General</c:formatCode>
                <c:ptCount val="30"/>
                <c:pt idx="0">
                  <c:v/>
                </c:pt>
                <c:pt idx="1">
                  <c:v/>
                </c:pt>
                <c:pt idx="2">
                  <c:v/>
                </c:pt>
                <c:pt idx="3">
                  <c:v/>
                </c:pt>
                <c:pt idx="4">
                  <c:v/>
                </c:pt>
                <c:pt idx="5">
                  <c:v>17.6</c:v>
                </c:pt>
                <c:pt idx="6">
                  <c:v/>
                </c:pt>
                <c:pt idx="7">
                  <c:v/>
                </c:pt>
                <c:pt idx="8">
                  <c:v/>
                </c:pt>
                <c:pt idx="9">
                  <c:v/>
                </c:pt>
                <c:pt idx="10">
                  <c:v>15.4</c:v>
                </c:pt>
                <c:pt idx="11">
                  <c:v/>
                </c:pt>
                <c:pt idx="12">
                  <c:v/>
                </c:pt>
                <c:pt idx="13">
                  <c:v/>
                </c:pt>
                <c:pt idx="14">
                  <c:v>18.2</c:v>
                </c:pt>
                <c:pt idx="15">
                  <c:v/>
                </c:pt>
                <c:pt idx="16">
                  <c:v/>
                </c:pt>
                <c:pt idx="17">
                  <c:v/>
                </c:pt>
                <c:pt idx="18">
                  <c:v>21.4</c:v>
                </c:pt>
                <c:pt idx="19">
                  <c:v/>
                </c:pt>
                <c:pt idx="20">
                  <c:v>18.2</c:v>
                </c:pt>
                <c:pt idx="21">
                  <c:v/>
                </c:pt>
                <c:pt idx="22">
                  <c:v>10</c:v>
                </c:pt>
                <c:pt idx="23">
                  <c:v>14.3</c:v>
                </c:pt>
                <c:pt idx="24">
                  <c:v>6.2</c:v>
                </c:pt>
                <c:pt idx="25">
                  <c:v>20</c:v>
                </c:pt>
                <c:pt idx="26">
                  <c:v>0</c:v>
                </c:pt>
                <c:pt idx="27">
                  <c:v>0</c:v>
                </c:pt>
                <c:pt idx="28">
                  <c:v>0</c:v>
                </c:pt>
                <c:pt idx="29">
                  <c:v>0</c:v>
                </c:pt>
              </c:numCache>
            </c:numRef>
          </c:yVal>
          <c:smooth val="0"/>
        </c:ser>
        <c:dLbls>
          <c:numFmt formatCode="General" sourceLinked="0"/>
          <c:txPr>
            <a:bodyPr/>
            <a:lstStyle/>
            <a:p>
              <a:pPr>
                <a:defRPr b="0" i="0" strike="noStrike" sz="900" u="none">
                  <a:solidFill>
                    <a:srgbClr val="4A566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900" b="0" i="0" u="none" strike="noStrike">
                    <a:solidFill>
                      <a:srgbClr val="4A5660"/>
                    </a:solidFill>
                    <a:latin typeface="+mn-lt"/>
                  </a:defRPr>
                </a:pPr>
                <a:r>
                  <a:rPr sz="900" b="0" i="0" u="none" strike="noStrike">
                    <a:solidFill>
                      <a:srgbClr val="4A5660"/>
                    </a:solidFill>
                    <a:latin typeface="+mn-lt"/>
                  </a:rPr>
                  <a:t>median price gap when we lose on price (%)</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50" b="0" i="0" u="none" strike="noStrike">
                <a:solidFill>
                  <a:srgbClr val="4A5660"/>
                </a:solidFill>
                <a:latin typeface="+mn-lt"/>
              </a:defRPr>
            </a:pPr>
            <a:endParaRPr lang="en-US"/>
          </a:p>
        </c:txPr>
        <c:crossAx val="2094734552"/>
        <c:crosses val="autoZero"/>
        <c:auto val="1"/>
        <c:lblAlgn val="ctr"/>
        <c:noMultiLvlLbl val="1"/>
      </c:valAx>
      <c:valAx>
        <c:axId val="2094734552"/>
        <c:scaling>
          <c:orientation val="minMax"/>
          <c:max val="70"/>
          <c:min val="0"/>
        </c:scaling>
        <c:delete val="0"/>
        <c:axPos val="l"/>
        <c:majorGridlines>
          <c:spPr>
            <a:ln w="6350" cap="flat">
              <a:solidFill>
                <a:srgbClr val="D5DBDF"/>
              </a:solidFill>
              <a:prstDash val="solid"/>
              <a:round/>
            </a:ln>
          </c:spPr>
        </c:majorGridlines>
        <c:title>
          <c:tx>
            <c:rich>
              <a:bodyPr/>
              <a:lstStyle/>
              <a:p>
                <a:pPr>
                  <a:defRPr sz="900" b="0" i="0" u="none" strike="noStrike">
                    <a:solidFill>
                      <a:srgbClr val="4A5660"/>
                    </a:solidFill>
                    <a:latin typeface="+mn-lt"/>
                  </a:defRPr>
                </a:pPr>
                <a:r>
                  <a:rPr sz="900" b="0" i="0" u="none" strike="noStrike">
                    <a:solidFill>
                      <a:srgbClr val="4A5660"/>
                    </a:solidFill>
                    <a:latin typeface="+mn-lt"/>
                  </a:rPr>
                  <a:t>hit rate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midCat"/>
      </c:valAx>
      <c:spPr>
        <a:noFill/>
        <a:ln>
          <a:noFill/>
        </a:ln>
        <a:effectLst/>
      </c:spPr>
    </c:plotArea>
    <c:legend>
      <c:legendPos val="t"/>
      <c:overlay val="0"/>
      <c:txPr>
        <a:bodyPr/>
        <a:lstStyle/>
        <a:p>
          <a:pPr>
            <a:defRPr sz="950">
              <a:solidFill>
                <a:srgbClr val="4A566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Estimated gross margin</c:v>
                </c:pt>
              </c:strCache>
            </c:strRef>
          </c:tx>
          <c:spPr>
            <a:solidFill>
              <a:srgbClr val="2A78D6"/>
            </a:solidFill>
            <a:effectLst/>
          </c:spPr>
          <c:invertIfNegative val="0"/>
          <c:dLbls>
            <c:numFmt formatCode="0&quot;%&quot;" sourceLinked="0"/>
            <c:txPr>
              <a:bodyPr/>
              <a:lstStyle/>
              <a:p>
                <a:pPr>
                  <a:defRPr b="0" i="0" strike="noStrike" sz="800" u="none">
                    <a:solidFill>
                      <a:srgbClr val="4A5660"/>
                    </a:solidFill>
                    <a:latin typeface="+mn-lt"/>
                  </a:defRPr>
                </a:pPr>
              </a:p>
            </c:txPr>
            <c:showLegendKey val="0"/>
            <c:showVal val="1"/>
            <c:showCatName val="0"/>
            <c:showSerName val="0"/>
            <c:showPercent val="0"/>
            <c:showBubbleSize val="0"/>
            <c:showLeaderLines val="0"/>
          </c:dLbls>
          <c:cat>
            <c:multiLvlStrRef>
              <c:f>Sheet1!$A$2:$A$13</c:f>
              <c:multiLvlStrCache>
                <c:ptCount val="12"/>
                <c:lvl>
                  <c:pt idx="0">
                    <c:v>Multifamily podium</c:v>
                  </c:pt>
                  <c:pt idx="1">
                    <c:v>Sports / rec</c:v>
                  </c:pt>
                  <c:pt idx="2">
                    <c:v>Higher ed</c:v>
                  </c:pt>
                  <c:pt idx="3">
                    <c:v>Hospitality</c:v>
                  </c:pt>
                  <c:pt idx="4">
                    <c:v>Healthcare</c:v>
                  </c:pt>
                  <c:pt idx="5">
                    <c:v>Office</c:v>
                  </c:pt>
                  <c:pt idx="6">
                    <c:v>Municipal</c:v>
                  </c:pt>
                  <c:pt idx="7">
                    <c:v>Industrial</c:v>
                  </c:pt>
                  <c:pt idx="8">
                    <c:v>Church</c:v>
                  </c:pt>
                  <c:pt idx="9">
                    <c:v>K-12 school</c:v>
                  </c:pt>
                  <c:pt idx="10">
                    <c:v>Retail</c:v>
                  </c:pt>
                  <c:pt idx="11">
                    <c:v>Warehouse</c:v>
                  </c:pt>
                </c:lvl>
              </c:multiLvlStrCache>
            </c:multiLvlStrRef>
          </c:cat>
          <c:val>
            <c:numRef>
              <c:f>Sheet1!$B$2:$B$13</c:f>
              <c:numCache>
                <c:formatCode>General</c:formatCode>
                <c:ptCount val="12"/>
                <c:pt idx="0">
                  <c:v>20.8</c:v>
                </c:pt>
                <c:pt idx="1">
                  <c:v>21.3</c:v>
                </c:pt>
                <c:pt idx="2">
                  <c:v>23.3</c:v>
                </c:pt>
                <c:pt idx="3">
                  <c:v>24.3</c:v>
                </c:pt>
                <c:pt idx="4">
                  <c:v>21.4</c:v>
                </c:pt>
                <c:pt idx="5">
                  <c:v>24.3</c:v>
                </c:pt>
                <c:pt idx="6">
                  <c:v>22.7</c:v>
                </c:pt>
                <c:pt idx="7">
                  <c:v>24.2</c:v>
                </c:pt>
                <c:pt idx="8">
                  <c:v>24.2</c:v>
                </c:pt>
                <c:pt idx="9">
                  <c:v>22.4</c:v>
                </c:pt>
                <c:pt idx="10">
                  <c:v>21.9</c:v>
                </c:pt>
                <c:pt idx="11">
                  <c:v>23.7</c:v>
                </c:pt>
              </c:numCache>
            </c:numRef>
          </c:val>
        </c:ser>
        <c:ser>
          <c:idx val="1"/>
          <c:order val="1"/>
          <c:tx>
            <c:strRef>
              <c:f>Sheet1!$C$1</c:f>
              <c:strCache>
                <c:ptCount val="1"/>
                <c:pt idx="0">
                  <c:v>Actually earned</c:v>
                </c:pt>
              </c:strCache>
            </c:strRef>
          </c:tx>
          <c:spPr>
            <a:solidFill>
              <a:srgbClr val="EB6834"/>
            </a:solidFill>
            <a:effectLst/>
          </c:spPr>
          <c:invertIfNegative val="0"/>
          <c:dLbls>
            <c:numFmt formatCode="0&quot;%&quot;" sourceLinked="0"/>
            <c:txPr>
              <a:bodyPr/>
              <a:lstStyle/>
              <a:p>
                <a:pPr>
                  <a:defRPr b="0" i="0" strike="noStrike" sz="800" u="none">
                    <a:solidFill>
                      <a:srgbClr val="4A5660"/>
                    </a:solidFill>
                    <a:latin typeface="+mn-lt"/>
                  </a:defRPr>
                </a:pPr>
              </a:p>
            </c:txPr>
            <c:showLegendKey val="0"/>
            <c:showVal val="1"/>
            <c:showCatName val="0"/>
            <c:showSerName val="0"/>
            <c:showPercent val="0"/>
            <c:showBubbleSize val="0"/>
            <c:showLeaderLines val="0"/>
          </c:dLbls>
          <c:cat>
            <c:multiLvlStrRef>
              <c:f>Sheet1!$A$2:$A$13</c:f>
              <c:multiLvlStrCache>
                <c:ptCount val="12"/>
                <c:lvl>
                  <c:pt idx="0">
                    <c:v>Multifamily podium</c:v>
                  </c:pt>
                  <c:pt idx="1">
                    <c:v>Sports / rec</c:v>
                  </c:pt>
                  <c:pt idx="2">
                    <c:v>Higher ed</c:v>
                  </c:pt>
                  <c:pt idx="3">
                    <c:v>Hospitality</c:v>
                  </c:pt>
                  <c:pt idx="4">
                    <c:v>Healthcare</c:v>
                  </c:pt>
                  <c:pt idx="5">
                    <c:v>Office</c:v>
                  </c:pt>
                  <c:pt idx="6">
                    <c:v>Municipal</c:v>
                  </c:pt>
                  <c:pt idx="7">
                    <c:v>Industrial</c:v>
                  </c:pt>
                  <c:pt idx="8">
                    <c:v>Church</c:v>
                  </c:pt>
                  <c:pt idx="9">
                    <c:v>K-12 school</c:v>
                  </c:pt>
                  <c:pt idx="10">
                    <c:v>Retail</c:v>
                  </c:pt>
                  <c:pt idx="11">
                    <c:v>Warehouse</c:v>
                  </c:pt>
                </c:lvl>
              </c:multiLvlStrCache>
            </c:multiLvlStrRef>
          </c:cat>
          <c:val>
            <c:numRef>
              <c:f>Sheet1!$C$2:$C$13</c:f>
              <c:numCache>
                <c:formatCode>General</c:formatCode>
                <c:ptCount val="12"/>
                <c:pt idx="0">
                  <c:v>10.5</c:v>
                </c:pt>
                <c:pt idx="1">
                  <c:v>12.5</c:v>
                </c:pt>
                <c:pt idx="2">
                  <c:v>15.1</c:v>
                </c:pt>
                <c:pt idx="3">
                  <c:v>16.9</c:v>
                </c:pt>
                <c:pt idx="4">
                  <c:v>14.1</c:v>
                </c:pt>
                <c:pt idx="5">
                  <c:v>18.7</c:v>
                </c:pt>
                <c:pt idx="6">
                  <c:v>18</c:v>
                </c:pt>
                <c:pt idx="7">
                  <c:v>20.6</c:v>
                </c:pt>
                <c:pt idx="8">
                  <c:v>21.2</c:v>
                </c:pt>
                <c:pt idx="9">
                  <c:v>19.9</c:v>
                </c:pt>
                <c:pt idx="10">
                  <c:v>20.3</c:v>
                </c:pt>
                <c:pt idx="11">
                  <c:v>23.4</c:v>
                </c:pt>
              </c:numCache>
            </c:numRef>
          </c:val>
        </c:ser>
        <c:dLbls>
          <c:numFmt formatCode="0&quot;%&quot;" sourceLinked="0"/>
          <c:txPr>
            <a:bodyPr/>
            <a:lstStyle/>
            <a:p>
              <a:pPr>
                <a:defRPr b="0" i="0" strike="noStrike" sz="8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3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950">
              <a:solidFill>
                <a:srgbClr val="4A5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660"/>
                </a:solidFill>
                <a:latin typeface="+mn-lt"/>
              </a:defRPr>
            </a:pPr>
            <a:r>
              <a:rPr sz="1000" b="0" i="0" u="none" strike="noStrike">
                <a:solidFill>
                  <a:srgbClr val="4A5660"/>
                </a:solidFill>
                <a:latin typeface="+mn-lt"/>
              </a:rPr>
              <a:t>Gross margin by complexity grade</a:t>
            </a:r>
          </a:p>
        </c:rich>
      </c:tx>
      <c:layout/>
      <c:overlay val="0"/>
    </c:title>
    <c:autoTitleDeleted val="0"/>
    <c:plotArea>
      <c:layout/>
      <c:barChart>
        <c:barDir val="col"/>
        <c:grouping val="clustered"/>
        <c:varyColors val="0"/>
        <c:ser>
          <c:idx val="0"/>
          <c:order val="0"/>
          <c:tx>
            <c:strRef>
              <c:f>Sheet1!$B$1</c:f>
              <c:strCache>
                <c:ptCount val="1"/>
                <c:pt idx="0">
                  <c:v>Estimated</c:v>
                </c:pt>
              </c:strCache>
            </c:strRef>
          </c:tx>
          <c:spPr>
            <a:solidFill>
              <a:srgbClr val="2A78D6"/>
            </a:solidFill>
            <a:effectLst/>
          </c:spPr>
          <c:invertIfNegative val="0"/>
          <c:dLbls>
            <c:numFmt formatCode="0&quot;%&quot;" sourceLinked="0"/>
            <c:txPr>
              <a:bodyPr/>
              <a:lstStyle/>
              <a:p>
                <a:pPr>
                  <a:defRPr b="0" i="0" strike="noStrike" sz="800" u="none">
                    <a:solidFill>
                      <a:srgbClr val="4A5660"/>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Complexity 1</c:v>
                  </c:pt>
                  <c:pt idx="1">
                    <c:v>Complexity 2</c:v>
                  </c:pt>
                  <c:pt idx="2">
                    <c:v>Complexity 3</c:v>
                  </c:pt>
                  <c:pt idx="3">
                    <c:v>Complexity 4</c:v>
                  </c:pt>
                  <c:pt idx="4">
                    <c:v>Complexity 5</c:v>
                  </c:pt>
                </c:lvl>
              </c:multiLvlStrCache>
            </c:multiLvlStrRef>
          </c:cat>
          <c:val>
            <c:numRef>
              <c:f>Sheet1!$B$2:$B$6</c:f>
              <c:numCache>
                <c:formatCode>General</c:formatCode>
                <c:ptCount val="5"/>
                <c:pt idx="0">
                  <c:v>23</c:v>
                </c:pt>
                <c:pt idx="1">
                  <c:v>24.3</c:v>
                </c:pt>
                <c:pt idx="2">
                  <c:v>22.6</c:v>
                </c:pt>
                <c:pt idx="3">
                  <c:v>21.4</c:v>
                </c:pt>
                <c:pt idx="4">
                  <c:v>23.3</c:v>
                </c:pt>
              </c:numCache>
            </c:numRef>
          </c:val>
        </c:ser>
        <c:ser>
          <c:idx val="1"/>
          <c:order val="1"/>
          <c:tx>
            <c:strRef>
              <c:f>Sheet1!$C$1</c:f>
              <c:strCache>
                <c:ptCount val="1"/>
                <c:pt idx="0">
                  <c:v>Actually earned</c:v>
                </c:pt>
              </c:strCache>
            </c:strRef>
          </c:tx>
          <c:spPr>
            <a:solidFill>
              <a:srgbClr val="EB6834"/>
            </a:solidFill>
            <a:effectLst/>
          </c:spPr>
          <c:invertIfNegative val="0"/>
          <c:dLbls>
            <c:numFmt formatCode="0&quot;%&quot;" sourceLinked="0"/>
            <c:txPr>
              <a:bodyPr/>
              <a:lstStyle/>
              <a:p>
                <a:pPr>
                  <a:defRPr b="0" i="0" strike="noStrike" sz="800" u="none">
                    <a:solidFill>
                      <a:srgbClr val="4A5660"/>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Complexity 1</c:v>
                  </c:pt>
                  <c:pt idx="1">
                    <c:v>Complexity 2</c:v>
                  </c:pt>
                  <c:pt idx="2">
                    <c:v>Complexity 3</c:v>
                  </c:pt>
                  <c:pt idx="3">
                    <c:v>Complexity 4</c:v>
                  </c:pt>
                  <c:pt idx="4">
                    <c:v>Complexity 5</c:v>
                  </c:pt>
                </c:lvl>
              </c:multiLvlStrCache>
            </c:multiLvlStrRef>
          </c:cat>
          <c:val>
            <c:numRef>
              <c:f>Sheet1!$C$2:$C$6</c:f>
              <c:numCache>
                <c:formatCode>General</c:formatCode>
                <c:ptCount val="5"/>
                <c:pt idx="0">
                  <c:v>23.3</c:v>
                </c:pt>
                <c:pt idx="1">
                  <c:v>23.7</c:v>
                </c:pt>
                <c:pt idx="2">
                  <c:v>17.3</c:v>
                </c:pt>
                <c:pt idx="3">
                  <c:v>12.7</c:v>
                </c:pt>
                <c:pt idx="4">
                  <c:v>12.7</c:v>
                </c:pt>
              </c:numCache>
            </c:numRef>
          </c:val>
        </c:ser>
        <c:dLbls>
          <c:numFmt formatCode="0&quot;%&quot;" sourceLinked="0"/>
          <c:txPr>
            <a:bodyPr/>
            <a:lstStyle/>
            <a:p>
              <a:pPr>
                <a:defRPr b="0" i="0" strike="noStrike" sz="8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950">
              <a:solidFill>
                <a:srgbClr val="4A5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660"/>
                </a:solidFill>
                <a:latin typeface="+mn-lt"/>
              </a:defRPr>
            </a:pPr>
            <a:r>
              <a:rPr sz="1000" b="0" i="0" u="none" strike="noStrike">
                <a:solidFill>
                  <a:srgbClr val="4A5660"/>
                </a:solidFill>
                <a:latin typeface="+mn-lt"/>
              </a:rPr>
              <a:t>Hours over estimate by complexity grade</a:t>
            </a:r>
          </a:p>
        </c:rich>
      </c:tx>
      <c:layout/>
      <c:overlay val="0"/>
    </c:title>
    <c:autoTitleDeleted val="0"/>
    <c:plotArea>
      <c:layout/>
      <c:barChart>
        <c:barDir val="col"/>
        <c:grouping val="clustered"/>
        <c:varyColors val="0"/>
        <c:ser>
          <c:idx val="0"/>
          <c:order val="0"/>
          <c:tx>
            <c:strRef>
              <c:f>Sheet1!$B$1</c:f>
              <c:strCache>
                <c:ptCount val="1"/>
                <c:pt idx="0">
                  <c:v>Shop hours over estimate</c:v>
                </c:pt>
              </c:strCache>
            </c:strRef>
          </c:tx>
          <c:spPr>
            <a:solidFill>
              <a:srgbClr val="2A78D6"/>
            </a:solidFill>
            <a:effectLst/>
          </c:spPr>
          <c:invertIfNegative val="0"/>
          <c:dLbls>
            <c:numFmt formatCode="0&quot;%&quot;" sourceLinked="0"/>
            <c:txPr>
              <a:bodyPr/>
              <a:lstStyle/>
              <a:p>
                <a:pPr>
                  <a:defRPr b="0" i="0" strike="noStrike" sz="800" u="none">
                    <a:solidFill>
                      <a:srgbClr val="4A5660"/>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Complexity 1</c:v>
                  </c:pt>
                  <c:pt idx="1">
                    <c:v>Complexity 2</c:v>
                  </c:pt>
                  <c:pt idx="2">
                    <c:v>Complexity 3</c:v>
                  </c:pt>
                  <c:pt idx="3">
                    <c:v>Complexity 4</c:v>
                  </c:pt>
                  <c:pt idx="4">
                    <c:v>Complexity 5</c:v>
                  </c:pt>
                </c:lvl>
              </c:multiLvlStrCache>
            </c:multiLvlStrRef>
          </c:cat>
          <c:val>
            <c:numRef>
              <c:f>Sheet1!$B$2:$B$6</c:f>
              <c:numCache>
                <c:formatCode>General</c:formatCode>
                <c:ptCount val="5"/>
                <c:pt idx="0">
                  <c:v>-6</c:v>
                </c:pt>
                <c:pt idx="1">
                  <c:v>2</c:v>
                </c:pt>
                <c:pt idx="2">
                  <c:v>9</c:v>
                </c:pt>
                <c:pt idx="3">
                  <c:v>19</c:v>
                </c:pt>
                <c:pt idx="4">
                  <c:v>27</c:v>
                </c:pt>
              </c:numCache>
            </c:numRef>
          </c:val>
        </c:ser>
        <c:ser>
          <c:idx val="1"/>
          <c:order val="1"/>
          <c:tx>
            <c:strRef>
              <c:f>Sheet1!$C$1</c:f>
              <c:strCache>
                <c:ptCount val="1"/>
                <c:pt idx="0">
                  <c:v>Field hours over estimate</c:v>
                </c:pt>
              </c:strCache>
            </c:strRef>
          </c:tx>
          <c:spPr>
            <a:solidFill>
              <a:srgbClr val="EDA100"/>
            </a:solidFill>
            <a:effectLst/>
          </c:spPr>
          <c:invertIfNegative val="0"/>
          <c:dLbls>
            <c:numFmt formatCode="0&quot;%&quot;" sourceLinked="0"/>
            <c:txPr>
              <a:bodyPr/>
              <a:lstStyle/>
              <a:p>
                <a:pPr>
                  <a:defRPr b="0" i="0" strike="noStrike" sz="800" u="none">
                    <a:solidFill>
                      <a:srgbClr val="4A5660"/>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Complexity 1</c:v>
                  </c:pt>
                  <c:pt idx="1">
                    <c:v>Complexity 2</c:v>
                  </c:pt>
                  <c:pt idx="2">
                    <c:v>Complexity 3</c:v>
                  </c:pt>
                  <c:pt idx="3">
                    <c:v>Complexity 4</c:v>
                  </c:pt>
                  <c:pt idx="4">
                    <c:v>Complexity 5</c:v>
                  </c:pt>
                </c:lvl>
              </c:multiLvlStrCache>
            </c:multiLvlStrRef>
          </c:cat>
          <c:val>
            <c:numRef>
              <c:f>Sheet1!$C$2:$C$6</c:f>
              <c:numCache>
                <c:formatCode>General</c:formatCode>
                <c:ptCount val="5"/>
                <c:pt idx="0">
                  <c:v>-1</c:v>
                </c:pt>
                <c:pt idx="1">
                  <c:v>-6</c:v>
                </c:pt>
                <c:pt idx="2">
                  <c:v>13</c:v>
                </c:pt>
                <c:pt idx="3">
                  <c:v>13</c:v>
                </c:pt>
                <c:pt idx="4">
                  <c:v>22</c:v>
                </c:pt>
              </c:numCache>
            </c:numRef>
          </c:val>
        </c:ser>
        <c:dLbls>
          <c:numFmt formatCode="0&quot;%&quot;" sourceLinked="0"/>
          <c:txPr>
            <a:bodyPr/>
            <a:lstStyle/>
            <a:p>
              <a:pPr>
                <a:defRPr b="0" i="0" strike="noStrike" sz="8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950">
              <a:solidFill>
                <a:srgbClr val="4A5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Won work</c:v>
                </c:pt>
              </c:strCache>
            </c:strRef>
          </c:tx>
          <c:spPr>
            <a:solidFill>
              <a:srgbClr val="2A78D6"/>
            </a:solidFill>
            <a:effectLst/>
          </c:spPr>
          <c:invertIfNegative val="0"/>
          <c:dLbls>
            <c:numFmt formatCode="#,##0" sourceLinked="0"/>
            <c:txPr>
              <a:bodyPr/>
              <a:lstStyle/>
              <a:p>
                <a:pPr>
                  <a:defRPr b="0" i="0" strike="noStrike" sz="900" u="none">
                    <a:solidFill>
                      <a:srgbClr val="4A5660"/>
                    </a:solidFill>
                    <a:latin typeface="+mn-lt"/>
                  </a:defRPr>
                </a:pPr>
              </a:p>
            </c:txPr>
            <c:showLegendKey val="0"/>
            <c:showVal val="0"/>
            <c:showCatName val="0"/>
            <c:showSerName val="0"/>
            <c:showPercent val="0"/>
            <c:showBubbleSize val="0"/>
            <c:showLeaderLines val="0"/>
          </c:dLbls>
          <c:cat>
            <c:multiLvlStrRef>
              <c:f>Sheet1!$A$2:$A$10</c:f>
              <c:multiLvlStrCache>
                <c:ptCount val="9"/>
                <c:lvl>
                  <c:pt idx="0">
                    <c:v>2026Q1</c:v>
                  </c:pt>
                  <c:pt idx="1">
                    <c:v>2026Q2</c:v>
                  </c:pt>
                  <c:pt idx="2">
                    <c:v>2026Q3</c:v>
                  </c:pt>
                  <c:pt idx="3">
                    <c:v>2026Q4</c:v>
                  </c:pt>
                  <c:pt idx="4">
                    <c:v>2027Q1</c:v>
                  </c:pt>
                  <c:pt idx="5">
                    <c:v>2027Q2</c:v>
                  </c:pt>
                  <c:pt idx="6">
                    <c:v>2027Q3</c:v>
                  </c:pt>
                  <c:pt idx="7">
                    <c:v>2027Q4</c:v>
                  </c:pt>
                  <c:pt idx="8">
                    <c:v>2028Q1</c:v>
                  </c:pt>
                </c:lvl>
              </c:multiLvlStrCache>
            </c:multiLvlStrRef>
          </c:cat>
          <c:val>
            <c:numRef>
              <c:f>Sheet1!$B$2:$B$10</c:f>
              <c:numCache>
                <c:formatCode>General</c:formatCode>
                <c:ptCount val="9"/>
                <c:pt idx="0">
                  <c:v>45</c:v>
                </c:pt>
                <c:pt idx="1">
                  <c:v>93</c:v>
                </c:pt>
                <c:pt idx="2">
                  <c:v>125</c:v>
                </c:pt>
                <c:pt idx="3">
                  <c:v>93</c:v>
                </c:pt>
                <c:pt idx="4">
                  <c:v>47</c:v>
                </c:pt>
                <c:pt idx="5">
                  <c:v>27</c:v>
                </c:pt>
                <c:pt idx="6">
                  <c:v>0</c:v>
                </c:pt>
                <c:pt idx="7">
                  <c:v>0</c:v>
                </c:pt>
                <c:pt idx="8">
                  <c:v>0</c:v>
                </c:pt>
              </c:numCache>
            </c:numRef>
          </c:val>
        </c:ser>
        <c:ser>
          <c:idx val="1"/>
          <c:order val="1"/>
          <c:tx>
            <c:strRef>
              <c:f>Sheet1!$C$1</c:f>
              <c:strCache>
                <c:ptCount val="1"/>
                <c:pt idx="0">
                  <c:v>Upcoming work at its odds</c:v>
                </c:pt>
              </c:strCache>
            </c:strRef>
          </c:tx>
          <c:spPr>
            <a:solidFill>
              <a:srgbClr val="EDA100"/>
            </a:solidFill>
            <a:effectLst/>
          </c:spPr>
          <c:invertIfNegative val="0"/>
          <c:dLbls>
            <c:numFmt formatCode="#,##0" sourceLinked="0"/>
            <c:txPr>
              <a:bodyPr/>
              <a:lstStyle/>
              <a:p>
                <a:pPr>
                  <a:defRPr b="0" i="0" strike="noStrike" sz="900" u="none">
                    <a:solidFill>
                      <a:srgbClr val="4A5660"/>
                    </a:solidFill>
                    <a:latin typeface="+mn-lt"/>
                  </a:defRPr>
                </a:pPr>
              </a:p>
            </c:txPr>
            <c:showLegendKey val="0"/>
            <c:showVal val="0"/>
            <c:showCatName val="0"/>
            <c:showSerName val="0"/>
            <c:showPercent val="0"/>
            <c:showBubbleSize val="0"/>
            <c:showLeaderLines val="0"/>
          </c:dLbls>
          <c:cat>
            <c:multiLvlStrRef>
              <c:f>Sheet1!$A$2:$A$10</c:f>
              <c:multiLvlStrCache>
                <c:ptCount val="9"/>
                <c:lvl>
                  <c:pt idx="0">
                    <c:v>2026Q1</c:v>
                  </c:pt>
                  <c:pt idx="1">
                    <c:v>2026Q2</c:v>
                  </c:pt>
                  <c:pt idx="2">
                    <c:v>2026Q3</c:v>
                  </c:pt>
                  <c:pt idx="3">
                    <c:v>2026Q4</c:v>
                  </c:pt>
                  <c:pt idx="4">
                    <c:v>2027Q1</c:v>
                  </c:pt>
                  <c:pt idx="5">
                    <c:v>2027Q2</c:v>
                  </c:pt>
                  <c:pt idx="6">
                    <c:v>2027Q3</c:v>
                  </c:pt>
                  <c:pt idx="7">
                    <c:v>2027Q4</c:v>
                  </c:pt>
                  <c:pt idx="8">
                    <c:v>2028Q1</c:v>
                  </c:pt>
                </c:lvl>
              </c:multiLvlStrCache>
            </c:multiLvlStrRef>
          </c:cat>
          <c:val>
            <c:numRef>
              <c:f>Sheet1!$C$2:$C$10</c:f>
              <c:numCache>
                <c:formatCode>General</c:formatCode>
                <c:ptCount val="9"/>
                <c:pt idx="0">
                  <c:v>0</c:v>
                </c:pt>
                <c:pt idx="1">
                  <c:v>0</c:v>
                </c:pt>
                <c:pt idx="2">
                  <c:v>0</c:v>
                </c:pt>
                <c:pt idx="3">
                  <c:v>0</c:v>
                </c:pt>
                <c:pt idx="4">
                  <c:v>21</c:v>
                </c:pt>
                <c:pt idx="5">
                  <c:v>37</c:v>
                </c:pt>
                <c:pt idx="6">
                  <c:v>50</c:v>
                </c:pt>
                <c:pt idx="7">
                  <c:v>81</c:v>
                </c:pt>
                <c:pt idx="8">
                  <c:v>54</c:v>
                </c:pt>
              </c:numCache>
            </c:numRef>
          </c:val>
        </c:ser>
        <c:ser>
          <c:idx val="2"/>
          <c:order val="2"/>
          <c:tx>
            <c:strRef>
              <c:f>Sheet1!$D$1</c:f>
              <c:strCache>
                <c:ptCount val="1"/>
                <c:pt idx="0">
                  <c:v>Open capacity</c:v>
                </c:pt>
              </c:strCache>
            </c:strRef>
          </c:tx>
          <c:spPr>
            <a:solidFill>
              <a:srgbClr val="D5DBDF"/>
            </a:solidFill>
            <a:effectLst/>
          </c:spPr>
          <c:invertIfNegative val="0"/>
          <c:dLbls>
            <c:numFmt formatCode="#,##0" sourceLinked="0"/>
            <c:txPr>
              <a:bodyPr/>
              <a:lstStyle/>
              <a:p>
                <a:pPr>
                  <a:defRPr b="0" i="0" strike="noStrike" sz="900" u="none">
                    <a:solidFill>
                      <a:srgbClr val="4A5660"/>
                    </a:solidFill>
                    <a:latin typeface="+mn-lt"/>
                  </a:defRPr>
                </a:pPr>
              </a:p>
            </c:txPr>
            <c:showLegendKey val="0"/>
            <c:showVal val="0"/>
            <c:showCatName val="0"/>
            <c:showSerName val="0"/>
            <c:showPercent val="0"/>
            <c:showBubbleSize val="0"/>
            <c:showLeaderLines val="0"/>
          </c:dLbls>
          <c:cat>
            <c:multiLvlStrRef>
              <c:f>Sheet1!$A$2:$A$10</c:f>
              <c:multiLvlStrCache>
                <c:ptCount val="9"/>
                <c:lvl>
                  <c:pt idx="0">
                    <c:v>2026Q1</c:v>
                  </c:pt>
                  <c:pt idx="1">
                    <c:v>2026Q2</c:v>
                  </c:pt>
                  <c:pt idx="2">
                    <c:v>2026Q3</c:v>
                  </c:pt>
                  <c:pt idx="3">
                    <c:v>2026Q4</c:v>
                  </c:pt>
                  <c:pt idx="4">
                    <c:v>2027Q1</c:v>
                  </c:pt>
                  <c:pt idx="5">
                    <c:v>2027Q2</c:v>
                  </c:pt>
                  <c:pt idx="6">
                    <c:v>2027Q3</c:v>
                  </c:pt>
                  <c:pt idx="7">
                    <c:v>2027Q4</c:v>
                  </c:pt>
                  <c:pt idx="8">
                    <c:v>2028Q1</c:v>
                  </c:pt>
                </c:lvl>
              </c:multiLvlStrCache>
            </c:multiLvlStrRef>
          </c:cat>
          <c:val>
            <c:numRef>
              <c:f>Sheet1!$D$2:$D$10</c:f>
              <c:numCache>
                <c:formatCode>General</c:formatCode>
                <c:ptCount val="9"/>
                <c:pt idx="0">
                  <c:v>95</c:v>
                </c:pt>
                <c:pt idx="1">
                  <c:v>47</c:v>
                </c:pt>
                <c:pt idx="2">
                  <c:v>15</c:v>
                </c:pt>
                <c:pt idx="3">
                  <c:v>47</c:v>
                </c:pt>
                <c:pt idx="4">
                  <c:v>72</c:v>
                </c:pt>
                <c:pt idx="5">
                  <c:v>76</c:v>
                </c:pt>
                <c:pt idx="6">
                  <c:v>90</c:v>
                </c:pt>
                <c:pt idx="7">
                  <c:v>59</c:v>
                </c:pt>
                <c:pt idx="8">
                  <c:v>86</c:v>
                </c:pt>
              </c:numCache>
            </c:numRef>
          </c:val>
        </c:ser>
        <c:dLbls>
          <c:numFmt formatCode="#,##0" sourceLinked="0"/>
          <c:txPr>
            <a:bodyPr/>
            <a:lstStyle/>
            <a:p>
              <a:pPr>
                <a:defRPr b="0" i="0" strike="noStrike" sz="900" u="none">
                  <a:solidFill>
                    <a:srgbClr val="4A5660"/>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140"/>
        </c:scaling>
        <c:delete val="0"/>
        <c:axPos val="l"/>
        <c:majorGridlines>
          <c:spPr>
            <a:ln w="6350" cap="flat">
              <a:solidFill>
                <a:srgbClr val="D5DBDF"/>
              </a:solidFill>
              <a:prstDash val="solid"/>
              <a:round/>
            </a:ln>
          </c:spPr>
        </c:majorGridlines>
        <c:title>
          <c:tx>
            <c:rich>
              <a:bodyPr/>
              <a:lstStyle/>
              <a:p>
                <a:pPr>
                  <a:defRPr sz="900" b="0" i="0" u="none" strike="noStrike">
                    <a:solidFill>
                      <a:srgbClr val="4A5660"/>
                    </a:solidFill>
                    <a:latin typeface="+mn-lt"/>
                  </a:defRPr>
                </a:pPr>
                <a:r>
                  <a:rPr sz="900" b="0" i="0" u="none" strike="noStrike">
                    <a:solidFill>
                      <a:srgbClr val="4A5660"/>
                    </a:solidFill>
                    <a:latin typeface="+mn-lt"/>
                  </a:rPr>
                  <a:t>tons per week</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950">
              <a:solidFill>
                <a:srgbClr val="4A5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Pursue</c:v>
                </c:pt>
              </c:strCache>
            </c:strRef>
          </c:tx>
          <c:spPr>
            <a:solidFill>
              <a:srgbClr val="1BAF7A"/>
            </a:solidFill>
            <a:ln>
              <a:noFill/>
            </a:ln>
            <a:effectLst/>
          </c:spPr>
          <c:marker>
            <c:symbol val="circle"/>
            <c:size val="8"/>
            <c:spPr>
              <a:solidFill>
                <a:srgbClr val="1BAF7A"/>
              </a:solidFill>
              <a:ln w="9525" cap="flat">
                <a:solidFill>
                  <a:srgbClr val="1BAF7A"/>
                </a:solidFill>
                <a:prstDash val="solid"/>
                <a:round/>
              </a:ln>
              <a:effectLst/>
            </c:spPr>
          </c:marker>
          <c:xVal>
            <c:numRef>
              <c:f>Sheet1!$A$2:$A$91</c:f>
              <c:numCache>
                <c:formatCode>General</c:formatCode>
                <c:ptCount val="90"/>
                <c:pt idx="0">
                  <c:v>52.4</c:v>
                </c:pt>
                <c:pt idx="1">
                  <c:v>82.8</c:v>
                </c:pt>
                <c:pt idx="2">
                  <c:v>43.2</c:v>
                </c:pt>
                <c:pt idx="3">
                  <c:v>36.2</c:v>
                </c:pt>
                <c:pt idx="4">
                  <c:v>64.9</c:v>
                </c:pt>
                <c:pt idx="5">
                  <c:v>24.4</c:v>
                </c:pt>
                <c:pt idx="6">
                  <c:v>53.1</c:v>
                </c:pt>
                <c:pt idx="7">
                  <c:v>62.3</c:v>
                </c:pt>
                <c:pt idx="8">
                  <c:v>37.2</c:v>
                </c:pt>
                <c:pt idx="9">
                  <c:v>36.3</c:v>
                </c:pt>
                <c:pt idx="10">
                  <c:v>37.1</c:v>
                </c:pt>
                <c:pt idx="11">
                  <c:v>39.2</c:v>
                </c:pt>
                <c:pt idx="12">
                  <c:v>41.4</c:v>
                </c:pt>
                <c:pt idx="13">
                  <c:v>38</c:v>
                </c:pt>
                <c:pt idx="14">
                  <c:v>52.9</c:v>
                </c:pt>
                <c:pt idx="15">
                  <c:v>24.9</c:v>
                </c:pt>
                <c:pt idx="16">
                  <c:v>43.3</c:v>
                </c:pt>
                <c:pt idx="17">
                  <c:v>45.6</c:v>
                </c:pt>
                <c:pt idx="18">
                  <c:v>36.1</c:v>
                </c:pt>
                <c:pt idx="19">
                  <c:v>35.3</c:v>
                </c:pt>
                <c:pt idx="20">
                  <c:v>30</c:v>
                </c:pt>
                <c:pt idx="21">
                  <c:v>24.3</c:v>
                </c:pt>
                <c:pt idx="22">
                  <c:v>22.7</c:v>
                </c:pt>
                <c:pt idx="23">
                  <c:v>27.6</c:v>
                </c:pt>
                <c:pt idx="24">
                  <c:v>39.4</c:v>
                </c:pt>
                <c:pt idx="25">
                  <c:v>30.8</c:v>
                </c:pt>
                <c:pt idx="26">
                  <c:v>31.4</c:v>
                </c:pt>
                <c:pt idx="27">
                  <c:v>27.6</c:v>
                </c:pt>
                <c:pt idx="28">
                  <c:v>27</c:v>
                </c:pt>
                <c:pt idx="29">
                  <c:v>49.4</c:v>
                </c:pt>
                <c:pt idx="30">
                  <c:v>28.8</c:v>
                </c:pt>
                <c:pt idx="31">
                  <c:v>43.1</c:v>
                </c:pt>
                <c:pt idx="32">
                  <c:v>41.8</c:v>
                </c:pt>
                <c:pt idx="33">
                  <c:v>18.2</c:v>
                </c:pt>
                <c:pt idx="34">
                  <c:v>23.2</c:v>
                </c:pt>
                <c:pt idx="35">
                  <c:v>33.3</c:v>
                </c:pt>
                <c:pt idx="36">
                  <c:v>18.3</c:v>
                </c:pt>
                <c:pt idx="37">
                  <c:v>23.9</c:v>
                </c:pt>
                <c:pt idx="38">
                  <c:v>32.1</c:v>
                </c:pt>
                <c:pt idx="39">
                  <c:v>33.3</c:v>
                </c:pt>
                <c:pt idx="40">
                  <c:v>32.8</c:v>
                </c:pt>
                <c:pt idx="41">
                  <c:v>22.8</c:v>
                </c:pt>
                <c:pt idx="42">
                  <c:v>26.8</c:v>
                </c:pt>
                <c:pt idx="43">
                  <c:v>14.8</c:v>
                </c:pt>
                <c:pt idx="44">
                  <c:v>24.1</c:v>
                </c:pt>
                <c:pt idx="45">
                  <c:v>25.1</c:v>
                </c:pt>
                <c:pt idx="46">
                  <c:v>10.5</c:v>
                </c:pt>
                <c:pt idx="47">
                  <c:v>25.1</c:v>
                </c:pt>
                <c:pt idx="48">
                  <c:v>13.9</c:v>
                </c:pt>
                <c:pt idx="49">
                  <c:v>11.7</c:v>
                </c:pt>
                <c:pt idx="50">
                  <c:v>19.8</c:v>
                </c:pt>
                <c:pt idx="51">
                  <c:v>17.5</c:v>
                </c:pt>
                <c:pt idx="52">
                  <c:v>15.9</c:v>
                </c:pt>
                <c:pt idx="53">
                  <c:v>17</c:v>
                </c:pt>
                <c:pt idx="54">
                  <c:v>20.4</c:v>
                </c:pt>
                <c:pt idx="55">
                  <c:v>18.7</c:v>
                </c:pt>
                <c:pt idx="56">
                  <c:v>11.6</c:v>
                </c:pt>
                <c:pt idx="57">
                  <c:v>20.7</c:v>
                </c:pt>
                <c:pt idx="58">
                  <c:v>14.2</c:v>
                </c:pt>
                <c:pt idx="59">
                  <c:v>8.9</c:v>
                </c:pt>
                <c:pt idx="60">
                  <c:v>11.7</c:v>
                </c:pt>
                <c:pt idx="61">
                  <c:v>17.6</c:v>
                </c:pt>
                <c:pt idx="62">
                  <c:v>11.4</c:v>
                </c:pt>
                <c:pt idx="63">
                  <c:v>10.6</c:v>
                </c:pt>
                <c:pt idx="64">
                  <c:v>10.6</c:v>
                </c:pt>
                <c:pt idx="65">
                  <c:v>12.1</c:v>
                </c:pt>
                <c:pt idx="66">
                  <c:v>8.9</c:v>
                </c:pt>
                <c:pt idx="67">
                  <c:v>12.4</c:v>
                </c:pt>
                <c:pt idx="68">
                  <c:v>8.3</c:v>
                </c:pt>
                <c:pt idx="69">
                  <c:v>14.9</c:v>
                </c:pt>
                <c:pt idx="70">
                  <c:v>8.5</c:v>
                </c:pt>
                <c:pt idx="71">
                  <c:v>8.8</c:v>
                </c:pt>
                <c:pt idx="72">
                  <c:v>5.8</c:v>
                </c:pt>
                <c:pt idx="73">
                  <c:v>9</c:v>
                </c:pt>
                <c:pt idx="74">
                  <c:v>7.9</c:v>
                </c:pt>
                <c:pt idx="75">
                  <c:v>6.6</c:v>
                </c:pt>
                <c:pt idx="76">
                  <c:v>6.4</c:v>
                </c:pt>
                <c:pt idx="77">
                  <c:v>9.9</c:v>
                </c:pt>
                <c:pt idx="78">
                  <c:v>6.5</c:v>
                </c:pt>
                <c:pt idx="79">
                  <c:v>9</c:v>
                </c:pt>
                <c:pt idx="80">
                  <c:v>9.1</c:v>
                </c:pt>
                <c:pt idx="81">
                  <c:v>6.8</c:v>
                </c:pt>
                <c:pt idx="82">
                  <c:v>6</c:v>
                </c:pt>
                <c:pt idx="83">
                  <c:v>5.7</c:v>
                </c:pt>
                <c:pt idx="84">
                  <c:v>3.9</c:v>
                </c:pt>
                <c:pt idx="85">
                  <c:v>6.5</c:v>
                </c:pt>
                <c:pt idx="86">
                  <c:v>6.3</c:v>
                </c:pt>
                <c:pt idx="87">
                  <c:v>4.5</c:v>
                </c:pt>
                <c:pt idx="88">
                  <c:v>2.6</c:v>
                </c:pt>
                <c:pt idx="89">
                  <c:v>2</c:v>
                </c:pt>
              </c:numCache>
            </c:numRef>
          </c:xVal>
          <c:yVal>
            <c:numRef>
              <c:f>Sheet1!$B$2:$B$91</c:f>
              <c:numCache>
                <c:formatCode>General</c:formatCode>
                <c:ptCount val="90"/>
                <c:pt idx="0">
                  <c:v>6.37</c:v>
                </c:pt>
                <c:pt idx="1">
                  <c:v>5.6</c:v>
                </c:pt>
                <c:pt idx="2">
                  <c:v>5.19</c:v>
                </c:pt>
                <c:pt idx="3">
                  <c:v>4.98</c:v>
                </c:pt>
                <c:pt idx="4">
                  <c:v>4.71</c:v>
                </c:pt>
                <c:pt idx="5">
                  <c:v>4.16</c:v>
                </c:pt>
                <c:pt idx="6">
                  <c:v>4.09</c:v>
                </c:pt>
                <c:pt idx="7">
                  <c:v/>
                </c:pt>
                <c:pt idx="8">
                  <c:v>3.87</c:v>
                </c:pt>
                <c:pt idx="9">
                  <c:v>3.73</c:v>
                </c:pt>
                <c:pt idx="10">
                  <c:v>3.61</c:v>
                </c:pt>
                <c:pt idx="11">
                  <c:v>3.47</c:v>
                </c:pt>
                <c:pt idx="12">
                  <c:v>3.4</c:v>
                </c:pt>
                <c:pt idx="13">
                  <c:v>3.4</c:v>
                </c:pt>
                <c:pt idx="14">
                  <c:v>3.36</c:v>
                </c:pt>
                <c:pt idx="15">
                  <c:v>3.35</c:v>
                </c:pt>
                <c:pt idx="16">
                  <c:v/>
                </c:pt>
                <c:pt idx="17">
                  <c:v>3.01</c:v>
                </c:pt>
                <c:pt idx="18">
                  <c:v>2.91</c:v>
                </c:pt>
                <c:pt idx="19">
                  <c:v>2.91</c:v>
                </c:pt>
                <c:pt idx="20">
                  <c:v>2.82</c:v>
                </c:pt>
                <c:pt idx="21">
                  <c:v>2.7</c:v>
                </c:pt>
                <c:pt idx="22">
                  <c:v>2.59</c:v>
                </c:pt>
                <c:pt idx="23">
                  <c:v>2.52</c:v>
                </c:pt>
                <c:pt idx="24">
                  <c:v>2.46</c:v>
                </c:pt>
                <c:pt idx="25">
                  <c:v>2.46</c:v>
                </c:pt>
                <c:pt idx="26">
                  <c:v>2.41</c:v>
                </c:pt>
                <c:pt idx="27">
                  <c:v>2.21</c:v>
                </c:pt>
                <c:pt idx="28">
                  <c:v>2.16</c:v>
                </c:pt>
                <c:pt idx="29">
                  <c:v>2.04</c:v>
                </c:pt>
                <c:pt idx="30">
                  <c:v>2.03</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numCache>
            </c:numRef>
          </c:yVal>
          <c:smooth val="0"/>
        </c:ser>
        <c:ser>
          <c:idx val="1"/>
          <c:order val="1"/>
          <c:tx>
            <c:strRef>
              <c:f>Sheet1!$C$1</c:f>
              <c:strCache>
                <c:ptCount val="1"/>
                <c:pt idx="0">
                  <c:v>Review</c:v>
                </c:pt>
              </c:strCache>
            </c:strRef>
          </c:tx>
          <c:spPr>
            <a:solidFill>
              <a:srgbClr val="EDA100"/>
            </a:solidFill>
            <a:ln>
              <a:noFill/>
            </a:ln>
            <a:effectLst/>
          </c:spPr>
          <c:marker>
            <c:symbol val="circle"/>
            <c:size val="8"/>
            <c:spPr>
              <a:solidFill>
                <a:srgbClr val="EDA100"/>
              </a:solidFill>
              <a:ln w="9525" cap="flat">
                <a:solidFill>
                  <a:srgbClr val="EDA100"/>
                </a:solidFill>
                <a:prstDash val="solid"/>
                <a:round/>
              </a:ln>
              <a:effectLst/>
            </c:spPr>
          </c:marker>
          <c:xVal>
            <c:numRef>
              <c:f>Sheet1!$A$2:$A$91</c:f>
              <c:numCache>
                <c:formatCode>General</c:formatCode>
                <c:ptCount val="90"/>
                <c:pt idx="0">
                  <c:v>52.4</c:v>
                </c:pt>
                <c:pt idx="1">
                  <c:v>82.8</c:v>
                </c:pt>
                <c:pt idx="2">
                  <c:v>43.2</c:v>
                </c:pt>
                <c:pt idx="3">
                  <c:v>36.2</c:v>
                </c:pt>
                <c:pt idx="4">
                  <c:v>64.9</c:v>
                </c:pt>
                <c:pt idx="5">
                  <c:v>24.4</c:v>
                </c:pt>
                <c:pt idx="6">
                  <c:v>53.1</c:v>
                </c:pt>
                <c:pt idx="7">
                  <c:v>62.3</c:v>
                </c:pt>
                <c:pt idx="8">
                  <c:v>37.2</c:v>
                </c:pt>
                <c:pt idx="9">
                  <c:v>36.3</c:v>
                </c:pt>
                <c:pt idx="10">
                  <c:v>37.1</c:v>
                </c:pt>
                <c:pt idx="11">
                  <c:v>39.2</c:v>
                </c:pt>
                <c:pt idx="12">
                  <c:v>41.4</c:v>
                </c:pt>
                <c:pt idx="13">
                  <c:v>38</c:v>
                </c:pt>
                <c:pt idx="14">
                  <c:v>52.9</c:v>
                </c:pt>
                <c:pt idx="15">
                  <c:v>24.9</c:v>
                </c:pt>
                <c:pt idx="16">
                  <c:v>43.3</c:v>
                </c:pt>
                <c:pt idx="17">
                  <c:v>45.6</c:v>
                </c:pt>
                <c:pt idx="18">
                  <c:v>36.1</c:v>
                </c:pt>
                <c:pt idx="19">
                  <c:v>35.3</c:v>
                </c:pt>
                <c:pt idx="20">
                  <c:v>30</c:v>
                </c:pt>
                <c:pt idx="21">
                  <c:v>24.3</c:v>
                </c:pt>
                <c:pt idx="22">
                  <c:v>22.7</c:v>
                </c:pt>
                <c:pt idx="23">
                  <c:v>27.6</c:v>
                </c:pt>
                <c:pt idx="24">
                  <c:v>39.4</c:v>
                </c:pt>
                <c:pt idx="25">
                  <c:v>30.8</c:v>
                </c:pt>
                <c:pt idx="26">
                  <c:v>31.4</c:v>
                </c:pt>
                <c:pt idx="27">
                  <c:v>27.6</c:v>
                </c:pt>
                <c:pt idx="28">
                  <c:v>27</c:v>
                </c:pt>
                <c:pt idx="29">
                  <c:v>49.4</c:v>
                </c:pt>
                <c:pt idx="30">
                  <c:v>28.8</c:v>
                </c:pt>
                <c:pt idx="31">
                  <c:v>43.1</c:v>
                </c:pt>
                <c:pt idx="32">
                  <c:v>41.8</c:v>
                </c:pt>
                <c:pt idx="33">
                  <c:v>18.2</c:v>
                </c:pt>
                <c:pt idx="34">
                  <c:v>23.2</c:v>
                </c:pt>
                <c:pt idx="35">
                  <c:v>33.3</c:v>
                </c:pt>
                <c:pt idx="36">
                  <c:v>18.3</c:v>
                </c:pt>
                <c:pt idx="37">
                  <c:v>23.9</c:v>
                </c:pt>
                <c:pt idx="38">
                  <c:v>32.1</c:v>
                </c:pt>
                <c:pt idx="39">
                  <c:v>33.3</c:v>
                </c:pt>
                <c:pt idx="40">
                  <c:v>32.8</c:v>
                </c:pt>
                <c:pt idx="41">
                  <c:v>22.8</c:v>
                </c:pt>
                <c:pt idx="42">
                  <c:v>26.8</c:v>
                </c:pt>
                <c:pt idx="43">
                  <c:v>14.8</c:v>
                </c:pt>
                <c:pt idx="44">
                  <c:v>24.1</c:v>
                </c:pt>
                <c:pt idx="45">
                  <c:v>25.1</c:v>
                </c:pt>
                <c:pt idx="46">
                  <c:v>10.5</c:v>
                </c:pt>
                <c:pt idx="47">
                  <c:v>25.1</c:v>
                </c:pt>
                <c:pt idx="48">
                  <c:v>13.9</c:v>
                </c:pt>
                <c:pt idx="49">
                  <c:v>11.7</c:v>
                </c:pt>
                <c:pt idx="50">
                  <c:v>19.8</c:v>
                </c:pt>
                <c:pt idx="51">
                  <c:v>17.5</c:v>
                </c:pt>
                <c:pt idx="52">
                  <c:v>15.9</c:v>
                </c:pt>
                <c:pt idx="53">
                  <c:v>17</c:v>
                </c:pt>
                <c:pt idx="54">
                  <c:v>20.4</c:v>
                </c:pt>
                <c:pt idx="55">
                  <c:v>18.7</c:v>
                </c:pt>
                <c:pt idx="56">
                  <c:v>11.6</c:v>
                </c:pt>
                <c:pt idx="57">
                  <c:v>20.7</c:v>
                </c:pt>
                <c:pt idx="58">
                  <c:v>14.2</c:v>
                </c:pt>
                <c:pt idx="59">
                  <c:v>8.9</c:v>
                </c:pt>
                <c:pt idx="60">
                  <c:v>11.7</c:v>
                </c:pt>
                <c:pt idx="61">
                  <c:v>17.6</c:v>
                </c:pt>
                <c:pt idx="62">
                  <c:v>11.4</c:v>
                </c:pt>
                <c:pt idx="63">
                  <c:v>10.6</c:v>
                </c:pt>
                <c:pt idx="64">
                  <c:v>10.6</c:v>
                </c:pt>
                <c:pt idx="65">
                  <c:v>12.1</c:v>
                </c:pt>
                <c:pt idx="66">
                  <c:v>8.9</c:v>
                </c:pt>
                <c:pt idx="67">
                  <c:v>12.4</c:v>
                </c:pt>
                <c:pt idx="68">
                  <c:v>8.3</c:v>
                </c:pt>
                <c:pt idx="69">
                  <c:v>14.9</c:v>
                </c:pt>
                <c:pt idx="70">
                  <c:v>8.5</c:v>
                </c:pt>
                <c:pt idx="71">
                  <c:v>8.8</c:v>
                </c:pt>
                <c:pt idx="72">
                  <c:v>5.8</c:v>
                </c:pt>
                <c:pt idx="73">
                  <c:v>9</c:v>
                </c:pt>
                <c:pt idx="74">
                  <c:v>7.9</c:v>
                </c:pt>
                <c:pt idx="75">
                  <c:v>6.6</c:v>
                </c:pt>
                <c:pt idx="76">
                  <c:v>6.4</c:v>
                </c:pt>
                <c:pt idx="77">
                  <c:v>9.9</c:v>
                </c:pt>
                <c:pt idx="78">
                  <c:v>6.5</c:v>
                </c:pt>
                <c:pt idx="79">
                  <c:v>9</c:v>
                </c:pt>
                <c:pt idx="80">
                  <c:v>9.1</c:v>
                </c:pt>
                <c:pt idx="81">
                  <c:v>6.8</c:v>
                </c:pt>
                <c:pt idx="82">
                  <c:v>6</c:v>
                </c:pt>
                <c:pt idx="83">
                  <c:v>5.7</c:v>
                </c:pt>
                <c:pt idx="84">
                  <c:v>3.9</c:v>
                </c:pt>
                <c:pt idx="85">
                  <c:v>6.5</c:v>
                </c:pt>
                <c:pt idx="86">
                  <c:v>6.3</c:v>
                </c:pt>
                <c:pt idx="87">
                  <c:v>4.5</c:v>
                </c:pt>
                <c:pt idx="88">
                  <c:v>2.6</c:v>
                </c:pt>
                <c:pt idx="89">
                  <c:v>2</c:v>
                </c:pt>
              </c:numCache>
            </c:numRef>
          </c:xVal>
          <c:yVal>
            <c:numRef>
              <c:f>Sheet1!$C$2:$C$91</c:f>
              <c:numCache>
                <c:formatCode>General</c:formatCode>
                <c:ptCount val="90"/>
                <c:pt idx="0">
                  <c:v/>
                </c:pt>
                <c:pt idx="1">
                  <c:v/>
                </c:pt>
                <c:pt idx="2">
                  <c:v/>
                </c:pt>
                <c:pt idx="3">
                  <c:v/>
                </c:pt>
                <c:pt idx="4">
                  <c:v/>
                </c:pt>
                <c:pt idx="5">
                  <c:v/>
                </c:pt>
                <c:pt idx="6">
                  <c:v/>
                </c:pt>
                <c:pt idx="7">
                  <c:v>3.94</c:v>
                </c:pt>
                <c:pt idx="8">
                  <c:v/>
                </c:pt>
                <c:pt idx="9">
                  <c:v/>
                </c:pt>
                <c:pt idx="10">
                  <c:v/>
                </c:pt>
                <c:pt idx="11">
                  <c:v/>
                </c:pt>
                <c:pt idx="12">
                  <c:v/>
                </c:pt>
                <c:pt idx="13">
                  <c:v/>
                </c:pt>
                <c:pt idx="14">
                  <c:v/>
                </c:pt>
                <c:pt idx="15">
                  <c:v/>
                </c:pt>
                <c:pt idx="16">
                  <c:v>3.18</c:v>
                </c:pt>
                <c:pt idx="17">
                  <c:v/>
                </c:pt>
                <c:pt idx="18">
                  <c:v/>
                </c:pt>
                <c:pt idx="19">
                  <c:v/>
                </c:pt>
                <c:pt idx="20">
                  <c:v/>
                </c:pt>
                <c:pt idx="21">
                  <c:v/>
                </c:pt>
                <c:pt idx="22">
                  <c:v/>
                </c:pt>
                <c:pt idx="23">
                  <c:v/>
                </c:pt>
                <c:pt idx="24">
                  <c:v/>
                </c:pt>
                <c:pt idx="25">
                  <c:v/>
                </c:pt>
                <c:pt idx="26">
                  <c:v/>
                </c:pt>
                <c:pt idx="27">
                  <c:v/>
                </c:pt>
                <c:pt idx="28">
                  <c:v/>
                </c:pt>
                <c:pt idx="29">
                  <c:v/>
                </c:pt>
                <c:pt idx="30">
                  <c:v/>
                </c:pt>
                <c:pt idx="31">
                  <c:v>1.96</c:v>
                </c:pt>
                <c:pt idx="32">
                  <c:v>1.9</c:v>
                </c:pt>
                <c:pt idx="33">
                  <c:v>1.88</c:v>
                </c:pt>
                <c:pt idx="34">
                  <c:v>1.87</c:v>
                </c:pt>
                <c:pt idx="35">
                  <c:v>1.81</c:v>
                </c:pt>
                <c:pt idx="36">
                  <c:v>1.79</c:v>
                </c:pt>
                <c:pt idx="37">
                  <c:v>1.74</c:v>
                </c:pt>
                <c:pt idx="38">
                  <c:v>1.7</c:v>
                </c:pt>
                <c:pt idx="39">
                  <c:v>1.63</c:v>
                </c:pt>
                <c:pt idx="40">
                  <c:v>1.63</c:v>
                </c:pt>
                <c:pt idx="41">
                  <c:v/>
                </c:pt>
                <c:pt idx="42">
                  <c:v>1.45</c:v>
                </c:pt>
                <c:pt idx="43">
                  <c:v>1.39</c:v>
                </c:pt>
                <c:pt idx="44">
                  <c:v>1.38</c:v>
                </c:pt>
                <c:pt idx="45">
                  <c:v>1.37</c:v>
                </c:pt>
                <c:pt idx="46">
                  <c:v/>
                </c:pt>
                <c:pt idx="47">
                  <c:v>1.24</c:v>
                </c:pt>
                <c:pt idx="48">
                  <c:v>1.21</c:v>
                </c:pt>
                <c:pt idx="49">
                  <c:v/>
                </c:pt>
                <c:pt idx="50">
                  <c:v>1.15</c:v>
                </c:pt>
                <c:pt idx="51">
                  <c:v>1.15</c:v>
                </c:pt>
                <c:pt idx="52">
                  <c:v>1.1</c:v>
                </c:pt>
                <c:pt idx="53">
                  <c:v>1.08</c:v>
                </c:pt>
                <c:pt idx="54">
                  <c:v>1.07</c:v>
                </c:pt>
                <c:pt idx="55">
                  <c:v>1.06</c:v>
                </c:pt>
                <c:pt idx="56">
                  <c:v/>
                </c:pt>
                <c:pt idx="57">
                  <c:v>1</c:v>
                </c:pt>
                <c:pt idx="58">
                  <c:v>0.93</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numCache>
            </c:numRef>
          </c:yVal>
          <c:smooth val="0"/>
        </c:ser>
        <c:ser>
          <c:idx val="2"/>
          <c:order val="2"/>
          <c:tx>
            <c:strRef>
              <c:f>Sheet1!$D$1</c:f>
              <c:strCache>
                <c:ptCount val="1"/>
                <c:pt idx="0">
                  <c:v>Pass</c:v>
                </c:pt>
              </c:strCache>
            </c:strRef>
          </c:tx>
          <c:spPr>
            <a:solidFill>
              <a:srgbClr val="8A96A0"/>
            </a:solidFill>
            <a:ln>
              <a:noFill/>
            </a:ln>
            <a:effectLst/>
          </c:spPr>
          <c:marker>
            <c:symbol val="circle"/>
            <c:size val="8"/>
            <c:spPr>
              <a:solidFill>
                <a:srgbClr val="8A96A0"/>
              </a:solidFill>
              <a:ln w="9525" cap="flat">
                <a:solidFill>
                  <a:srgbClr val="8A96A0"/>
                </a:solidFill>
                <a:prstDash val="solid"/>
                <a:round/>
              </a:ln>
              <a:effectLst/>
            </c:spPr>
          </c:marker>
          <c:xVal>
            <c:numRef>
              <c:f>Sheet1!$A$2:$A$91</c:f>
              <c:numCache>
                <c:formatCode>General</c:formatCode>
                <c:ptCount val="90"/>
                <c:pt idx="0">
                  <c:v>52.4</c:v>
                </c:pt>
                <c:pt idx="1">
                  <c:v>82.8</c:v>
                </c:pt>
                <c:pt idx="2">
                  <c:v>43.2</c:v>
                </c:pt>
                <c:pt idx="3">
                  <c:v>36.2</c:v>
                </c:pt>
                <c:pt idx="4">
                  <c:v>64.9</c:v>
                </c:pt>
                <c:pt idx="5">
                  <c:v>24.4</c:v>
                </c:pt>
                <c:pt idx="6">
                  <c:v>53.1</c:v>
                </c:pt>
                <c:pt idx="7">
                  <c:v>62.3</c:v>
                </c:pt>
                <c:pt idx="8">
                  <c:v>37.2</c:v>
                </c:pt>
                <c:pt idx="9">
                  <c:v>36.3</c:v>
                </c:pt>
                <c:pt idx="10">
                  <c:v>37.1</c:v>
                </c:pt>
                <c:pt idx="11">
                  <c:v>39.2</c:v>
                </c:pt>
                <c:pt idx="12">
                  <c:v>41.4</c:v>
                </c:pt>
                <c:pt idx="13">
                  <c:v>38</c:v>
                </c:pt>
                <c:pt idx="14">
                  <c:v>52.9</c:v>
                </c:pt>
                <c:pt idx="15">
                  <c:v>24.9</c:v>
                </c:pt>
                <c:pt idx="16">
                  <c:v>43.3</c:v>
                </c:pt>
                <c:pt idx="17">
                  <c:v>45.6</c:v>
                </c:pt>
                <c:pt idx="18">
                  <c:v>36.1</c:v>
                </c:pt>
                <c:pt idx="19">
                  <c:v>35.3</c:v>
                </c:pt>
                <c:pt idx="20">
                  <c:v>30</c:v>
                </c:pt>
                <c:pt idx="21">
                  <c:v>24.3</c:v>
                </c:pt>
                <c:pt idx="22">
                  <c:v>22.7</c:v>
                </c:pt>
                <c:pt idx="23">
                  <c:v>27.6</c:v>
                </c:pt>
                <c:pt idx="24">
                  <c:v>39.4</c:v>
                </c:pt>
                <c:pt idx="25">
                  <c:v>30.8</c:v>
                </c:pt>
                <c:pt idx="26">
                  <c:v>31.4</c:v>
                </c:pt>
                <c:pt idx="27">
                  <c:v>27.6</c:v>
                </c:pt>
                <c:pt idx="28">
                  <c:v>27</c:v>
                </c:pt>
                <c:pt idx="29">
                  <c:v>49.4</c:v>
                </c:pt>
                <c:pt idx="30">
                  <c:v>28.8</c:v>
                </c:pt>
                <c:pt idx="31">
                  <c:v>43.1</c:v>
                </c:pt>
                <c:pt idx="32">
                  <c:v>41.8</c:v>
                </c:pt>
                <c:pt idx="33">
                  <c:v>18.2</c:v>
                </c:pt>
                <c:pt idx="34">
                  <c:v>23.2</c:v>
                </c:pt>
                <c:pt idx="35">
                  <c:v>33.3</c:v>
                </c:pt>
                <c:pt idx="36">
                  <c:v>18.3</c:v>
                </c:pt>
                <c:pt idx="37">
                  <c:v>23.9</c:v>
                </c:pt>
                <c:pt idx="38">
                  <c:v>32.1</c:v>
                </c:pt>
                <c:pt idx="39">
                  <c:v>33.3</c:v>
                </c:pt>
                <c:pt idx="40">
                  <c:v>32.8</c:v>
                </c:pt>
                <c:pt idx="41">
                  <c:v>22.8</c:v>
                </c:pt>
                <c:pt idx="42">
                  <c:v>26.8</c:v>
                </c:pt>
                <c:pt idx="43">
                  <c:v>14.8</c:v>
                </c:pt>
                <c:pt idx="44">
                  <c:v>24.1</c:v>
                </c:pt>
                <c:pt idx="45">
                  <c:v>25.1</c:v>
                </c:pt>
                <c:pt idx="46">
                  <c:v>10.5</c:v>
                </c:pt>
                <c:pt idx="47">
                  <c:v>25.1</c:v>
                </c:pt>
                <c:pt idx="48">
                  <c:v>13.9</c:v>
                </c:pt>
                <c:pt idx="49">
                  <c:v>11.7</c:v>
                </c:pt>
                <c:pt idx="50">
                  <c:v>19.8</c:v>
                </c:pt>
                <c:pt idx="51">
                  <c:v>17.5</c:v>
                </c:pt>
                <c:pt idx="52">
                  <c:v>15.9</c:v>
                </c:pt>
                <c:pt idx="53">
                  <c:v>17</c:v>
                </c:pt>
                <c:pt idx="54">
                  <c:v>20.4</c:v>
                </c:pt>
                <c:pt idx="55">
                  <c:v>18.7</c:v>
                </c:pt>
                <c:pt idx="56">
                  <c:v>11.6</c:v>
                </c:pt>
                <c:pt idx="57">
                  <c:v>20.7</c:v>
                </c:pt>
                <c:pt idx="58">
                  <c:v>14.2</c:v>
                </c:pt>
                <c:pt idx="59">
                  <c:v>8.9</c:v>
                </c:pt>
                <c:pt idx="60">
                  <c:v>11.7</c:v>
                </c:pt>
                <c:pt idx="61">
                  <c:v>17.6</c:v>
                </c:pt>
                <c:pt idx="62">
                  <c:v>11.4</c:v>
                </c:pt>
                <c:pt idx="63">
                  <c:v>10.6</c:v>
                </c:pt>
                <c:pt idx="64">
                  <c:v>10.6</c:v>
                </c:pt>
                <c:pt idx="65">
                  <c:v>12.1</c:v>
                </c:pt>
                <c:pt idx="66">
                  <c:v>8.9</c:v>
                </c:pt>
                <c:pt idx="67">
                  <c:v>12.4</c:v>
                </c:pt>
                <c:pt idx="68">
                  <c:v>8.3</c:v>
                </c:pt>
                <c:pt idx="69">
                  <c:v>14.9</c:v>
                </c:pt>
                <c:pt idx="70">
                  <c:v>8.5</c:v>
                </c:pt>
                <c:pt idx="71">
                  <c:v>8.8</c:v>
                </c:pt>
                <c:pt idx="72">
                  <c:v>5.8</c:v>
                </c:pt>
                <c:pt idx="73">
                  <c:v>9</c:v>
                </c:pt>
                <c:pt idx="74">
                  <c:v>7.9</c:v>
                </c:pt>
                <c:pt idx="75">
                  <c:v>6.6</c:v>
                </c:pt>
                <c:pt idx="76">
                  <c:v>6.4</c:v>
                </c:pt>
                <c:pt idx="77">
                  <c:v>9.9</c:v>
                </c:pt>
                <c:pt idx="78">
                  <c:v>6.5</c:v>
                </c:pt>
                <c:pt idx="79">
                  <c:v>9</c:v>
                </c:pt>
                <c:pt idx="80">
                  <c:v>9.1</c:v>
                </c:pt>
                <c:pt idx="81">
                  <c:v>6.8</c:v>
                </c:pt>
                <c:pt idx="82">
                  <c:v>6</c:v>
                </c:pt>
                <c:pt idx="83">
                  <c:v>5.7</c:v>
                </c:pt>
                <c:pt idx="84">
                  <c:v>3.9</c:v>
                </c:pt>
                <c:pt idx="85">
                  <c:v>6.5</c:v>
                </c:pt>
                <c:pt idx="86">
                  <c:v>6.3</c:v>
                </c:pt>
                <c:pt idx="87">
                  <c:v>4.5</c:v>
                </c:pt>
                <c:pt idx="88">
                  <c:v>2.6</c:v>
                </c:pt>
                <c:pt idx="89">
                  <c:v>2</c:v>
                </c:pt>
              </c:numCache>
            </c:numRef>
          </c:xVal>
          <c:yVal>
            <c:numRef>
              <c:f>Sheet1!$D$2:$D$91</c:f>
              <c:numCache>
                <c:formatCode>General</c:formatCode>
                <c:ptCount val="9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1.47</c:v>
                </c:pt>
                <c:pt idx="42">
                  <c:v/>
                </c:pt>
                <c:pt idx="43">
                  <c:v/>
                </c:pt>
                <c:pt idx="44">
                  <c:v/>
                </c:pt>
                <c:pt idx="45">
                  <c:v/>
                </c:pt>
                <c:pt idx="46">
                  <c:v>1.28</c:v>
                </c:pt>
                <c:pt idx="47">
                  <c:v/>
                </c:pt>
                <c:pt idx="48">
                  <c:v/>
                </c:pt>
                <c:pt idx="49">
                  <c:v>1.17</c:v>
                </c:pt>
                <c:pt idx="50">
                  <c:v/>
                </c:pt>
                <c:pt idx="51">
                  <c:v/>
                </c:pt>
                <c:pt idx="52">
                  <c:v/>
                </c:pt>
                <c:pt idx="53">
                  <c:v/>
                </c:pt>
                <c:pt idx="54">
                  <c:v/>
                </c:pt>
                <c:pt idx="55">
                  <c:v/>
                </c:pt>
                <c:pt idx="56">
                  <c:v>1.06</c:v>
                </c:pt>
                <c:pt idx="57">
                  <c:v/>
                </c:pt>
                <c:pt idx="58">
                  <c:v/>
                </c:pt>
                <c:pt idx="59">
                  <c:v>0.9</c:v>
                </c:pt>
                <c:pt idx="60">
                  <c:v>0.9</c:v>
                </c:pt>
                <c:pt idx="61">
                  <c:v>0.85</c:v>
                </c:pt>
                <c:pt idx="62">
                  <c:v>0.8</c:v>
                </c:pt>
                <c:pt idx="63">
                  <c:v>0.76</c:v>
                </c:pt>
                <c:pt idx="64">
                  <c:v>0.73</c:v>
                </c:pt>
                <c:pt idx="65">
                  <c:v>0.73</c:v>
                </c:pt>
                <c:pt idx="66">
                  <c:v>0.7</c:v>
                </c:pt>
                <c:pt idx="67">
                  <c:v>0.69</c:v>
                </c:pt>
                <c:pt idx="68">
                  <c:v>0.67</c:v>
                </c:pt>
                <c:pt idx="69">
                  <c:v>0.65</c:v>
                </c:pt>
                <c:pt idx="70">
                  <c:v>0.64</c:v>
                </c:pt>
                <c:pt idx="71">
                  <c:v>0.64</c:v>
                </c:pt>
                <c:pt idx="72">
                  <c:v>0.58</c:v>
                </c:pt>
                <c:pt idx="73">
                  <c:v>0.55</c:v>
                </c:pt>
                <c:pt idx="74">
                  <c:v>0.5</c:v>
                </c:pt>
                <c:pt idx="75">
                  <c:v>0.49</c:v>
                </c:pt>
                <c:pt idx="76">
                  <c:v>0.48</c:v>
                </c:pt>
                <c:pt idx="77">
                  <c:v>0.46</c:v>
                </c:pt>
                <c:pt idx="78">
                  <c:v>0.46</c:v>
                </c:pt>
                <c:pt idx="79">
                  <c:v>0.46</c:v>
                </c:pt>
                <c:pt idx="80">
                  <c:v>0.43</c:v>
                </c:pt>
                <c:pt idx="81">
                  <c:v>0.4</c:v>
                </c:pt>
                <c:pt idx="82">
                  <c:v>0.36</c:v>
                </c:pt>
                <c:pt idx="83">
                  <c:v>0.32</c:v>
                </c:pt>
                <c:pt idx="84">
                  <c:v>0.29</c:v>
                </c:pt>
                <c:pt idx="85">
                  <c:v>0.29</c:v>
                </c:pt>
                <c:pt idx="86">
                  <c:v>0.28</c:v>
                </c:pt>
                <c:pt idx="87">
                  <c:v>0.2</c:v>
                </c:pt>
                <c:pt idx="88">
                  <c:v>0.11</c:v>
                </c:pt>
                <c:pt idx="89">
                  <c:v>0.09</c:v>
                </c:pt>
              </c:numCache>
            </c:numRef>
          </c:yVal>
          <c:smooth val="0"/>
        </c:ser>
        <c:dLbls>
          <c:numFmt formatCode="General" sourceLinked="0"/>
          <c:txPr>
            <a:bodyPr/>
            <a:lstStyle/>
            <a:p>
              <a:pPr>
                <a:defRPr b="0" i="0" strike="noStrike" sz="900" u="none">
                  <a:solidFill>
                    <a:srgbClr val="4A566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900" b="0" i="0" u="none" strike="noStrike">
                    <a:solidFill>
                      <a:srgbClr val="4A5660"/>
                    </a:solidFill>
                    <a:latin typeface="+mn-lt"/>
                  </a:defRPr>
                </a:pPr>
                <a:r>
                  <a:rPr sz="900" b="0" i="0" u="none" strike="noStrike">
                    <a:solidFill>
                      <a:srgbClr val="4A5660"/>
                    </a:solidFill>
                    <a:latin typeface="+mn-lt"/>
                  </a:rPr>
                  <a:t>win odds (%)</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50" b="0" i="0" u="none" strike="noStrike">
                <a:solidFill>
                  <a:srgbClr val="4A5660"/>
                </a:solidFill>
                <a:latin typeface="+mn-lt"/>
              </a:defRPr>
            </a:pPr>
            <a:endParaRPr lang="en-US"/>
          </a:p>
        </c:txPr>
        <c:crossAx val="2094734552"/>
        <c:crosses val="autoZero"/>
        <c:auto val="1"/>
        <c:lblAlgn val="ctr"/>
        <c:noMultiLvlLbl val="1"/>
      </c:valAx>
      <c:valAx>
        <c:axId val="2094734552"/>
        <c:scaling>
          <c:orientation val="minMax"/>
          <c:min val="0"/>
        </c:scaling>
        <c:delete val="0"/>
        <c:axPos val="l"/>
        <c:majorGridlines>
          <c:spPr>
            <a:ln w="6350" cap="flat">
              <a:solidFill>
                <a:srgbClr val="D5DBDF"/>
              </a:solidFill>
              <a:prstDash val="solid"/>
              <a:round/>
            </a:ln>
          </c:spPr>
        </c:majorGridlines>
        <c:title>
          <c:tx>
            <c:rich>
              <a:bodyPr/>
              <a:lstStyle/>
              <a:p>
                <a:pPr>
                  <a:defRPr sz="900" b="0" i="0" u="none" strike="noStrike">
                    <a:solidFill>
                      <a:srgbClr val="4A5660"/>
                    </a:solidFill>
                    <a:latin typeface="+mn-lt"/>
                  </a:defRPr>
                </a:pPr>
                <a:r>
                  <a:rPr sz="900" b="0" i="0" u="none" strike="noStrike">
                    <a:solidFill>
                      <a:srgbClr val="4A5660"/>
                    </a:solidFill>
                    <a:latin typeface="+mn-lt"/>
                  </a:rPr>
                  <a:t>expected value per estimating hour ($k)</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midCat"/>
      </c:valAx>
      <c:spPr>
        <a:noFill/>
        <a:ln>
          <a:noFill/>
        </a:ln>
        <a:effectLst/>
      </c:spPr>
    </c:plotArea>
    <c:legend>
      <c:legendPos val="t"/>
      <c:overlay val="0"/>
      <c:txPr>
        <a:bodyPr/>
        <a:lstStyle/>
        <a:p>
          <a:pPr>
            <a:defRPr sz="950">
              <a:solidFill>
                <a:srgbClr val="4A566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Effect on log-odds per standard deviation</c:v>
                </c:pt>
              </c:strCache>
            </c:strRef>
          </c:tx>
          <c:spPr>
            <a:solidFill>
              <a:srgbClr val="2A78D6"/>
            </a:solidFill>
            <a:effectLst/>
          </c:spPr>
          <c:invertIfNegative val="0"/>
          <c:dLbls>
            <c:numFmt formatCode="0.00"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EB6834"/>
              </a:solidFill>
              <a:effectLst/>
            </c:spPr>
          </c:dPt>
          <c:dPt>
            <c:idx val="3"/>
            <c:invertIfNegative val="0"/>
            <c:bubble3D val="0"/>
            <c:spPr>
              <a:solidFill>
                <a:srgbClr val="EB6834"/>
              </a:solidFill>
              <a:effectLst/>
            </c:spPr>
          </c:dPt>
          <c:dPt>
            <c:idx val="4"/>
            <c:invertIfNegative val="0"/>
            <c:bubble3D val="0"/>
            <c:spPr>
              <a:solidFill>
                <a:srgbClr val="EB6834"/>
              </a:solidFill>
              <a:effectLst/>
            </c:spPr>
          </c:dPt>
          <c:dPt>
            <c:idx val="5"/>
            <c:invertIfNegative val="0"/>
            <c:bubble3D val="0"/>
            <c:spPr>
              <a:solidFill>
                <a:srgbClr val="EB6834"/>
              </a:solidFill>
              <a:effectLst/>
            </c:spPr>
          </c:dPt>
          <c:dPt>
            <c:idx val="6"/>
            <c:invertIfNegative val="0"/>
            <c:bubble3D val="0"/>
            <c:spPr>
              <a:solidFill>
                <a:srgbClr val="EB6834"/>
              </a:solidFill>
              <a:effectLst/>
            </c:spPr>
          </c:dPt>
          <c:dPt>
            <c:idx val="7"/>
            <c:invertIfNegative val="0"/>
            <c:bubble3D val="0"/>
            <c:spPr>
              <a:solidFill>
                <a:srgbClr val="2A78D6"/>
              </a:solidFill>
              <a:effectLst/>
            </c:spPr>
          </c:dPt>
          <c:dPt>
            <c:idx val="8"/>
            <c:invertIfNegative val="0"/>
            <c:bubble3D val="0"/>
            <c:spPr>
              <a:solidFill>
                <a:srgbClr val="EB6834"/>
              </a:solidFill>
              <a:effectLst/>
            </c:spPr>
          </c:dPt>
          <c:dPt>
            <c:idx val="9"/>
            <c:invertIfNegative val="0"/>
            <c:bubble3D val="0"/>
            <c:spPr>
              <a:solidFill>
                <a:srgbClr val="EB6834"/>
              </a:solidFill>
              <a:effectLst/>
            </c:spPr>
          </c:dPt>
          <c:dPt>
            <c:idx val="10"/>
            <c:invertIfNegative val="0"/>
            <c:bubble3D val="0"/>
            <c:spPr>
              <a:solidFill>
                <a:srgbClr val="EB6834"/>
              </a:solidFill>
              <a:effectLst/>
            </c:spPr>
          </c:dPt>
          <c:dPt>
            <c:idx val="11"/>
            <c:invertIfNegative val="0"/>
            <c:bubble3D val="0"/>
            <c:spPr>
              <a:solidFill>
                <a:srgbClr val="EB6834"/>
              </a:solidFill>
              <a:effectLst/>
            </c:spPr>
          </c:dPt>
          <c:cat>
            <c:multiLvlStrRef>
              <c:f>Sheet1!$A$2:$A$13</c:f>
              <c:multiLvlStrCache>
                <c:ptCount val="12"/>
                <c:lvl>
                  <c:pt idx="0">
                    <c:v>project type: municipal</c:v>
                  </c:pt>
                  <c:pt idx="1">
                    <c:v>project type: hospitality</c:v>
                  </c:pt>
                  <c:pt idx="2">
                    <c:v>project type: office</c:v>
                  </c:pt>
                  <c:pt idx="3">
                    <c:v>fab + erect scope</c:v>
                  </c:pt>
                  <c:pt idx="4">
                    <c:v>project type: higher ed</c:v>
                  </c:pt>
                  <c:pt idx="5">
                    <c:v>tonnage</c:v>
                  </c:pt>
                  <c:pt idx="6">
                    <c:v>project type: multifamily</c:v>
                  </c:pt>
                  <c:pt idx="7">
                    <c:v>delivery: negotiated</c:v>
                  </c:pt>
                  <c:pt idx="8">
                    <c:v>complexity</c:v>
                  </c:pt>
                  <c:pt idx="9">
                    <c:v>markup</c:v>
                  </c:pt>
                  <c:pt idx="10">
                    <c:v>distance (per 100 mi)</c:v>
                  </c:pt>
                  <c:pt idx="11">
                    <c:v>number of bidders</c:v>
                  </c:pt>
                </c:lvl>
              </c:multiLvlStrCache>
            </c:multiLvlStrRef>
          </c:cat>
          <c:val>
            <c:numRef>
              <c:f>Sheet1!$B$2:$B$13</c:f>
              <c:numCache>
                <c:formatCode>General</c:formatCode>
                <c:ptCount val="12"/>
                <c:pt idx="0">
                  <c:v>0.16</c:v>
                </c:pt>
                <c:pt idx="1">
                  <c:v>-0.16</c:v>
                </c:pt>
                <c:pt idx="2">
                  <c:v>-0.16</c:v>
                </c:pt>
                <c:pt idx="3">
                  <c:v>-0.17</c:v>
                </c:pt>
                <c:pt idx="4">
                  <c:v>-0.19</c:v>
                </c:pt>
                <c:pt idx="5">
                  <c:v>-0.23</c:v>
                </c:pt>
                <c:pt idx="6">
                  <c:v>-0.27</c:v>
                </c:pt>
                <c:pt idx="7">
                  <c:v>0.32</c:v>
                </c:pt>
                <c:pt idx="8">
                  <c:v>-0.38</c:v>
                </c:pt>
                <c:pt idx="9">
                  <c:v>-0.5</c:v>
                </c:pt>
                <c:pt idx="10">
                  <c:v>-0.5</c:v>
                </c:pt>
                <c:pt idx="11">
                  <c:v>-0.62</c:v>
                </c:pt>
              </c:numCache>
            </c:numRef>
          </c:val>
        </c:ser>
        <c:dLbls>
          <c:numFmt formatCode="0.00"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0.6"/>
          <c:min val="-0.9"/>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660"/>
                </a:solidFill>
                <a:latin typeface="+mn-lt"/>
              </a:defRPr>
            </a:pPr>
            <a:r>
              <a:rPr sz="1000" b="0" i="0" u="none" strike="noStrike">
                <a:solidFill>
                  <a:srgbClr val="4A5660"/>
                </a:solidFill>
                <a:latin typeface="+mn-lt"/>
              </a:rPr>
              <a:t>Bids grouped from lowest to highest predicted odds</a:t>
            </a:r>
          </a:p>
        </c:rich>
      </c:tx>
      <c:layout/>
      <c:overlay val="0"/>
    </c:title>
    <c:autoTitleDeleted val="0"/>
    <c:plotArea>
      <c:layout/>
      <c:barChart>
        <c:barDir val="col"/>
        <c:grouping val="clustered"/>
        <c:varyColors val="0"/>
        <c:ser>
          <c:idx val="0"/>
          <c:order val="0"/>
          <c:tx>
            <c:strRef>
              <c:f>Sheet1!$B$1</c:f>
              <c:strCache>
                <c:ptCount val="1"/>
                <c:pt idx="0">
                  <c:v>Predicted win odds</c:v>
                </c:pt>
              </c:strCache>
            </c:strRef>
          </c:tx>
          <c:spPr>
            <a:solidFill>
              <a:srgbClr val="2A78D6"/>
            </a:solidFill>
            <a:effectLst/>
          </c:spPr>
          <c:invertIfNegative val="0"/>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cat>
            <c:multiLvlStrRef>
              <c:f>Sheet1!$A$2:$A$6</c:f>
              <c:multiLvlStrCache>
                <c:ptCount val="5"/>
                <c:lvl>
                  <c:pt idx="0">
                    <c:v>Group 1 (n=20)</c:v>
                  </c:pt>
                  <c:pt idx="1">
                    <c:v>Group 2 (n=20)</c:v>
                  </c:pt>
                  <c:pt idx="2">
                    <c:v>Group 3 (n=20)</c:v>
                  </c:pt>
                  <c:pt idx="3">
                    <c:v>Group 4 (n=20)</c:v>
                  </c:pt>
                  <c:pt idx="4">
                    <c:v>Group 5 (n=20)</c:v>
                  </c:pt>
                </c:lvl>
              </c:multiLvlStrCache>
            </c:multiLvlStrRef>
          </c:cat>
          <c:val>
            <c:numRef>
              <c:f>Sheet1!$B$2:$B$6</c:f>
              <c:numCache>
                <c:formatCode>General</c:formatCode>
                <c:ptCount val="5"/>
                <c:pt idx="0">
                  <c:v>3</c:v>
                </c:pt>
                <c:pt idx="1">
                  <c:v>9</c:v>
                </c:pt>
                <c:pt idx="2">
                  <c:v>20</c:v>
                </c:pt>
                <c:pt idx="3">
                  <c:v>33</c:v>
                </c:pt>
                <c:pt idx="4">
                  <c:v>59</c:v>
                </c:pt>
              </c:numCache>
            </c:numRef>
          </c:val>
        </c:ser>
        <c:ser>
          <c:idx val="1"/>
          <c:order val="1"/>
          <c:tx>
            <c:strRef>
              <c:f>Sheet1!$C$1</c:f>
              <c:strCache>
                <c:ptCount val="1"/>
                <c:pt idx="0">
                  <c:v>Actually won</c:v>
                </c:pt>
              </c:strCache>
            </c:strRef>
          </c:tx>
          <c:spPr>
            <a:solidFill>
              <a:srgbClr val="EB6834"/>
            </a:solidFill>
            <a:effectLst/>
          </c:spPr>
          <c:invertIfNegative val="0"/>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cat>
            <c:multiLvlStrRef>
              <c:f>Sheet1!$A$2:$A$6</c:f>
              <c:multiLvlStrCache>
                <c:ptCount val="5"/>
                <c:lvl>
                  <c:pt idx="0">
                    <c:v>Group 1 (n=20)</c:v>
                  </c:pt>
                  <c:pt idx="1">
                    <c:v>Group 2 (n=20)</c:v>
                  </c:pt>
                  <c:pt idx="2">
                    <c:v>Group 3 (n=20)</c:v>
                  </c:pt>
                  <c:pt idx="3">
                    <c:v>Group 4 (n=20)</c:v>
                  </c:pt>
                  <c:pt idx="4">
                    <c:v>Group 5 (n=20)</c:v>
                  </c:pt>
                </c:lvl>
              </c:multiLvlStrCache>
            </c:multiLvlStrRef>
          </c:cat>
          <c:val>
            <c:numRef>
              <c:f>Sheet1!$C$2:$C$6</c:f>
              <c:numCache>
                <c:formatCode>General</c:formatCode>
                <c:ptCount val="5"/>
                <c:pt idx="0">
                  <c:v>0</c:v>
                </c:pt>
                <c:pt idx="1">
                  <c:v>25</c:v>
                </c:pt>
                <c:pt idx="2">
                  <c:v>20</c:v>
                </c:pt>
                <c:pt idx="3">
                  <c:v>50</c:v>
                </c:pt>
                <c:pt idx="4">
                  <c:v>50</c:v>
                </c:pt>
              </c:numCache>
            </c:numRef>
          </c:val>
        </c:ser>
        <c:dLbls>
          <c:numFmt formatCode="0&quot;%&quot;" sourceLinked="0"/>
          <c:txPr>
            <a:bodyPr/>
            <a:lstStyle/>
            <a:p>
              <a:pPr>
                <a:defRPr b="0" i="0" strike="noStrike" sz="900" u="none">
                  <a:solidFill>
                    <a:srgbClr val="4A566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A5660"/>
                </a:solidFill>
                <a:latin typeface="+mn-lt"/>
              </a:defRPr>
            </a:pPr>
            <a:endParaRPr lang="en-US"/>
          </a:p>
        </c:txPr>
        <c:crossAx val="2094734552"/>
        <c:crosses val="autoZero"/>
        <c:auto val="1"/>
        <c:lblAlgn val="ctr"/>
        <c:noMultiLvlLbl val="1"/>
      </c:catAx>
      <c:valAx>
        <c:axId val="2094734552"/>
        <c:scaling>
          <c:orientation val="minMax"/>
          <c:max val="7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950">
              <a:solidFill>
                <a:srgbClr val="4A5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 version of the executive deck. Same data, every section of the report, plus how the scorecard math works and what it takes to run it on real data. 40 to 45 minutes with questions. The synthetic-data note is on this slide only; say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If time is short, parts 2 and 3 are the heart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map directly to the Data and Technology list in the posting: hit rates, customer-specific performance, pricing feedback, estimated versus actual, bid/no-bid.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arrows run both ways: decisions feed back into the data. That is the whole point of logging overrides.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exotic. Most shops have four of these five in three different places. The pipeline table is the one business development builds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six numbers as the executive deck. Orange ones are the two an owner feels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two lines: if dollar hit rate falls below count hit rate, we are winning the small stuff and losing the big stuff.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how often we win. Right: the return on the estimating team's time, which is the number that should drive where the hours go. Retail wins often but returns little per hour because the jobs are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in brackets are decided bids, so the audience can see which bars are thin.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gap by delivery method: Hard bid 10.8%, CM at risk 9.1%, Negotiated 10%, Design-build 7.8%. Feedback coverage is itself a KPI: 62%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by value won. The class is a first cut for account planning; the business development lead adjusts it by hand with what they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A, grey B, orange C. The scorecard's customer prior does the same thing numerically for every upcoming bid.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Dollar-weighted. Gross margin here is before overhead, so it is comparable between estimate and close-out.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estimating manager. The complexity grade is a one-click field on the intake form and it predicts the overrun.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business-development target in tons rather than in vibes. It also tells the shop when to plan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inputs, one line of arithmetic. Thresholds are relative to our own history so they move with the business, not with a number someone typed in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arithmetic on both. The Pass is a warehouse job we would like, from a GC we know, but at 11% odds on a hard bid the expected return on the estimating hours is half what those hours usually 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upcoming project. Right and high is where the estimating hours should go. The Pass cluster at low odds is mostly healthcare, hospitality and hard bids against price shoppers.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one Pursue and one Review row aloud with the Why column. The language is deliberately 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are plain if-statements in one file. The estimating manager should own them, not the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Standardised coefficients from a ridge logistic regression, so effects are comparable across features. Project-type effects are noisy with 300 bids; the GC history term does most of the relationship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slide. The model is clearly better than guessing and clearly not perfect; the sample history itself caps achievable accuracy around 0.75 because bidding is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does not change. The sample loader is replaced by one pointed at real extracts.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Intake first, numbers second, scorecard third. The slow part is phone calls, not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takeoff-tool point matters: we would know whether it pays because we already measure hours per bid by project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these out loud is what earns the estimators'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same every month, so the trend is what people look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PDF, the demo, and the 90-day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4630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ph idx="101" type="body" hasCustomPrompt="1"/>
          </p:nvPr>
        </p:nvSpPr>
        <p:spPr>
          <a:xfrm>
            <a:off x="640080" y="2971800"/>
            <a:ext cx="7863840" cy="1188720"/>
          </a:xfrm>
          <a:prstGeom prst="rect">
            <a:avLst/>
          </a:prstGeom>
          <a:noFill/>
          <a:ln/>
        </p:spPr>
        <p:txBody>
          <a:bodyPr wrap="square" rtlCol="0"/>
          <a:lstStyle>
            <a:lvl1pPr indent="0" marL="0">
              <a:buNone/>
              <a:defRPr lang="en-US" sz="1700" dirty="0">
                <a:solidFill>
                  <a:schemeClr val="accent6"/>
                </a:solidFill>
              </a:defRPr>
            </a:lvl1pPr>
          </a:lstStyle>
          <a:p>
            <a:pP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A566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863840" cy="91440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3" name="Text 0"/>
          <p:cNvSpPr/>
          <p:nvPr>
            <p:ph idx="101" type="body" hasCustomPrompt="1"/>
          </p:nvPr>
        </p:nvSpPr>
        <p:spPr>
          <a:xfrm>
            <a:off x="640080" y="2788920"/>
            <a:ext cx="7863840" cy="82296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3" name="Text 0"/>
          <p:cNvSpPr/>
          <p:nvPr/>
        </p:nvSpPr>
        <p:spPr>
          <a:xfrm>
            <a:off x="457200" y="4773168"/>
            <a:ext cx="6858000" cy="256032"/>
          </a:xfrm>
          <a:prstGeom prst="rect">
            <a:avLst/>
          </a:prstGeom>
          <a:noFill/>
          <a:ln/>
        </p:spPr>
        <p:txBody>
          <a:bodyPr wrap="square" lIns="0" tIns="0" rIns="0" bIns="0" rtlCol="0" anchor="ctr"/>
          <a:lstStyle/>
          <a:p>
            <a:pPr indent="0" marL="0">
              <a:buNone/>
            </a:pPr>
            <a:r>
              <a:rPr lang="en-US" sz="850" dirty="0">
                <a:solidFill>
                  <a:schemeClr val="accent5"/>
                </a:solidFill>
              </a:rPr>
              <a:t>Weibee Steel  |  Bid intelligence, in depth</a:t>
            </a:r>
            <a:endParaRPr lang="en-US" sz="8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chart" Target="/ppt/charts/chart6.xml"/><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4.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463040"/>
          </a:xfrm>
          <a:prstGeom prst="rect">
            <a:avLst/>
          </a:prstGeom>
          <a:noFill/>
          <a:ln/>
        </p:spPr>
        <p:txBody>
          <a:bodyPr wrap="square" lIns="0" tIns="0" rIns="0" bIns="0" rtlCol="0" anchor="b"/>
          <a:lstStyle/>
          <a:p>
            <a:pPr indent="0" marL="0">
              <a:buNone/>
            </a:pPr>
            <a:r>
              <a:rPr lang="en-US" sz="3600" b="1" dirty="0">
                <a:solidFill>
                  <a:schemeClr val="bg1"/>
                </a:solidFill>
              </a:rPr>
              <a:t>Bid intelligence for Weibee Steel: the full walk-through</a:t>
            </a:r>
            <a:endParaRPr lang="en-US" sz="3600" dirty="0"/>
          </a:p>
        </p:txBody>
      </p:sp>
      <p:sp>
        <p:nvSpPr>
          <p:cNvPr id="3" name="Text 0"/>
          <p:cNvSpPr/>
          <p:nvPr>
            <p:ph idx="101" type="body" hasCustomPrompt="1"/>
          </p:nvPr>
        </p:nvSpPr>
        <p:spPr>
          <a:xfrm>
            <a:off x="640080" y="2971800"/>
            <a:ext cx="7863840" cy="1188720"/>
          </a:xfrm>
          <a:prstGeom prst="rect">
            <a:avLst/>
          </a:prstGeom>
          <a:noFill/>
          <a:ln/>
        </p:spPr>
        <p:txBody>
          <a:bodyPr wrap="square" lIns="0" tIns="0" rIns="0" bIns="0" rtlCol="0" anchor="t"/>
          <a:lstStyle/>
          <a:p>
            <a:pPr indent="0" marL="0">
              <a:buNone/>
            </a:pPr>
            <a:r>
              <a:rPr lang="en-US" sz="1700" dirty="0">
                <a:solidFill>
                  <a:schemeClr val="accent6"/>
                </a:solidFill>
              </a:rPr>
              <a:t>Where we win, what the work actually earns, and which of the next two years' opportunities deserve estimating hours. 413 bids, 36 general contractors, 90 upcoming projects.</a:t>
            </a:r>
            <a:endParaRPr lang="en-US" sz="1700" dirty="0"/>
          </a:p>
        </p:txBody>
      </p:sp>
      <p:sp>
        <p:nvSpPr>
          <p:cNvPr id="4" name="synthetic note"/>
          <p:cNvSpPr txBox="1"/>
          <p:nvPr/>
        </p:nvSpPr>
        <p:spPr>
          <a:xfrm>
            <a:off x="640080" y="3703320"/>
            <a:ext cx="7863840" cy="548640"/>
          </a:xfrm>
          <a:prstGeom prst="rect">
            <a:avLst/>
          </a:prstGeom>
          <a:noFill/>
          <a:ln/>
        </p:spPr>
        <p:txBody>
          <a:bodyPr wrap="square" lIns="0" tIns="0" rIns="0" bIns="0" rtlCol="0" anchor="ctr"/>
          <a:lstStyle/>
          <a:p>
            <a:pPr indent="0" marL="0">
              <a:buNone/>
            </a:pPr>
            <a:r>
              <a:rPr lang="en-US" sz="1200" i="1" dirty="0">
                <a:solidFill>
                  <a:schemeClr val="accent4"/>
                </a:solidFill>
              </a:rPr>
              <a:t>Made from synthetic data. Every number in this deck comes from a generated bid history built to behave like a mid-size fabricator; none of it is Weibee Steel's data. The method runs unchanged on real history.</a:t>
            </a:r>
            <a:endParaRPr lang="en-US" sz="1200" dirty="0"/>
          </a:p>
        </p:txBody>
      </p:sp>
      <p:sp>
        <p:nvSpPr>
          <p:cNvPr id="5" name="byline"/>
          <p:cNvSpPr txBox="1"/>
          <p:nvPr/>
        </p:nvSpPr>
        <p:spPr>
          <a:xfrm>
            <a:off x="640080" y="4297680"/>
            <a:ext cx="7863840" cy="365760"/>
          </a:xfrm>
          <a:prstGeom prst="rect">
            <a:avLst/>
          </a:prstGeom>
          <a:noFill/>
          <a:ln/>
        </p:spPr>
        <p:txBody>
          <a:bodyPr wrap="square" lIns="0" tIns="0" rIns="0" bIns="0" rtlCol="0" anchor="ctr"/>
          <a:lstStyle/>
          <a:p>
            <a:pPr indent="0" marL="0">
              <a:buNone/>
            </a:pPr>
            <a:r>
              <a:rPr lang="en-US" sz="1200" dirty="0">
                <a:solidFill>
                  <a:schemeClr val="accent5"/>
                </a:solidFill>
              </a:rPr>
              <a:t>Deepak Reddy  |  Business Development Associate candidate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What this deck covers</a:t>
            </a:r>
            <a:endParaRPr lang="en-US" sz="2400" dirty="0"/>
          </a:p>
        </p:txBody>
      </p:sp>
      <p:sp>
        <p:nvSpPr>
          <p:cNvPr id="3" name="agenda num circle"/>
          <p:cNvSpPr/>
          <p:nvPr/>
        </p:nvSpPr>
        <p:spPr>
          <a:xfrm>
            <a:off x="548640" y="1216152"/>
            <a:ext cx="475488" cy="475488"/>
          </a:xfrm>
          <a:prstGeom prst="ellipse">
            <a:avLst/>
          </a:prstGeom>
          <a:solidFill>
            <a:schemeClr val="accent2"/>
          </a:solidFill>
          <a:ln w="12700">
            <a:solidFill>
              <a:schemeClr val="accent2"/>
            </a:solidFill>
            <a:prstDash val="solid"/>
          </a:ln>
        </p:spPr>
      </p:sp>
      <p:sp>
        <p:nvSpPr>
          <p:cNvPr id="4" name="agenda num"/>
          <p:cNvSpPr txBox="1"/>
          <p:nvPr/>
        </p:nvSpPr>
        <p:spPr>
          <a:xfrm>
            <a:off x="548640" y="1216152"/>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agenda head"/>
          <p:cNvSpPr txBox="1"/>
          <p:nvPr/>
        </p:nvSpPr>
        <p:spPr>
          <a:xfrm>
            <a:off x="1234440" y="1143000"/>
            <a:ext cx="7315200" cy="310896"/>
          </a:xfrm>
          <a:prstGeom prst="rect">
            <a:avLst/>
          </a:prstGeom>
          <a:noFill/>
          <a:ln/>
        </p:spPr>
        <p:txBody>
          <a:bodyPr wrap="square" lIns="0" tIns="0" rIns="0" bIns="0" rtlCol="0" anchor="ctr"/>
          <a:lstStyle/>
          <a:p>
            <a:pPr indent="0" marL="0">
              <a:buNone/>
            </a:pPr>
            <a:r>
              <a:rPr lang="en-US" sz="1500" b="1" dirty="0">
                <a:solidFill>
                  <a:schemeClr val="tx1"/>
                </a:solidFill>
              </a:rPr>
              <a:t>The problem and the approach</a:t>
            </a:r>
            <a:endParaRPr lang="en-US" sz="1500" dirty="0"/>
          </a:p>
        </p:txBody>
      </p:sp>
      <p:sp>
        <p:nvSpPr>
          <p:cNvPr id="6" name="agenda text"/>
          <p:cNvSpPr txBox="1"/>
          <p:nvPr/>
        </p:nvSpPr>
        <p:spPr>
          <a:xfrm>
            <a:off x="1234440" y="1453896"/>
            <a:ext cx="7315200" cy="310896"/>
          </a:xfrm>
          <a:prstGeom prst="rect">
            <a:avLst/>
          </a:prstGeom>
          <a:noFill/>
          <a:ln/>
        </p:spPr>
        <p:txBody>
          <a:bodyPr wrap="square" lIns="0" tIns="0" rIns="0" bIns="0" rtlCol="0" anchor="ctr"/>
          <a:lstStyle/>
          <a:p>
            <a:pPr indent="0" marL="0">
              <a:buNone/>
            </a:pPr>
            <a:r>
              <a:rPr lang="en-US" sz="1150" dirty="0">
                <a:solidFill>
                  <a:schemeClr val="tx2"/>
                </a:solidFill>
              </a:rPr>
              <a:t>What we cannot answer today, the four-step loop, the data it needs</a:t>
            </a:r>
            <a:endParaRPr lang="en-US" sz="1150" dirty="0"/>
          </a:p>
        </p:txBody>
      </p:sp>
      <p:sp>
        <p:nvSpPr>
          <p:cNvPr id="7" name="agenda num circle"/>
          <p:cNvSpPr/>
          <p:nvPr/>
        </p:nvSpPr>
        <p:spPr>
          <a:xfrm>
            <a:off x="548640" y="1929384"/>
            <a:ext cx="475488" cy="475488"/>
          </a:xfrm>
          <a:prstGeom prst="ellipse">
            <a:avLst/>
          </a:prstGeom>
          <a:solidFill>
            <a:schemeClr val="accent2"/>
          </a:solidFill>
          <a:ln w="12700">
            <a:solidFill>
              <a:schemeClr val="accent2"/>
            </a:solidFill>
            <a:prstDash val="solid"/>
          </a:ln>
        </p:spPr>
      </p:sp>
      <p:sp>
        <p:nvSpPr>
          <p:cNvPr id="8" name="agenda num"/>
          <p:cNvSpPr txBox="1"/>
          <p:nvPr/>
        </p:nvSpPr>
        <p:spPr>
          <a:xfrm>
            <a:off x="548640" y="1929384"/>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agenda head"/>
          <p:cNvSpPr txBox="1"/>
          <p:nvPr/>
        </p:nvSpPr>
        <p:spPr>
          <a:xfrm>
            <a:off x="1234440" y="1856232"/>
            <a:ext cx="7315200" cy="310896"/>
          </a:xfrm>
          <a:prstGeom prst="rect">
            <a:avLst/>
          </a:prstGeom>
          <a:noFill/>
          <a:ln/>
        </p:spPr>
        <p:txBody>
          <a:bodyPr wrap="square" lIns="0" tIns="0" rIns="0" bIns="0" rtlCol="0" anchor="ctr"/>
          <a:lstStyle/>
          <a:p>
            <a:pPr indent="0" marL="0">
              <a:buNone/>
            </a:pPr>
            <a:r>
              <a:rPr lang="en-US" sz="1500" b="1" dirty="0">
                <a:solidFill>
                  <a:schemeClr val="tx1"/>
                </a:solidFill>
              </a:rPr>
              <a:t>What the data says</a:t>
            </a:r>
            <a:endParaRPr lang="en-US" sz="1500" dirty="0"/>
          </a:p>
        </p:txBody>
      </p:sp>
      <p:sp>
        <p:nvSpPr>
          <p:cNvPr id="10" name="agenda text"/>
          <p:cNvSpPr txBox="1"/>
          <p:nvPr/>
        </p:nvSpPr>
        <p:spPr>
          <a:xfrm>
            <a:off x="1234440" y="2167128"/>
            <a:ext cx="7315200" cy="310896"/>
          </a:xfrm>
          <a:prstGeom prst="rect">
            <a:avLst/>
          </a:prstGeom>
          <a:noFill/>
          <a:ln/>
        </p:spPr>
        <p:txBody>
          <a:bodyPr wrap="square" lIns="0" tIns="0" rIns="0" bIns="0" rtlCol="0" anchor="ctr"/>
          <a:lstStyle/>
          <a:p>
            <a:pPr indent="0" marL="0">
              <a:buNone/>
            </a:pPr>
            <a:r>
              <a:rPr lang="en-US" sz="1150" dirty="0">
                <a:solidFill>
                  <a:schemeClr val="tx2"/>
                </a:solidFill>
              </a:rPr>
              <a:t>Hit rates, pricing feedback, customers, estimate versus actual, shop capacity</a:t>
            </a:r>
            <a:endParaRPr lang="en-US" sz="1150" dirty="0"/>
          </a:p>
        </p:txBody>
      </p:sp>
      <p:sp>
        <p:nvSpPr>
          <p:cNvPr id="11" name="agenda num circle"/>
          <p:cNvSpPr/>
          <p:nvPr/>
        </p:nvSpPr>
        <p:spPr>
          <a:xfrm>
            <a:off x="548640" y="2642616"/>
            <a:ext cx="475488" cy="475488"/>
          </a:xfrm>
          <a:prstGeom prst="ellipse">
            <a:avLst/>
          </a:prstGeom>
          <a:solidFill>
            <a:schemeClr val="accent2"/>
          </a:solidFill>
          <a:ln w="12700">
            <a:solidFill>
              <a:schemeClr val="accent2"/>
            </a:solidFill>
            <a:prstDash val="solid"/>
          </a:ln>
        </p:spPr>
      </p:sp>
      <p:sp>
        <p:nvSpPr>
          <p:cNvPr id="12" name="agenda num"/>
          <p:cNvSpPr txBox="1"/>
          <p:nvPr/>
        </p:nvSpPr>
        <p:spPr>
          <a:xfrm>
            <a:off x="548640" y="2642616"/>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agenda head"/>
          <p:cNvSpPr txBox="1"/>
          <p:nvPr/>
        </p:nvSpPr>
        <p:spPr>
          <a:xfrm>
            <a:off x="1234440" y="2569464"/>
            <a:ext cx="7315200" cy="310896"/>
          </a:xfrm>
          <a:prstGeom prst="rect">
            <a:avLst/>
          </a:prstGeom>
          <a:noFill/>
          <a:ln/>
        </p:spPr>
        <p:txBody>
          <a:bodyPr wrap="square" lIns="0" tIns="0" rIns="0" bIns="0" rtlCol="0" anchor="ctr"/>
          <a:lstStyle/>
          <a:p>
            <a:pPr indent="0" marL="0">
              <a:buNone/>
            </a:pPr>
            <a:r>
              <a:rPr lang="en-US" sz="1500" b="1" dirty="0">
                <a:solidFill>
                  <a:schemeClr val="tx1"/>
                </a:solidFill>
              </a:rPr>
              <a:t>The decision tool</a:t>
            </a:r>
            <a:endParaRPr lang="en-US" sz="1500" dirty="0"/>
          </a:p>
        </p:txBody>
      </p:sp>
      <p:sp>
        <p:nvSpPr>
          <p:cNvPr id="14" name="agenda text"/>
          <p:cNvSpPr txBox="1"/>
          <p:nvPr/>
        </p:nvSpPr>
        <p:spPr>
          <a:xfrm>
            <a:off x="1234440" y="2880360"/>
            <a:ext cx="7315200" cy="310896"/>
          </a:xfrm>
          <a:prstGeom prst="rect">
            <a:avLst/>
          </a:prstGeom>
          <a:noFill/>
          <a:ln/>
        </p:spPr>
        <p:txBody>
          <a:bodyPr wrap="square" lIns="0" tIns="0" rIns="0" bIns="0" rtlCol="0" anchor="ctr"/>
          <a:lstStyle/>
          <a:p>
            <a:pPr indent="0" marL="0">
              <a:buNone/>
            </a:pPr>
            <a:r>
              <a:rPr lang="en-US" sz="1150" dirty="0">
                <a:solidFill>
                  <a:schemeClr val="tx2"/>
                </a:solidFill>
              </a:rPr>
              <a:t>How the scorecard scores a project, a worked example, the ranked list, the rules</a:t>
            </a:r>
            <a:endParaRPr lang="en-US" sz="1150" dirty="0"/>
          </a:p>
        </p:txBody>
      </p:sp>
      <p:sp>
        <p:nvSpPr>
          <p:cNvPr id="15" name="agenda num circle"/>
          <p:cNvSpPr/>
          <p:nvPr/>
        </p:nvSpPr>
        <p:spPr>
          <a:xfrm>
            <a:off x="548640" y="3355848"/>
            <a:ext cx="475488" cy="475488"/>
          </a:xfrm>
          <a:prstGeom prst="ellipse">
            <a:avLst/>
          </a:prstGeom>
          <a:solidFill>
            <a:schemeClr val="accent2"/>
          </a:solidFill>
          <a:ln w="12700">
            <a:solidFill>
              <a:schemeClr val="accent2"/>
            </a:solidFill>
            <a:prstDash val="solid"/>
          </a:ln>
        </p:spPr>
      </p:sp>
      <p:sp>
        <p:nvSpPr>
          <p:cNvPr id="16" name="agenda num"/>
          <p:cNvSpPr txBox="1"/>
          <p:nvPr/>
        </p:nvSpPr>
        <p:spPr>
          <a:xfrm>
            <a:off x="548640" y="3355848"/>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agenda head"/>
          <p:cNvSpPr txBox="1"/>
          <p:nvPr/>
        </p:nvSpPr>
        <p:spPr>
          <a:xfrm>
            <a:off x="1234440" y="3282696"/>
            <a:ext cx="7315200" cy="310896"/>
          </a:xfrm>
          <a:prstGeom prst="rect">
            <a:avLst/>
          </a:prstGeom>
          <a:noFill/>
          <a:ln/>
        </p:spPr>
        <p:txBody>
          <a:bodyPr wrap="square" lIns="0" tIns="0" rIns="0" bIns="0" rtlCol="0" anchor="ctr"/>
          <a:lstStyle/>
          <a:p>
            <a:pPr indent="0" marL="0">
              <a:buNone/>
            </a:pPr>
            <a:r>
              <a:rPr lang="en-US" sz="1500" b="1" dirty="0">
                <a:solidFill>
                  <a:schemeClr val="tx1"/>
                </a:solidFill>
              </a:rPr>
              <a:t>How much to trust it</a:t>
            </a:r>
            <a:endParaRPr lang="en-US" sz="1500" dirty="0"/>
          </a:p>
        </p:txBody>
      </p:sp>
      <p:sp>
        <p:nvSpPr>
          <p:cNvPr id="18" name="agenda text"/>
          <p:cNvSpPr txBox="1"/>
          <p:nvPr/>
        </p:nvSpPr>
        <p:spPr>
          <a:xfrm>
            <a:off x="1234440" y="3593592"/>
            <a:ext cx="7315200" cy="310896"/>
          </a:xfrm>
          <a:prstGeom prst="rect">
            <a:avLst/>
          </a:prstGeom>
          <a:noFill/>
          <a:ln/>
        </p:spPr>
        <p:txBody>
          <a:bodyPr wrap="square" lIns="0" tIns="0" rIns="0" bIns="0" rtlCol="0" anchor="ctr"/>
          <a:lstStyle/>
          <a:p>
            <a:pPr indent="0" marL="0">
              <a:buNone/>
            </a:pPr>
            <a:r>
              <a:rPr lang="en-US" sz="1150" dirty="0">
                <a:solidFill>
                  <a:schemeClr val="tx2"/>
                </a:solidFill>
              </a:rPr>
              <a:t>What drives the win odds and how the model tested out of sample</a:t>
            </a:r>
            <a:endParaRPr lang="en-US" sz="1150" dirty="0"/>
          </a:p>
        </p:txBody>
      </p:sp>
      <p:sp>
        <p:nvSpPr>
          <p:cNvPr id="19" name="agenda num circle"/>
          <p:cNvSpPr/>
          <p:nvPr/>
        </p:nvSpPr>
        <p:spPr>
          <a:xfrm>
            <a:off x="548640" y="4069080"/>
            <a:ext cx="475488" cy="475488"/>
          </a:xfrm>
          <a:prstGeom prst="ellipse">
            <a:avLst/>
          </a:prstGeom>
          <a:solidFill>
            <a:schemeClr val="accent2"/>
          </a:solidFill>
          <a:ln w="12700">
            <a:solidFill>
              <a:schemeClr val="accent2"/>
            </a:solidFill>
            <a:prstDash val="solid"/>
          </a:ln>
        </p:spPr>
      </p:sp>
      <p:sp>
        <p:nvSpPr>
          <p:cNvPr id="20" name="agenda num"/>
          <p:cNvSpPr txBox="1"/>
          <p:nvPr/>
        </p:nvSpPr>
        <p:spPr>
          <a:xfrm>
            <a:off x="548640" y="406908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agenda head"/>
          <p:cNvSpPr txBox="1"/>
          <p:nvPr/>
        </p:nvSpPr>
        <p:spPr>
          <a:xfrm>
            <a:off x="1234440" y="3995928"/>
            <a:ext cx="7315200" cy="310896"/>
          </a:xfrm>
          <a:prstGeom prst="rect">
            <a:avLst/>
          </a:prstGeom>
          <a:noFill/>
          <a:ln/>
        </p:spPr>
        <p:txBody>
          <a:bodyPr wrap="square" lIns="0" tIns="0" rIns="0" bIns="0" rtlCol="0" anchor="ctr"/>
          <a:lstStyle/>
          <a:p>
            <a:pPr indent="0" marL="0">
              <a:buNone/>
            </a:pPr>
            <a:r>
              <a:rPr lang="en-US" sz="1500" b="1" dirty="0">
                <a:solidFill>
                  <a:schemeClr val="tx1"/>
                </a:solidFill>
              </a:rPr>
              <a:t>Making it real</a:t>
            </a:r>
            <a:endParaRPr lang="en-US" sz="1500" dirty="0"/>
          </a:p>
        </p:txBody>
      </p:sp>
      <p:sp>
        <p:nvSpPr>
          <p:cNvPr id="22" name="agenda text"/>
          <p:cNvSpPr txBox="1"/>
          <p:nvPr/>
        </p:nvSpPr>
        <p:spPr>
          <a:xfrm>
            <a:off x="1234440" y="4306824"/>
            <a:ext cx="7315200" cy="310896"/>
          </a:xfrm>
          <a:prstGeom prst="rect">
            <a:avLst/>
          </a:prstGeom>
          <a:noFill/>
          <a:ln/>
        </p:spPr>
        <p:txBody>
          <a:bodyPr wrap="square" lIns="0" tIns="0" rIns="0" bIns="0" rtlCol="0" anchor="ctr"/>
          <a:lstStyle/>
          <a:p>
            <a:pPr indent="0" marL="0">
              <a:buNone/>
            </a:pPr>
            <a:r>
              <a:rPr lang="en-US" sz="1150" dirty="0">
                <a:solidFill>
                  <a:schemeClr val="tx2"/>
                </a:solidFill>
              </a:rPr>
              <a:t>From the sample to Weibee data, a 90-day plan, technology, risks, the monthly KPIs</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863840" cy="914400"/>
          </a:xfrm>
          <a:prstGeom prst="rect">
            <a:avLst/>
          </a:prstGeom>
          <a:noFill/>
          <a:ln/>
        </p:spPr>
        <p:txBody>
          <a:bodyPr wrap="square" lIns="0" tIns="0" rIns="0" bIns="0" rtlCol="0" anchor="ctr"/>
          <a:lstStyle/>
          <a:p>
            <a:pPr indent="0" marL="0">
              <a:buNone/>
            </a:pPr>
            <a:r>
              <a:rPr lang="en-US" sz="3200" b="1" dirty="0">
                <a:solidFill>
                  <a:schemeClr val="bg1"/>
                </a:solidFill>
              </a:rPr>
              <a:t>1. The problem and the approach</a:t>
            </a:r>
            <a:endParaRPr lang="en-US" sz="3200" dirty="0"/>
          </a:p>
        </p:txBody>
      </p:sp>
      <p:sp>
        <p:nvSpPr>
          <p:cNvPr id="3" name="Text 0"/>
          <p:cNvSpPr/>
          <p:nvPr>
            <p:ph idx="101" type="body" hasCustomPrompt="1"/>
          </p:nvPr>
        </p:nvSpPr>
        <p:spPr>
          <a:xfrm>
            <a:off x="640080" y="2788920"/>
            <a:ext cx="7863840" cy="822960"/>
          </a:xfrm>
          <a:prstGeom prst="rect">
            <a:avLst/>
          </a:prstGeom>
          <a:noFill/>
          <a:ln/>
        </p:spPr>
        <p:txBody>
          <a:bodyPr wrap="square" lIns="0" tIns="0" rIns="0" bIns="0" rtlCol="0" anchor="t"/>
          <a:lstStyle/>
          <a:p>
            <a:pPr indent="0" marL="0">
              <a:buNone/>
            </a:pPr>
            <a:r>
              <a:rPr lang="en-US" sz="1500" dirty="0">
                <a:solidFill>
                  <a:schemeClr val="accent6"/>
                </a:solidFill>
              </a:rPr>
              <a:t>Every bid teaches us something. Today the lesson stays in people's heads.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Four questions a fabricator should be able to answer, and usually cannot</a:t>
            </a:r>
            <a:endParaRPr lang="en-US" sz="2400" dirty="0"/>
          </a:p>
        </p:txBody>
      </p:sp>
      <p:sp>
        <p:nvSpPr>
          <p:cNvPr id="3" name="q How often do we win, by what?"/>
          <p:cNvSpPr/>
          <p:nvPr/>
        </p:nvSpPr>
        <p:spPr>
          <a:xfrm>
            <a:off x="457200" y="1097280"/>
            <a:ext cx="4023360" cy="1645920"/>
          </a:xfrm>
          <a:prstGeom prst="roundRect">
            <a:avLst>
              <a:gd name="adj" fmla="val 4444"/>
            </a:avLst>
          </a:prstGeom>
          <a:solidFill>
            <a:schemeClr val="bg2"/>
          </a:solidFill>
          <a:ln w="9525">
            <a:solidFill>
              <a:schemeClr val="accent6"/>
            </a:solidFill>
            <a:prstDash val="solid"/>
          </a:ln>
        </p:spPr>
      </p:sp>
      <p:sp>
        <p:nvSpPr>
          <p:cNvPr id="4" name="q icon circle"/>
          <p:cNvSpPr/>
          <p:nvPr/>
        </p:nvSpPr>
        <p:spPr>
          <a:xfrm>
            <a:off x="640080" y="1280160"/>
            <a:ext cx="502920" cy="502920"/>
          </a:xfrm>
          <a:prstGeom prst="ellipse">
            <a:avLst/>
          </a:prstGeom>
          <a:solidFill>
            <a:schemeClr val="accent1"/>
          </a:solidFill>
          <a:ln w="12700">
            <a:solidFill>
              <a:schemeClr val="accent1"/>
            </a:solidFill>
            <a:prstDash val="solid"/>
          </a:ln>
        </p:spPr>
      </p:sp>
      <p:pic>
        <p:nvPicPr>
          <p:cNvPr id="5" name="q icon" descr="preencoded.png">    </p:cNvPr>
          <p:cNvPicPr>
            <a:picLocks noChangeAspect="1"/>
          </p:cNvPicPr>
          <p:nvPr/>
        </p:nvPicPr>
        <p:blipFill>
          <a:blip r:embed="rId1"/>
          <a:stretch>
            <a:fillRect/>
          </a:stretch>
        </p:blipFill>
        <p:spPr>
          <a:xfrm>
            <a:off x="763524" y="1403604"/>
            <a:ext cx="256032" cy="256032"/>
          </a:xfrm>
          <a:prstGeom prst="rect">
            <a:avLst/>
          </a:prstGeom>
        </p:spPr>
      </p:pic>
      <p:sp>
        <p:nvSpPr>
          <p:cNvPr id="6" name="q head"/>
          <p:cNvSpPr txBox="1"/>
          <p:nvPr/>
        </p:nvSpPr>
        <p:spPr>
          <a:xfrm>
            <a:off x="1280160" y="1261872"/>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How often do we win, by what?</a:t>
            </a:r>
            <a:endParaRPr lang="en-US" sz="1400" dirty="0"/>
          </a:p>
        </p:txBody>
      </p:sp>
      <p:sp>
        <p:nvSpPr>
          <p:cNvPr id="7" name="q text"/>
          <p:cNvSpPr txBox="1"/>
          <p:nvPr/>
        </p:nvSpPr>
        <p:spPr>
          <a:xfrm>
            <a:off x="640080" y="1874520"/>
            <a:ext cx="3657600" cy="822960"/>
          </a:xfrm>
          <a:prstGeom prst="rect">
            <a:avLst/>
          </a:prstGeom>
          <a:noFill/>
          <a:ln/>
        </p:spPr>
        <p:txBody>
          <a:bodyPr wrap="square" lIns="0" tIns="0" rIns="0" bIns="0" rtlCol="0" anchor="t"/>
          <a:lstStyle/>
          <a:p>
            <a:pPr indent="0" marL="0">
              <a:buNone/>
            </a:pPr>
            <a:r>
              <a:rPr lang="en-US" sz="1100" dirty="0">
                <a:solidFill>
                  <a:schemeClr val="tx2"/>
                </a:solidFill>
              </a:rPr>
              <a:t>Hit rate by project type, size, distance, customer and how the job is bought, with a denominator. Not a feeling about schools.</a:t>
            </a:r>
            <a:endParaRPr lang="en-US" sz="1100" dirty="0"/>
          </a:p>
        </p:txBody>
      </p:sp>
      <p:sp>
        <p:nvSpPr>
          <p:cNvPr id="8" name="q What did the work actually earn?"/>
          <p:cNvSpPr/>
          <p:nvPr/>
        </p:nvSpPr>
        <p:spPr>
          <a:xfrm>
            <a:off x="4663440" y="1097280"/>
            <a:ext cx="4023360" cy="1645920"/>
          </a:xfrm>
          <a:prstGeom prst="roundRect">
            <a:avLst>
              <a:gd name="adj" fmla="val 4444"/>
            </a:avLst>
          </a:prstGeom>
          <a:solidFill>
            <a:schemeClr val="bg2"/>
          </a:solidFill>
          <a:ln w="9525">
            <a:solidFill>
              <a:schemeClr val="accent6"/>
            </a:solidFill>
            <a:prstDash val="solid"/>
          </a:ln>
        </p:spPr>
      </p:sp>
      <p:sp>
        <p:nvSpPr>
          <p:cNvPr id="9" name="q icon circle"/>
          <p:cNvSpPr/>
          <p:nvPr/>
        </p:nvSpPr>
        <p:spPr>
          <a:xfrm>
            <a:off x="4846320" y="1280160"/>
            <a:ext cx="502920" cy="502920"/>
          </a:xfrm>
          <a:prstGeom prst="ellipse">
            <a:avLst/>
          </a:prstGeom>
          <a:solidFill>
            <a:schemeClr val="accent1"/>
          </a:solidFill>
          <a:ln w="12700">
            <a:solidFill>
              <a:schemeClr val="accent1"/>
            </a:solidFill>
            <a:prstDash val="solid"/>
          </a:ln>
        </p:spPr>
      </p:sp>
      <p:pic>
        <p:nvPicPr>
          <p:cNvPr id="10" name="q icon" descr="preencoded.png">    </p:cNvPr>
          <p:cNvPicPr>
            <a:picLocks noChangeAspect="1"/>
          </p:cNvPicPr>
          <p:nvPr/>
        </p:nvPicPr>
        <p:blipFill>
          <a:blip r:embed="rId2"/>
          <a:stretch>
            <a:fillRect/>
          </a:stretch>
        </p:blipFill>
        <p:spPr>
          <a:xfrm>
            <a:off x="4969764" y="1403604"/>
            <a:ext cx="256032" cy="256032"/>
          </a:xfrm>
          <a:prstGeom prst="rect">
            <a:avLst/>
          </a:prstGeom>
        </p:spPr>
      </p:pic>
      <p:sp>
        <p:nvSpPr>
          <p:cNvPr id="11" name="q head"/>
          <p:cNvSpPr txBox="1"/>
          <p:nvPr/>
        </p:nvSpPr>
        <p:spPr>
          <a:xfrm>
            <a:off x="5486400" y="1261872"/>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What did the work actually earn?</a:t>
            </a:r>
            <a:endParaRPr lang="en-US" sz="1400" dirty="0"/>
          </a:p>
        </p:txBody>
      </p:sp>
      <p:sp>
        <p:nvSpPr>
          <p:cNvPr id="12" name="q text"/>
          <p:cNvSpPr txBox="1"/>
          <p:nvPr/>
        </p:nvSpPr>
        <p:spPr>
          <a:xfrm>
            <a:off x="4846320" y="1874520"/>
            <a:ext cx="3657600" cy="822960"/>
          </a:xfrm>
          <a:prstGeom prst="rect">
            <a:avLst/>
          </a:prstGeom>
          <a:noFill/>
          <a:ln/>
        </p:spPr>
        <p:txBody>
          <a:bodyPr wrap="square" lIns="0" tIns="0" rIns="0" bIns="0" rtlCol="0" anchor="t"/>
          <a:lstStyle/>
          <a:p>
            <a:pPr indent="0" marL="0">
              <a:buNone/>
            </a:pPr>
            <a:r>
              <a:rPr lang="en-US" sz="1100" dirty="0">
                <a:solidFill>
                  <a:schemeClr val="tx2"/>
                </a:solidFill>
              </a:rPr>
              <a:t>Estimated versus realised gross margin by kind of job, so the next estimate learns from the last close-out.</a:t>
            </a:r>
            <a:endParaRPr lang="en-US" sz="1100" dirty="0"/>
          </a:p>
        </p:txBody>
      </p:sp>
      <p:sp>
        <p:nvSpPr>
          <p:cNvPr id="13" name="q Why did we lose?"/>
          <p:cNvSpPr/>
          <p:nvPr/>
        </p:nvSpPr>
        <p:spPr>
          <a:xfrm>
            <a:off x="457200" y="2880360"/>
            <a:ext cx="4023360" cy="1645920"/>
          </a:xfrm>
          <a:prstGeom prst="roundRect">
            <a:avLst>
              <a:gd name="adj" fmla="val 4444"/>
            </a:avLst>
          </a:prstGeom>
          <a:solidFill>
            <a:schemeClr val="bg2"/>
          </a:solidFill>
          <a:ln w="9525">
            <a:solidFill>
              <a:schemeClr val="accent6"/>
            </a:solidFill>
            <a:prstDash val="solid"/>
          </a:ln>
        </p:spPr>
      </p:sp>
      <p:sp>
        <p:nvSpPr>
          <p:cNvPr id="14" name="q icon circle"/>
          <p:cNvSpPr/>
          <p:nvPr/>
        </p:nvSpPr>
        <p:spPr>
          <a:xfrm>
            <a:off x="640080" y="3063240"/>
            <a:ext cx="502920" cy="502920"/>
          </a:xfrm>
          <a:prstGeom prst="ellipse">
            <a:avLst/>
          </a:prstGeom>
          <a:solidFill>
            <a:schemeClr val="accent1"/>
          </a:solidFill>
          <a:ln w="12700">
            <a:solidFill>
              <a:schemeClr val="accent1"/>
            </a:solidFill>
            <a:prstDash val="solid"/>
          </a:ln>
        </p:spPr>
      </p:sp>
      <p:pic>
        <p:nvPicPr>
          <p:cNvPr id="15" name="q icon" descr="preencoded.png">    </p:cNvPr>
          <p:cNvPicPr>
            <a:picLocks noChangeAspect="1"/>
          </p:cNvPicPr>
          <p:nvPr/>
        </p:nvPicPr>
        <p:blipFill>
          <a:blip r:embed="rId3"/>
          <a:stretch>
            <a:fillRect/>
          </a:stretch>
        </p:blipFill>
        <p:spPr>
          <a:xfrm>
            <a:off x="763524" y="3186684"/>
            <a:ext cx="256032" cy="256032"/>
          </a:xfrm>
          <a:prstGeom prst="rect">
            <a:avLst/>
          </a:prstGeom>
        </p:spPr>
      </p:pic>
      <p:sp>
        <p:nvSpPr>
          <p:cNvPr id="16" name="q head"/>
          <p:cNvSpPr txBox="1"/>
          <p:nvPr/>
        </p:nvSpPr>
        <p:spPr>
          <a:xfrm>
            <a:off x="1280160" y="3044952"/>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Why did we lose?</a:t>
            </a:r>
            <a:endParaRPr lang="en-US" sz="1400" dirty="0"/>
          </a:p>
        </p:txBody>
      </p:sp>
      <p:sp>
        <p:nvSpPr>
          <p:cNvPr id="17" name="q text"/>
          <p:cNvSpPr txBox="1"/>
          <p:nvPr/>
        </p:nvSpPr>
        <p:spPr>
          <a:xfrm>
            <a:off x="640080" y="3657600"/>
            <a:ext cx="3657600" cy="822960"/>
          </a:xfrm>
          <a:prstGeom prst="rect">
            <a:avLst/>
          </a:prstGeom>
          <a:noFill/>
          <a:ln/>
        </p:spPr>
        <p:txBody>
          <a:bodyPr wrap="square" lIns="0" tIns="0" rIns="0" bIns="0" rtlCol="0" anchor="t"/>
          <a:lstStyle/>
          <a:p>
            <a:pPr indent="0" marL="0">
              <a:buNone/>
            </a:pPr>
            <a:r>
              <a:rPr lang="en-US" sz="1100" dirty="0">
                <a:solidFill>
                  <a:schemeClr val="tx2"/>
                </a:solidFill>
              </a:rPr>
              <a:t>Price gap to the low number when we lost on price; relationship, schedule or scope when we did not. Collected every time.</a:t>
            </a:r>
            <a:endParaRPr lang="en-US" sz="1100" dirty="0"/>
          </a:p>
        </p:txBody>
      </p:sp>
      <p:sp>
        <p:nvSpPr>
          <p:cNvPr id="18" name="q Is this invitation worth a week?"/>
          <p:cNvSpPr/>
          <p:nvPr/>
        </p:nvSpPr>
        <p:spPr>
          <a:xfrm>
            <a:off x="4663440" y="2880360"/>
            <a:ext cx="4023360" cy="1645920"/>
          </a:xfrm>
          <a:prstGeom prst="roundRect">
            <a:avLst>
              <a:gd name="adj" fmla="val 4444"/>
            </a:avLst>
          </a:prstGeom>
          <a:solidFill>
            <a:schemeClr val="bg2"/>
          </a:solidFill>
          <a:ln w="9525">
            <a:solidFill>
              <a:schemeClr val="accent6"/>
            </a:solidFill>
            <a:prstDash val="solid"/>
          </a:ln>
        </p:spPr>
      </p:sp>
      <p:sp>
        <p:nvSpPr>
          <p:cNvPr id="19" name="q icon circle"/>
          <p:cNvSpPr/>
          <p:nvPr/>
        </p:nvSpPr>
        <p:spPr>
          <a:xfrm>
            <a:off x="4846320" y="3063240"/>
            <a:ext cx="502920" cy="502920"/>
          </a:xfrm>
          <a:prstGeom prst="ellipse">
            <a:avLst/>
          </a:prstGeom>
          <a:solidFill>
            <a:schemeClr val="accent1"/>
          </a:solidFill>
          <a:ln w="12700">
            <a:solidFill>
              <a:schemeClr val="accent1"/>
            </a:solidFill>
            <a:prstDash val="solid"/>
          </a:ln>
        </p:spPr>
      </p:sp>
      <p:pic>
        <p:nvPicPr>
          <p:cNvPr id="20" name="q icon" descr="preencoded.png">    </p:cNvPr>
          <p:cNvPicPr>
            <a:picLocks noChangeAspect="1"/>
          </p:cNvPicPr>
          <p:nvPr/>
        </p:nvPicPr>
        <p:blipFill>
          <a:blip r:embed="rId4"/>
          <a:stretch>
            <a:fillRect/>
          </a:stretch>
        </p:blipFill>
        <p:spPr>
          <a:xfrm>
            <a:off x="4969764" y="3186684"/>
            <a:ext cx="256032" cy="256032"/>
          </a:xfrm>
          <a:prstGeom prst="rect">
            <a:avLst/>
          </a:prstGeom>
        </p:spPr>
      </p:pic>
      <p:sp>
        <p:nvSpPr>
          <p:cNvPr id="21" name="q head"/>
          <p:cNvSpPr txBox="1"/>
          <p:nvPr/>
        </p:nvSpPr>
        <p:spPr>
          <a:xfrm>
            <a:off x="5486400" y="3044952"/>
            <a:ext cx="3017520" cy="548640"/>
          </a:xfrm>
          <a:prstGeom prst="rect">
            <a:avLst/>
          </a:prstGeom>
          <a:noFill/>
          <a:ln/>
        </p:spPr>
        <p:txBody>
          <a:bodyPr wrap="square" lIns="0" tIns="0" rIns="0" bIns="0" rtlCol="0" anchor="ctr"/>
          <a:lstStyle/>
          <a:p>
            <a:pPr indent="0" marL="0">
              <a:buNone/>
            </a:pPr>
            <a:r>
              <a:rPr lang="en-US" sz="1400" b="1" dirty="0">
                <a:solidFill>
                  <a:schemeClr val="tx1"/>
                </a:solidFill>
              </a:rPr>
              <a:t>Is this invitation worth a week?</a:t>
            </a:r>
            <a:endParaRPr lang="en-US" sz="1400" dirty="0"/>
          </a:p>
        </p:txBody>
      </p:sp>
      <p:sp>
        <p:nvSpPr>
          <p:cNvPr id="22" name="q text"/>
          <p:cNvSpPr txBox="1"/>
          <p:nvPr/>
        </p:nvSpPr>
        <p:spPr>
          <a:xfrm>
            <a:off x="4846320" y="3657600"/>
            <a:ext cx="3657600" cy="822960"/>
          </a:xfrm>
          <a:prstGeom prst="rect">
            <a:avLst/>
          </a:prstGeom>
          <a:noFill/>
          <a:ln/>
        </p:spPr>
        <p:txBody>
          <a:bodyPr wrap="square" lIns="0" tIns="0" rIns="0" bIns="0" rtlCol="0" anchor="t"/>
          <a:lstStyle/>
          <a:p>
            <a:pPr indent="0" marL="0">
              <a:buNone/>
            </a:pPr>
            <a:r>
              <a:rPr lang="en-US" sz="1100" dirty="0">
                <a:solidFill>
                  <a:schemeClr val="tx2"/>
                </a:solidFill>
              </a:rPr>
              <a:t>A ranked list of upcoming work, scored on odds, margin, estimating cost and shop load, before the takeoff starts.</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The loop: collect, measure, rank, decide</a:t>
            </a:r>
            <a:endParaRPr lang="en-US" sz="2400" dirty="0"/>
          </a:p>
        </p:txBody>
      </p:sp>
      <p:sp>
        <p:nvSpPr>
          <p:cNvPr id="3" name="step Collect"/>
          <p:cNvSpPr/>
          <p:nvPr/>
        </p:nvSpPr>
        <p:spPr>
          <a:xfrm>
            <a:off x="457200" y="1143000"/>
            <a:ext cx="1920240" cy="3383280"/>
          </a:xfrm>
          <a:prstGeom prst="roundRect">
            <a:avLst>
              <a:gd name="adj" fmla="val 3810"/>
            </a:avLst>
          </a:prstGeom>
          <a:solidFill>
            <a:schemeClr val="bg2"/>
          </a:solidFill>
          <a:ln w="9525">
            <a:solidFill>
              <a:schemeClr val="accent6"/>
            </a:solidFill>
            <a:prstDash val="solid"/>
          </a:ln>
        </p:spPr>
      </p:sp>
      <p:sp>
        <p:nvSpPr>
          <p:cNvPr id="4" name="step icon circle"/>
          <p:cNvSpPr/>
          <p:nvPr/>
        </p:nvSpPr>
        <p:spPr>
          <a:xfrm>
            <a:off x="640080" y="1325880"/>
            <a:ext cx="502920" cy="502920"/>
          </a:xfrm>
          <a:prstGeom prst="ellipse">
            <a:avLst/>
          </a:prstGeom>
          <a:solidFill>
            <a:schemeClr val="accent2"/>
          </a:solidFill>
          <a:ln w="12700">
            <a:solidFill>
              <a:schemeClr val="accent2"/>
            </a:solidFill>
            <a:prstDash val="solid"/>
          </a:ln>
        </p:spPr>
      </p:sp>
      <p:pic>
        <p:nvPicPr>
          <p:cNvPr id="5" name="step icon" descr="preencoded.png">    </p:cNvPr>
          <p:cNvPicPr>
            <a:picLocks noChangeAspect="1"/>
          </p:cNvPicPr>
          <p:nvPr/>
        </p:nvPicPr>
        <p:blipFill>
          <a:blip r:embed="rId1"/>
          <a:stretch>
            <a:fillRect/>
          </a:stretch>
        </p:blipFill>
        <p:spPr>
          <a:xfrm>
            <a:off x="763524" y="1449324"/>
            <a:ext cx="256032" cy="256032"/>
          </a:xfrm>
          <a:prstGeom prst="rect">
            <a:avLst/>
          </a:prstGeom>
        </p:spPr>
      </p:pic>
      <p:sp>
        <p:nvSpPr>
          <p:cNvPr id="6" name="step head"/>
          <p:cNvSpPr txBox="1"/>
          <p:nvPr/>
        </p:nvSpPr>
        <p:spPr>
          <a:xfrm>
            <a:off x="640080" y="1965960"/>
            <a:ext cx="1554480" cy="347472"/>
          </a:xfrm>
          <a:prstGeom prst="rect">
            <a:avLst/>
          </a:prstGeom>
          <a:noFill/>
          <a:ln/>
        </p:spPr>
        <p:txBody>
          <a:bodyPr wrap="square" lIns="0" tIns="0" rIns="0" bIns="0" rtlCol="0" anchor="ctr"/>
          <a:lstStyle/>
          <a:p>
            <a:pPr indent="0" marL="0">
              <a:buNone/>
            </a:pPr>
            <a:r>
              <a:rPr lang="en-US" sz="1600" b="1" dirty="0">
                <a:solidFill>
                  <a:schemeClr val="tx1"/>
                </a:solidFill>
              </a:rPr>
              <a:t>1. Collect</a:t>
            </a:r>
            <a:endParaRPr lang="en-US" sz="1600" dirty="0"/>
          </a:p>
        </p:txBody>
      </p:sp>
      <p:sp>
        <p:nvSpPr>
          <p:cNvPr id="7" name="step text"/>
          <p:cNvSpPr txBox="1"/>
          <p:nvPr/>
        </p:nvSpPr>
        <p:spPr>
          <a:xfrm>
            <a:off x="640080" y="2359152"/>
            <a:ext cx="1600200" cy="1463040"/>
          </a:xfrm>
          <a:prstGeom prst="rect">
            <a:avLst/>
          </a:prstGeom>
          <a:noFill/>
          <a:ln/>
        </p:spPr>
        <p:txBody>
          <a:bodyPr wrap="square" lIns="0" tIns="0" rIns="0" bIns="0" rtlCol="0" anchor="t"/>
          <a:lstStyle/>
          <a:p>
            <a:pPr indent="0" marL="0">
              <a:buNone/>
            </a:pPr>
            <a:r>
              <a:rPr lang="en-US" sz="1100" dirty="0">
                <a:solidFill>
                  <a:schemeClr val="tx2"/>
                </a:solidFill>
              </a:rPr>
              <a:t>Five tables: customers, opportunities (bid or not), bids, jobs, upcoming pipeline. Plus the shop calendar.</a:t>
            </a:r>
            <a:endParaRPr lang="en-US" sz="1100" dirty="0"/>
          </a:p>
        </p:txBody>
      </p:sp>
      <p:sp>
        <p:nvSpPr>
          <p:cNvPr id="8" name="step produces"/>
          <p:cNvSpPr txBox="1"/>
          <p:nvPr/>
        </p:nvSpPr>
        <p:spPr>
          <a:xfrm>
            <a:off x="640080" y="3931920"/>
            <a:ext cx="1600200" cy="457200"/>
          </a:xfrm>
          <a:prstGeom prst="rect">
            <a:avLst/>
          </a:prstGeom>
          <a:noFill/>
          <a:ln/>
        </p:spPr>
        <p:txBody>
          <a:bodyPr wrap="square" lIns="0" tIns="0" rIns="0" bIns="0" rtlCol="0" anchor="t"/>
          <a:lstStyle/>
          <a:p>
            <a:pPr indent="0" marL="0">
              <a:buNone/>
            </a:pPr>
            <a:r>
              <a:rPr lang="en-US" sz="1050" i="1" dirty="0">
                <a:solidFill>
                  <a:schemeClr val="accent1"/>
                </a:solidFill>
              </a:rPr>
              <a:t>Produces: one source of truth</a:t>
            </a:r>
            <a:endParaRPr lang="en-US" sz="1050" dirty="0"/>
          </a:p>
        </p:txBody>
      </p:sp>
      <p:sp>
        <p:nvSpPr>
          <p:cNvPr id="9" name="step Measure"/>
          <p:cNvSpPr/>
          <p:nvPr/>
        </p:nvSpPr>
        <p:spPr>
          <a:xfrm>
            <a:off x="2560320" y="1143000"/>
            <a:ext cx="1920240" cy="3383280"/>
          </a:xfrm>
          <a:prstGeom prst="roundRect">
            <a:avLst>
              <a:gd name="adj" fmla="val 3810"/>
            </a:avLst>
          </a:prstGeom>
          <a:solidFill>
            <a:schemeClr val="bg2"/>
          </a:solidFill>
          <a:ln w="9525">
            <a:solidFill>
              <a:schemeClr val="accent6"/>
            </a:solidFill>
            <a:prstDash val="solid"/>
          </a:ln>
        </p:spPr>
      </p:sp>
      <p:sp>
        <p:nvSpPr>
          <p:cNvPr id="10" name="step icon circle"/>
          <p:cNvSpPr/>
          <p:nvPr/>
        </p:nvSpPr>
        <p:spPr>
          <a:xfrm>
            <a:off x="2743200" y="1325880"/>
            <a:ext cx="502920" cy="502920"/>
          </a:xfrm>
          <a:prstGeom prst="ellipse">
            <a:avLst/>
          </a:prstGeom>
          <a:solidFill>
            <a:schemeClr val="accent2"/>
          </a:solidFill>
          <a:ln w="12700">
            <a:solidFill>
              <a:schemeClr val="accent2"/>
            </a:solidFill>
            <a:prstDash val="solid"/>
          </a:ln>
        </p:spPr>
      </p:sp>
      <p:pic>
        <p:nvPicPr>
          <p:cNvPr id="11" name="step icon" descr="preencoded.png">    </p:cNvPr>
          <p:cNvPicPr>
            <a:picLocks noChangeAspect="1"/>
          </p:cNvPicPr>
          <p:nvPr/>
        </p:nvPicPr>
        <p:blipFill>
          <a:blip r:embed="rId2"/>
          <a:stretch>
            <a:fillRect/>
          </a:stretch>
        </p:blipFill>
        <p:spPr>
          <a:xfrm>
            <a:off x="2866644" y="1449324"/>
            <a:ext cx="256032" cy="256032"/>
          </a:xfrm>
          <a:prstGeom prst="rect">
            <a:avLst/>
          </a:prstGeom>
        </p:spPr>
      </p:pic>
      <p:sp>
        <p:nvSpPr>
          <p:cNvPr id="12" name="step head"/>
          <p:cNvSpPr txBox="1"/>
          <p:nvPr/>
        </p:nvSpPr>
        <p:spPr>
          <a:xfrm>
            <a:off x="2743200" y="1965960"/>
            <a:ext cx="1554480" cy="347472"/>
          </a:xfrm>
          <a:prstGeom prst="rect">
            <a:avLst/>
          </a:prstGeom>
          <a:noFill/>
          <a:ln/>
        </p:spPr>
        <p:txBody>
          <a:bodyPr wrap="square" lIns="0" tIns="0" rIns="0" bIns="0" rtlCol="0" anchor="ctr"/>
          <a:lstStyle/>
          <a:p>
            <a:pPr indent="0" marL="0">
              <a:buNone/>
            </a:pPr>
            <a:r>
              <a:rPr lang="en-US" sz="1600" b="1" dirty="0">
                <a:solidFill>
                  <a:schemeClr val="tx1"/>
                </a:solidFill>
              </a:rPr>
              <a:t>2. Measure</a:t>
            </a:r>
            <a:endParaRPr lang="en-US" sz="1600" dirty="0"/>
          </a:p>
        </p:txBody>
      </p:sp>
      <p:sp>
        <p:nvSpPr>
          <p:cNvPr id="13" name="step text"/>
          <p:cNvSpPr txBox="1"/>
          <p:nvPr/>
        </p:nvSpPr>
        <p:spPr>
          <a:xfrm>
            <a:off x="2743200" y="2359152"/>
            <a:ext cx="1600200" cy="1463040"/>
          </a:xfrm>
          <a:prstGeom prst="rect">
            <a:avLst/>
          </a:prstGeom>
          <a:noFill/>
          <a:ln/>
        </p:spPr>
        <p:txBody>
          <a:bodyPr wrap="square" lIns="0" tIns="0" rIns="0" bIns="0" rtlCol="0" anchor="t"/>
          <a:lstStyle/>
          <a:p>
            <a:pPr indent="0" marL="0">
              <a:buNone/>
            </a:pPr>
            <a:r>
              <a:rPr lang="en-US" sz="1100" dirty="0">
                <a:solidFill>
                  <a:schemeClr val="tx2"/>
                </a:solidFill>
              </a:rPr>
              <a:t>Hit rate by count and by dollars. Won dollars per estimating hour. Realised margin by kind of work. Price gap on losses.</a:t>
            </a:r>
            <a:endParaRPr lang="en-US" sz="1100" dirty="0"/>
          </a:p>
        </p:txBody>
      </p:sp>
      <p:sp>
        <p:nvSpPr>
          <p:cNvPr id="14" name="step produces"/>
          <p:cNvSpPr txBox="1"/>
          <p:nvPr/>
        </p:nvSpPr>
        <p:spPr>
          <a:xfrm>
            <a:off x="2743200" y="3931920"/>
            <a:ext cx="1600200" cy="457200"/>
          </a:xfrm>
          <a:prstGeom prst="rect">
            <a:avLst/>
          </a:prstGeom>
          <a:noFill/>
          <a:ln/>
        </p:spPr>
        <p:txBody>
          <a:bodyPr wrap="square" lIns="0" tIns="0" rIns="0" bIns="0" rtlCol="0" anchor="t"/>
          <a:lstStyle/>
          <a:p>
            <a:pPr indent="0" marL="0">
              <a:buNone/>
            </a:pPr>
            <a:r>
              <a:rPr lang="en-US" sz="1050" i="1" dirty="0">
                <a:solidFill>
                  <a:schemeClr val="accent1"/>
                </a:solidFill>
              </a:rPr>
              <a:t>Produces: the report's charts</a:t>
            </a:r>
            <a:endParaRPr lang="en-US" sz="1050" dirty="0"/>
          </a:p>
        </p:txBody>
      </p:sp>
      <p:sp>
        <p:nvSpPr>
          <p:cNvPr id="15" name="step Rank"/>
          <p:cNvSpPr/>
          <p:nvPr/>
        </p:nvSpPr>
        <p:spPr>
          <a:xfrm>
            <a:off x="4663440" y="1143000"/>
            <a:ext cx="1920240" cy="3383280"/>
          </a:xfrm>
          <a:prstGeom prst="roundRect">
            <a:avLst>
              <a:gd name="adj" fmla="val 3810"/>
            </a:avLst>
          </a:prstGeom>
          <a:solidFill>
            <a:schemeClr val="bg2"/>
          </a:solidFill>
          <a:ln w="9525">
            <a:solidFill>
              <a:schemeClr val="accent6"/>
            </a:solidFill>
            <a:prstDash val="solid"/>
          </a:ln>
        </p:spPr>
      </p:sp>
      <p:sp>
        <p:nvSpPr>
          <p:cNvPr id="16" name="step icon circle"/>
          <p:cNvSpPr/>
          <p:nvPr/>
        </p:nvSpPr>
        <p:spPr>
          <a:xfrm>
            <a:off x="4846320" y="1325880"/>
            <a:ext cx="502920" cy="502920"/>
          </a:xfrm>
          <a:prstGeom prst="ellipse">
            <a:avLst/>
          </a:prstGeom>
          <a:solidFill>
            <a:schemeClr val="accent2"/>
          </a:solidFill>
          <a:ln w="12700">
            <a:solidFill>
              <a:schemeClr val="accent2"/>
            </a:solidFill>
            <a:prstDash val="solid"/>
          </a:ln>
        </p:spPr>
      </p:sp>
      <p:pic>
        <p:nvPicPr>
          <p:cNvPr id="17" name="step icon" descr="preencoded.png">    </p:cNvPr>
          <p:cNvPicPr>
            <a:picLocks noChangeAspect="1"/>
          </p:cNvPicPr>
          <p:nvPr/>
        </p:nvPicPr>
        <p:blipFill>
          <a:blip r:embed="rId3"/>
          <a:stretch>
            <a:fillRect/>
          </a:stretch>
        </p:blipFill>
        <p:spPr>
          <a:xfrm>
            <a:off x="4969764" y="1449324"/>
            <a:ext cx="256032" cy="256032"/>
          </a:xfrm>
          <a:prstGeom prst="rect">
            <a:avLst/>
          </a:prstGeom>
        </p:spPr>
      </p:pic>
      <p:sp>
        <p:nvSpPr>
          <p:cNvPr id="18" name="step head"/>
          <p:cNvSpPr txBox="1"/>
          <p:nvPr/>
        </p:nvSpPr>
        <p:spPr>
          <a:xfrm>
            <a:off x="4846320" y="1965960"/>
            <a:ext cx="1554480" cy="347472"/>
          </a:xfrm>
          <a:prstGeom prst="rect">
            <a:avLst/>
          </a:prstGeom>
          <a:noFill/>
          <a:ln/>
        </p:spPr>
        <p:txBody>
          <a:bodyPr wrap="square" lIns="0" tIns="0" rIns="0" bIns="0" rtlCol="0" anchor="ctr"/>
          <a:lstStyle/>
          <a:p>
            <a:pPr indent="0" marL="0">
              <a:buNone/>
            </a:pPr>
            <a:r>
              <a:rPr lang="en-US" sz="1600" b="1" dirty="0">
                <a:solidFill>
                  <a:schemeClr val="tx1"/>
                </a:solidFill>
              </a:rPr>
              <a:t>3. Rank</a:t>
            </a:r>
            <a:endParaRPr lang="en-US" sz="1600" dirty="0"/>
          </a:p>
        </p:txBody>
      </p:sp>
      <p:sp>
        <p:nvSpPr>
          <p:cNvPr id="19" name="step text"/>
          <p:cNvSpPr txBox="1"/>
          <p:nvPr/>
        </p:nvSpPr>
        <p:spPr>
          <a:xfrm>
            <a:off x="4846320" y="2359152"/>
            <a:ext cx="1600200" cy="1463040"/>
          </a:xfrm>
          <a:prstGeom prst="rect">
            <a:avLst/>
          </a:prstGeom>
          <a:noFill/>
          <a:ln/>
        </p:spPr>
        <p:txBody>
          <a:bodyPr wrap="square" lIns="0" tIns="0" rIns="0" bIns="0" rtlCol="0" anchor="t"/>
          <a:lstStyle/>
          <a:p>
            <a:pPr indent="0" marL="0">
              <a:buNone/>
            </a:pPr>
            <a:r>
              <a:rPr lang="en-US" sz="1100" dirty="0">
                <a:solidFill>
                  <a:schemeClr val="tx2"/>
                </a:solidFill>
              </a:rPr>
              <a:t>Win odds from our own history. Expected margin dollars net of estimating cost. Shop load if we win it.</a:t>
            </a:r>
            <a:endParaRPr lang="en-US" sz="1100" dirty="0"/>
          </a:p>
        </p:txBody>
      </p:sp>
      <p:sp>
        <p:nvSpPr>
          <p:cNvPr id="20" name="step produces"/>
          <p:cNvSpPr txBox="1"/>
          <p:nvPr/>
        </p:nvSpPr>
        <p:spPr>
          <a:xfrm>
            <a:off x="4846320" y="3931920"/>
            <a:ext cx="1600200" cy="457200"/>
          </a:xfrm>
          <a:prstGeom prst="rect">
            <a:avLst/>
          </a:prstGeom>
          <a:noFill/>
          <a:ln/>
        </p:spPr>
        <p:txBody>
          <a:bodyPr wrap="square" lIns="0" tIns="0" rIns="0" bIns="0" rtlCol="0" anchor="t"/>
          <a:lstStyle/>
          <a:p>
            <a:pPr indent="0" marL="0">
              <a:buNone/>
            </a:pPr>
            <a:r>
              <a:rPr lang="en-US" sz="1050" i="1" dirty="0">
                <a:solidFill>
                  <a:schemeClr val="accent1"/>
                </a:solidFill>
              </a:rPr>
              <a:t>Produces: the scorecard</a:t>
            </a:r>
            <a:endParaRPr lang="en-US" sz="1050" dirty="0"/>
          </a:p>
        </p:txBody>
      </p:sp>
      <p:sp>
        <p:nvSpPr>
          <p:cNvPr id="21" name="step Decide"/>
          <p:cNvSpPr/>
          <p:nvPr/>
        </p:nvSpPr>
        <p:spPr>
          <a:xfrm>
            <a:off x="6766560" y="1143000"/>
            <a:ext cx="1920240" cy="3383280"/>
          </a:xfrm>
          <a:prstGeom prst="roundRect">
            <a:avLst>
              <a:gd name="adj" fmla="val 3810"/>
            </a:avLst>
          </a:prstGeom>
          <a:solidFill>
            <a:schemeClr val="bg2"/>
          </a:solidFill>
          <a:ln w="9525">
            <a:solidFill>
              <a:schemeClr val="accent6"/>
            </a:solidFill>
            <a:prstDash val="solid"/>
          </a:ln>
        </p:spPr>
      </p:sp>
      <p:sp>
        <p:nvSpPr>
          <p:cNvPr id="22" name="step icon circle"/>
          <p:cNvSpPr/>
          <p:nvPr/>
        </p:nvSpPr>
        <p:spPr>
          <a:xfrm>
            <a:off x="6949440" y="1325880"/>
            <a:ext cx="502920" cy="502920"/>
          </a:xfrm>
          <a:prstGeom prst="ellipse">
            <a:avLst/>
          </a:prstGeom>
          <a:solidFill>
            <a:schemeClr val="accent2"/>
          </a:solidFill>
          <a:ln w="12700">
            <a:solidFill>
              <a:schemeClr val="accent2"/>
            </a:solidFill>
            <a:prstDash val="solid"/>
          </a:ln>
        </p:spPr>
      </p:sp>
      <p:pic>
        <p:nvPicPr>
          <p:cNvPr id="23" name="step icon" descr="preencoded.png">    </p:cNvPr>
          <p:cNvPicPr>
            <a:picLocks noChangeAspect="1"/>
          </p:cNvPicPr>
          <p:nvPr/>
        </p:nvPicPr>
        <p:blipFill>
          <a:blip r:embed="rId4"/>
          <a:stretch>
            <a:fillRect/>
          </a:stretch>
        </p:blipFill>
        <p:spPr>
          <a:xfrm>
            <a:off x="7072884" y="1449324"/>
            <a:ext cx="256032" cy="256032"/>
          </a:xfrm>
          <a:prstGeom prst="rect">
            <a:avLst/>
          </a:prstGeom>
        </p:spPr>
      </p:pic>
      <p:sp>
        <p:nvSpPr>
          <p:cNvPr id="24" name="step head"/>
          <p:cNvSpPr txBox="1"/>
          <p:nvPr/>
        </p:nvSpPr>
        <p:spPr>
          <a:xfrm>
            <a:off x="6949440" y="1965960"/>
            <a:ext cx="1554480" cy="347472"/>
          </a:xfrm>
          <a:prstGeom prst="rect">
            <a:avLst/>
          </a:prstGeom>
          <a:noFill/>
          <a:ln/>
        </p:spPr>
        <p:txBody>
          <a:bodyPr wrap="square" lIns="0" tIns="0" rIns="0" bIns="0" rtlCol="0" anchor="ctr"/>
          <a:lstStyle/>
          <a:p>
            <a:pPr indent="0" marL="0">
              <a:buNone/>
            </a:pPr>
            <a:r>
              <a:rPr lang="en-US" sz="1600" b="1" dirty="0">
                <a:solidFill>
                  <a:schemeClr val="tx1"/>
                </a:solidFill>
              </a:rPr>
              <a:t>4. Decide</a:t>
            </a:r>
            <a:endParaRPr lang="en-US" sz="1600" dirty="0"/>
          </a:p>
        </p:txBody>
      </p:sp>
      <p:sp>
        <p:nvSpPr>
          <p:cNvPr id="25" name="step text"/>
          <p:cNvSpPr txBox="1"/>
          <p:nvPr/>
        </p:nvSpPr>
        <p:spPr>
          <a:xfrm>
            <a:off x="6949440" y="2359152"/>
            <a:ext cx="1600200" cy="1463040"/>
          </a:xfrm>
          <a:prstGeom prst="rect">
            <a:avLst/>
          </a:prstGeom>
          <a:noFill/>
          <a:ln/>
        </p:spPr>
        <p:txBody>
          <a:bodyPr wrap="square" lIns="0" tIns="0" rIns="0" bIns="0" rtlCol="0" anchor="t"/>
          <a:lstStyle/>
          <a:p>
            <a:pPr indent="0" marL="0">
              <a:buNone/>
            </a:pPr>
            <a:r>
              <a:rPr lang="en-US" sz="1100" dirty="0">
                <a:solidFill>
                  <a:schemeClr val="tx2"/>
                </a:solidFill>
              </a:rPr>
              <a:t>Monday bid meeting works the ranked list. The room overrides, the override is logged and becomes training data.</a:t>
            </a:r>
            <a:endParaRPr lang="en-US" sz="1100" dirty="0"/>
          </a:p>
        </p:txBody>
      </p:sp>
      <p:sp>
        <p:nvSpPr>
          <p:cNvPr id="26" name="step produces"/>
          <p:cNvSpPr txBox="1"/>
          <p:nvPr/>
        </p:nvSpPr>
        <p:spPr>
          <a:xfrm>
            <a:off x="6949440" y="3931920"/>
            <a:ext cx="1600200" cy="457200"/>
          </a:xfrm>
          <a:prstGeom prst="rect">
            <a:avLst/>
          </a:prstGeom>
          <a:noFill/>
          <a:ln/>
        </p:spPr>
        <p:txBody>
          <a:bodyPr wrap="square" lIns="0" tIns="0" rIns="0" bIns="0" rtlCol="0" anchor="t"/>
          <a:lstStyle/>
          <a:p>
            <a:pPr indent="0" marL="0">
              <a:buNone/>
            </a:pPr>
            <a:r>
              <a:rPr lang="en-US" sz="1050" i="1" dirty="0">
                <a:solidFill>
                  <a:schemeClr val="accent1"/>
                </a:solidFill>
              </a:rPr>
              <a:t>Produces: better odds next quarter</a:t>
            </a:r>
            <a:endParaRPr lang="en-US" sz="10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The data it needs: five tables, most of which already exist somewhere</a:t>
            </a:r>
            <a:endParaRPr lang="en-US" sz="2400" dirty="0"/>
          </a:p>
        </p:txBody>
      </p:sp>
      <p:graphicFrame>
        <p:nvGraphicFramePr>
          <p:cNvPr id="7" name="intake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097280"/>
                <a:gridCol w="1828800"/>
                <a:gridCol w="3291840"/>
                <a:gridCol w="2011680"/>
              </a:tblGrid>
              <a:tr h="457200">
                <a:tc>
                  <a:txBody>
                    <a:bodyPr/>
                    <a:lstStyle/>
                    <a:p>
                      <a:pPr algn="l" indent="0" marL="0">
                        <a:buNone/>
                      </a:pPr>
                      <a:r>
                        <a:rPr lang="en-US" sz="950" b="1" dirty="0">
                          <a:solidFill>
                            <a:srgbClr val="4A5660"/>
                          </a:solidFill>
                          <a:latin typeface="+mn-lt" pitchFamily="34" charset="0"/>
                          <a:ea typeface="+mn-lt" pitchFamily="34" charset="-122"/>
                          <a:cs typeface="+mn-lt" pitchFamily="34" charset="-120"/>
                        </a:rPr>
                        <a:t>Table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50" b="1" dirty="0">
                          <a:solidFill>
                            <a:srgbClr val="4A5660"/>
                          </a:solidFill>
                          <a:latin typeface="+mn-lt" pitchFamily="34" charset="0"/>
                          <a:ea typeface="+mn-lt" pitchFamily="34" charset="-122"/>
                          <a:cs typeface="+mn-lt" pitchFamily="34" charset="-120"/>
                        </a:rPr>
                        <a:t>One row per</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50" b="1" dirty="0">
                          <a:solidFill>
                            <a:srgbClr val="4A5660"/>
                          </a:solidFill>
                          <a:latin typeface="+mn-lt" pitchFamily="34" charset="0"/>
                          <a:ea typeface="+mn-lt" pitchFamily="34" charset="-122"/>
                          <a:cs typeface="+mn-lt" pitchFamily="34" charset="-120"/>
                        </a:rPr>
                        <a:t>Core fields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50" b="1" dirty="0">
                          <a:solidFill>
                            <a:srgbClr val="4A5660"/>
                          </a:solidFill>
                          <a:latin typeface="+mn-lt" pitchFamily="34" charset="0"/>
                          <a:ea typeface="+mn-lt" pitchFamily="34" charset="-122"/>
                          <a:cs typeface="+mn-lt" pitchFamily="34" charset="-120"/>
                        </a:rPr>
                        <a:t>Where it lives today</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r>
              <a:tr h="457200">
                <a:tc>
                  <a:txBody>
                    <a:bodyPr/>
                    <a:lstStyle/>
                    <a:p>
                      <a:pPr algn="l" indent="0" marL="0">
                        <a:buNone/>
                      </a:pPr>
                      <a:r>
                        <a:rPr lang="en-US" sz="950" dirty="0">
                          <a:solidFill>
                            <a:srgbClr val="1F2A33"/>
                          </a:solidFill>
                          <a:latin typeface="+mn-lt" pitchFamily="34" charset="0"/>
                          <a:ea typeface="+mn-lt" pitchFamily="34" charset="-122"/>
                          <a:cs typeface="+mn-lt" pitchFamily="34" charset="-120"/>
                        </a:rPr>
                        <a:t>Customers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General contractor or owner</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Name, HQ, tier, first contact</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Estimators' contacts, QuickBooks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457200">
                <a:tc>
                  <a:txBody>
                    <a:bodyPr/>
                    <a:lstStyle/>
                    <a:p>
                      <a:pPr algn="l" indent="0" marL="0">
                        <a:buNone/>
                      </a:pPr>
                      <a:r>
                        <a:rPr lang="en-US" sz="950" dirty="0">
                          <a:solidFill>
                            <a:srgbClr val="1F2A33"/>
                          </a:solidFill>
                          <a:latin typeface="+mn-lt" pitchFamily="34" charset="0"/>
                          <a:ea typeface="+mn-lt" pitchFamily="34" charset="-122"/>
                          <a:cs typeface="+mn-lt" pitchFamily="34" charset="-120"/>
                        </a:rPr>
                        <a:t>Opportunities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Project we heard about, bid or not</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GC, type, city, miles, tons, complexity, delivery method, scope, due date, fab window, bid / no-bid and why</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Email, the whiteboard</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457200">
                <a:tc>
                  <a:txBody>
                    <a:bodyPr/>
                    <a:lstStyle/>
                    <a:p>
                      <a:pPr algn="l" indent="0" marL="0">
                        <a:buNone/>
                      </a:pPr>
                      <a:r>
                        <a:rPr lang="en-US" sz="950" dirty="0">
                          <a:solidFill>
                            <a:srgbClr val="1F2A33"/>
                          </a:solidFill>
                          <a:latin typeface="+mn-lt" pitchFamily="34" charset="0"/>
                          <a:ea typeface="+mn-lt" pitchFamily="34" charset="-122"/>
                          <a:cs typeface="+mn-lt" pitchFamily="34" charset="-120"/>
                        </a:rPr>
                        <a:t>Bids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Number we submitted</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Estimating hours, cost build-up, markup, price, bidders, result, lost reason, low bid number</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Estimating log, bid tabs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457200">
                <a:tc>
                  <a:txBody>
                    <a:bodyPr/>
                    <a:lstStyle/>
                    <a:p>
                      <a:pPr algn="l" indent="0" marL="0">
                        <a:buNone/>
                      </a:pPr>
                      <a:r>
                        <a:rPr lang="en-US" sz="950" dirty="0">
                          <a:solidFill>
                            <a:srgbClr val="1F2A33"/>
                          </a:solidFill>
                          <a:latin typeface="+mn-lt" pitchFamily="34" charset="0"/>
                          <a:ea typeface="+mn-lt" pitchFamily="34" charset="-122"/>
                          <a:cs typeface="+mn-lt" pitchFamily="34" charset="-120"/>
                        </a:rPr>
                        <a:t>Jobs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Won bid, filled in as it runs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Actual hours and material, change orders requested and approved, final revenue, schedule variance, NCRs, days to pay</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Job cost, PM close-outs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457200">
                <a:tc>
                  <a:txBody>
                    <a:bodyPr/>
                    <a:lstStyle/>
                    <a:p>
                      <a:pPr algn="l" indent="0" marL="0">
                        <a:buNone/>
                      </a:pPr>
                      <a:r>
                        <a:rPr lang="en-US" sz="950" dirty="0">
                          <a:solidFill>
                            <a:srgbClr val="1F2A33"/>
                          </a:solidFill>
                          <a:latin typeface="+mn-lt" pitchFamily="34" charset="0"/>
                          <a:ea typeface="+mn-lt" pitchFamily="34" charset="-122"/>
                          <a:cs typeface="+mn-lt" pitchFamily="34" charset="-120"/>
                        </a:rPr>
                        <a:t>Pipeline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Project expected to bid in 6 to 24 months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Same as opportunities plus status: lead, invited, bidding</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Does not exist yet</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4" name="intake note"/>
          <p:cNvSpPr txBox="1"/>
          <p:nvPr/>
        </p:nvSpPr>
        <p:spPr>
          <a:xfrm>
            <a:off x="457200" y="4023360"/>
            <a:ext cx="8229600" cy="640080"/>
          </a:xfrm>
          <a:prstGeom prst="rect">
            <a:avLst/>
          </a:prstGeom>
          <a:noFill/>
          <a:ln/>
        </p:spPr>
        <p:txBody>
          <a:bodyPr wrap="square" lIns="0" tIns="0" rIns="0" bIns="0" rtlCol="0" anchor="t"/>
          <a:lstStyle/>
          <a:p>
            <a:pPr indent="0" marL="0">
              <a:buNone/>
            </a:pPr>
            <a:r>
              <a:rPr lang="en-US" sz="1150" b="1" dirty="0">
                <a:solidFill>
                  <a:schemeClr val="tx1"/>
                </a:solidFill>
              </a:rPr>
              <a:t>The two fields that are missing almost everywhere: </a:t>
            </a:r>
            <a:pPr indent="0" marL="0">
              <a:buNone/>
            </a:pPr>
            <a:r>
              <a:rPr lang="en-US" sz="1150" dirty="0">
                <a:solidFill>
                  <a:schemeClr val="tx1"/>
                </a:solidFill>
              </a:rPr>
              <a:t>the no-bid decision with its reason, and the low number when we lose on price. Coverage of those two fields is the first KPI I would report, because every other number depends on them.</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863840" cy="914400"/>
          </a:xfrm>
          <a:prstGeom prst="rect">
            <a:avLst/>
          </a:prstGeom>
          <a:noFill/>
          <a:ln/>
        </p:spPr>
        <p:txBody>
          <a:bodyPr wrap="square" lIns="0" tIns="0" rIns="0" bIns="0" rtlCol="0" anchor="ctr"/>
          <a:lstStyle/>
          <a:p>
            <a:pPr indent="0" marL="0">
              <a:buNone/>
            </a:pPr>
            <a:r>
              <a:rPr lang="en-US" sz="3200" b="1" dirty="0">
                <a:solidFill>
                  <a:schemeClr val="bg1"/>
                </a:solidFill>
              </a:rPr>
              <a:t>2. What the data says</a:t>
            </a:r>
            <a:endParaRPr lang="en-US" sz="3200" dirty="0"/>
          </a:p>
        </p:txBody>
      </p:sp>
      <p:sp>
        <p:nvSpPr>
          <p:cNvPr id="3" name="Text 0"/>
          <p:cNvSpPr/>
          <p:nvPr>
            <p:ph idx="101" type="body" hasCustomPrompt="1"/>
          </p:nvPr>
        </p:nvSpPr>
        <p:spPr>
          <a:xfrm>
            <a:off x="640080" y="2788920"/>
            <a:ext cx="7863840" cy="822960"/>
          </a:xfrm>
          <a:prstGeom prst="rect">
            <a:avLst/>
          </a:prstGeom>
          <a:noFill/>
          <a:ln/>
        </p:spPr>
        <p:txBody>
          <a:bodyPr wrap="square" lIns="0" tIns="0" rIns="0" bIns="0" rtlCol="0" anchor="t"/>
          <a:lstStyle/>
          <a:p>
            <a:pPr indent="0" marL="0">
              <a:buNone/>
            </a:pPr>
            <a:r>
              <a:rPr lang="en-US" sz="1500" dirty="0">
                <a:solidFill>
                  <a:schemeClr val="accent6"/>
                </a:solidFill>
              </a:rPr>
              <a:t>413 bids over four and three-quarter years, 95 completed jobs, 36 general contractors. Shaped like a real shop's history.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The business at a glance, trailing twelve months</a:t>
            </a:r>
            <a:endParaRPr lang="en-US" sz="2400" dirty="0"/>
          </a:p>
        </p:txBody>
      </p:sp>
      <p:sp>
        <p:nvSpPr>
          <p:cNvPr id="3" name="stat Hit rate"/>
          <p:cNvSpPr/>
          <p:nvPr/>
        </p:nvSpPr>
        <p:spPr>
          <a:xfrm>
            <a:off x="457200" y="1143000"/>
            <a:ext cx="2697480" cy="1417320"/>
          </a:xfrm>
          <a:prstGeom prst="roundRect">
            <a:avLst>
              <a:gd name="adj" fmla="val 5161"/>
            </a:avLst>
          </a:prstGeom>
          <a:solidFill>
            <a:schemeClr val="bg2"/>
          </a:solidFill>
          <a:ln w="9525">
            <a:solidFill>
              <a:schemeClr val="accent6"/>
            </a:solidFill>
            <a:prstDash val="solid"/>
          </a:ln>
        </p:spPr>
      </p:sp>
      <p:sp>
        <p:nvSpPr>
          <p:cNvPr id="4" name="stat value Hit rate"/>
          <p:cNvSpPr txBox="1"/>
          <p:nvPr/>
        </p:nvSpPr>
        <p:spPr>
          <a:xfrm>
            <a:off x="621792" y="1234440"/>
            <a:ext cx="2368296" cy="548640"/>
          </a:xfrm>
          <a:prstGeom prst="rect">
            <a:avLst/>
          </a:prstGeom>
          <a:noFill/>
          <a:ln/>
        </p:spPr>
        <p:txBody>
          <a:bodyPr wrap="square" lIns="0" tIns="0" rIns="0" bIns="0" rtlCol="0" anchor="ctr"/>
          <a:lstStyle/>
          <a:p>
            <a:pPr indent="0" marL="0">
              <a:buNone/>
            </a:pPr>
            <a:r>
              <a:rPr lang="en-US" sz="2600" b="1" dirty="0">
                <a:solidFill>
                  <a:schemeClr val="tx1"/>
                </a:solidFill>
              </a:rPr>
              <a:t>25%</a:t>
            </a:r>
            <a:endParaRPr lang="en-US" sz="2600" dirty="0"/>
          </a:p>
        </p:txBody>
      </p:sp>
      <p:sp>
        <p:nvSpPr>
          <p:cNvPr id="5" name="stat label Hit rate"/>
          <p:cNvSpPr txBox="1"/>
          <p:nvPr/>
        </p:nvSpPr>
        <p:spPr>
          <a:xfrm>
            <a:off x="621792" y="1783080"/>
            <a:ext cx="2368296" cy="292608"/>
          </a:xfrm>
          <a:prstGeom prst="rect">
            <a:avLst/>
          </a:prstGeom>
          <a:noFill/>
          <a:ln/>
        </p:spPr>
        <p:txBody>
          <a:bodyPr wrap="square" lIns="0" tIns="0" rIns="0" bIns="0" rtlCol="0" anchor="ctr"/>
          <a:lstStyle/>
          <a:p>
            <a:pPr indent="0" marL="0">
              <a:buNone/>
            </a:pPr>
            <a:r>
              <a:rPr lang="en-US" sz="1150" b="1" dirty="0">
                <a:solidFill>
                  <a:schemeClr val="tx2"/>
                </a:solidFill>
              </a:rPr>
              <a:t>Hit rate</a:t>
            </a:r>
            <a:endParaRPr lang="en-US" sz="1150" dirty="0"/>
          </a:p>
        </p:txBody>
      </p:sp>
      <p:sp>
        <p:nvSpPr>
          <p:cNvPr id="6" name="stat note Hit rate"/>
          <p:cNvSpPr txBox="1"/>
          <p:nvPr/>
        </p:nvSpPr>
        <p:spPr>
          <a:xfrm>
            <a:off x="621792" y="2057400"/>
            <a:ext cx="2368296" cy="457200"/>
          </a:xfrm>
          <a:prstGeom prst="rect">
            <a:avLst/>
          </a:prstGeom>
          <a:noFill/>
          <a:ln/>
        </p:spPr>
        <p:txBody>
          <a:bodyPr wrap="square" lIns="0" tIns="0" rIns="0" bIns="0" rtlCol="0" anchor="ctr"/>
          <a:lstStyle/>
          <a:p>
            <a:pPr indent="0" marL="0">
              <a:buNone/>
            </a:pPr>
            <a:r>
              <a:rPr lang="en-US" sz="950" dirty="0">
                <a:solidFill>
                  <a:schemeClr val="accent5"/>
                </a:solidFill>
              </a:rPr>
              <a:t>20 of 80 decided bids; prior year 33%</a:t>
            </a:r>
            <a:endParaRPr lang="en-US" sz="950" dirty="0"/>
          </a:p>
        </p:txBody>
      </p:sp>
      <p:sp>
        <p:nvSpPr>
          <p:cNvPr id="7" name="stat Value won"/>
          <p:cNvSpPr/>
          <p:nvPr/>
        </p:nvSpPr>
        <p:spPr>
          <a:xfrm>
            <a:off x="3246120" y="1143000"/>
            <a:ext cx="2697480" cy="1417320"/>
          </a:xfrm>
          <a:prstGeom prst="roundRect">
            <a:avLst>
              <a:gd name="adj" fmla="val 5161"/>
            </a:avLst>
          </a:prstGeom>
          <a:solidFill>
            <a:schemeClr val="bg2"/>
          </a:solidFill>
          <a:ln w="9525">
            <a:solidFill>
              <a:schemeClr val="accent6"/>
            </a:solidFill>
            <a:prstDash val="solid"/>
          </a:ln>
        </p:spPr>
      </p:sp>
      <p:sp>
        <p:nvSpPr>
          <p:cNvPr id="8" name="stat value Value won"/>
          <p:cNvSpPr txBox="1"/>
          <p:nvPr/>
        </p:nvSpPr>
        <p:spPr>
          <a:xfrm>
            <a:off x="3410712" y="1234440"/>
            <a:ext cx="2368296" cy="548640"/>
          </a:xfrm>
          <a:prstGeom prst="rect">
            <a:avLst/>
          </a:prstGeom>
          <a:noFill/>
          <a:ln/>
        </p:spPr>
        <p:txBody>
          <a:bodyPr wrap="square" lIns="0" tIns="0" rIns="0" bIns="0" rtlCol="0" anchor="ctr"/>
          <a:lstStyle/>
          <a:p>
            <a:pPr indent="0" marL="0">
              <a:buNone/>
            </a:pPr>
            <a:r>
              <a:rPr lang="en-US" sz="2600" b="1" dirty="0">
                <a:solidFill>
                  <a:schemeClr val="tx1"/>
                </a:solidFill>
              </a:rPr>
              <a:t>$19.4M</a:t>
            </a:r>
            <a:endParaRPr lang="en-US" sz="2600" dirty="0"/>
          </a:p>
        </p:txBody>
      </p:sp>
      <p:sp>
        <p:nvSpPr>
          <p:cNvPr id="9" name="stat label Value won"/>
          <p:cNvSpPr txBox="1"/>
          <p:nvPr/>
        </p:nvSpPr>
        <p:spPr>
          <a:xfrm>
            <a:off x="3410712" y="1783080"/>
            <a:ext cx="2368296" cy="292608"/>
          </a:xfrm>
          <a:prstGeom prst="rect">
            <a:avLst/>
          </a:prstGeom>
          <a:noFill/>
          <a:ln/>
        </p:spPr>
        <p:txBody>
          <a:bodyPr wrap="square" lIns="0" tIns="0" rIns="0" bIns="0" rtlCol="0" anchor="ctr"/>
          <a:lstStyle/>
          <a:p>
            <a:pPr indent="0" marL="0">
              <a:buNone/>
            </a:pPr>
            <a:r>
              <a:rPr lang="en-US" sz="1150" b="1" dirty="0">
                <a:solidFill>
                  <a:schemeClr val="tx2"/>
                </a:solidFill>
              </a:rPr>
              <a:t>Value won</a:t>
            </a:r>
            <a:endParaRPr lang="en-US" sz="1150" dirty="0"/>
          </a:p>
        </p:txBody>
      </p:sp>
      <p:sp>
        <p:nvSpPr>
          <p:cNvPr id="10" name="stat note Value won"/>
          <p:cNvSpPr txBox="1"/>
          <p:nvPr/>
        </p:nvSpPr>
        <p:spPr>
          <a:xfrm>
            <a:off x="3410712" y="2057400"/>
            <a:ext cx="2368296" cy="457200"/>
          </a:xfrm>
          <a:prstGeom prst="rect">
            <a:avLst/>
          </a:prstGeom>
          <a:noFill/>
          <a:ln/>
        </p:spPr>
        <p:txBody>
          <a:bodyPr wrap="square" lIns="0" tIns="0" rIns="0" bIns="0" rtlCol="0" anchor="ctr"/>
          <a:lstStyle/>
          <a:p>
            <a:pPr indent="0" marL="0">
              <a:buNone/>
            </a:pPr>
            <a:r>
              <a:rPr lang="en-US" sz="950" dirty="0">
                <a:solidFill>
                  <a:schemeClr val="accent5"/>
                </a:solidFill>
              </a:rPr>
              <a:t>5,088 tons</a:t>
            </a:r>
            <a:endParaRPr lang="en-US" sz="950" dirty="0"/>
          </a:p>
        </p:txBody>
      </p:sp>
      <p:sp>
        <p:nvSpPr>
          <p:cNvPr id="11" name="stat Won work waiting for the shop"/>
          <p:cNvSpPr/>
          <p:nvPr/>
        </p:nvSpPr>
        <p:spPr>
          <a:xfrm>
            <a:off x="6035040" y="1143000"/>
            <a:ext cx="2697480" cy="1417320"/>
          </a:xfrm>
          <a:prstGeom prst="roundRect">
            <a:avLst>
              <a:gd name="adj" fmla="val 5161"/>
            </a:avLst>
          </a:prstGeom>
          <a:solidFill>
            <a:schemeClr val="bg2"/>
          </a:solidFill>
          <a:ln w="9525">
            <a:solidFill>
              <a:schemeClr val="accent6"/>
            </a:solidFill>
            <a:prstDash val="solid"/>
          </a:ln>
        </p:spPr>
      </p:sp>
      <p:sp>
        <p:nvSpPr>
          <p:cNvPr id="12" name="stat value Won work waiting for the shop"/>
          <p:cNvSpPr txBox="1"/>
          <p:nvPr/>
        </p:nvSpPr>
        <p:spPr>
          <a:xfrm>
            <a:off x="6199632" y="1234440"/>
            <a:ext cx="2368296" cy="548640"/>
          </a:xfrm>
          <a:prstGeom prst="rect">
            <a:avLst/>
          </a:prstGeom>
          <a:noFill/>
          <a:ln/>
        </p:spPr>
        <p:txBody>
          <a:bodyPr wrap="square" lIns="0" tIns="0" rIns="0" bIns="0" rtlCol="0" anchor="ctr"/>
          <a:lstStyle/>
          <a:p>
            <a:pPr indent="0" marL="0">
              <a:buNone/>
            </a:pPr>
            <a:r>
              <a:rPr lang="en-US" sz="2600" b="1" dirty="0">
                <a:solidFill>
                  <a:schemeClr val="tx1"/>
                </a:solidFill>
              </a:rPr>
              <a:t>16 weeks</a:t>
            </a:r>
            <a:endParaRPr lang="en-US" sz="2600" dirty="0"/>
          </a:p>
        </p:txBody>
      </p:sp>
      <p:sp>
        <p:nvSpPr>
          <p:cNvPr id="13" name="stat label Won work waiting for the shop"/>
          <p:cNvSpPr txBox="1"/>
          <p:nvPr/>
        </p:nvSpPr>
        <p:spPr>
          <a:xfrm>
            <a:off x="6199632" y="1783080"/>
            <a:ext cx="2368296" cy="292608"/>
          </a:xfrm>
          <a:prstGeom prst="rect">
            <a:avLst/>
          </a:prstGeom>
          <a:noFill/>
          <a:ln/>
        </p:spPr>
        <p:txBody>
          <a:bodyPr wrap="square" lIns="0" tIns="0" rIns="0" bIns="0" rtlCol="0" anchor="ctr"/>
          <a:lstStyle/>
          <a:p>
            <a:pPr indent="0" marL="0">
              <a:buNone/>
            </a:pPr>
            <a:r>
              <a:rPr lang="en-US" sz="1150" b="1" dirty="0">
                <a:solidFill>
                  <a:schemeClr val="tx2"/>
                </a:solidFill>
              </a:rPr>
              <a:t>Won work waiting for the shop</a:t>
            </a:r>
            <a:endParaRPr lang="en-US" sz="1150" dirty="0"/>
          </a:p>
        </p:txBody>
      </p:sp>
      <p:sp>
        <p:nvSpPr>
          <p:cNvPr id="14" name="stat note Won work waiting for the shop"/>
          <p:cNvSpPr txBox="1"/>
          <p:nvPr/>
        </p:nvSpPr>
        <p:spPr>
          <a:xfrm>
            <a:off x="6199632" y="2057400"/>
            <a:ext cx="2368296" cy="457200"/>
          </a:xfrm>
          <a:prstGeom prst="rect">
            <a:avLst/>
          </a:prstGeom>
          <a:noFill/>
          <a:ln/>
        </p:spPr>
        <p:txBody>
          <a:bodyPr wrap="square" lIns="0" tIns="0" rIns="0" bIns="0" rtlCol="0" anchor="ctr"/>
          <a:lstStyle/>
          <a:p>
            <a:pPr indent="0" marL="0">
              <a:buNone/>
            </a:pPr>
            <a:r>
              <a:rPr lang="en-US" sz="950" dirty="0">
                <a:solidFill>
                  <a:schemeClr val="accent5"/>
                </a:solidFill>
              </a:rPr>
              <a:t>2,286 tons at 140 tons a week</a:t>
            </a:r>
            <a:endParaRPr lang="en-US" sz="950" dirty="0"/>
          </a:p>
        </p:txBody>
      </p:sp>
      <p:sp>
        <p:nvSpPr>
          <p:cNvPr id="15" name="stat How full the shop looks next year"/>
          <p:cNvSpPr/>
          <p:nvPr/>
        </p:nvSpPr>
        <p:spPr>
          <a:xfrm>
            <a:off x="457200" y="2743200"/>
            <a:ext cx="2697480" cy="1417320"/>
          </a:xfrm>
          <a:prstGeom prst="roundRect">
            <a:avLst>
              <a:gd name="adj" fmla="val 5161"/>
            </a:avLst>
          </a:prstGeom>
          <a:solidFill>
            <a:schemeClr val="bg2"/>
          </a:solidFill>
          <a:ln w="9525">
            <a:solidFill>
              <a:schemeClr val="accent6"/>
            </a:solidFill>
            <a:prstDash val="solid"/>
          </a:ln>
        </p:spPr>
      </p:sp>
      <p:sp>
        <p:nvSpPr>
          <p:cNvPr id="16" name="stat value How full the shop looks next year"/>
          <p:cNvSpPr txBox="1"/>
          <p:nvPr/>
        </p:nvSpPr>
        <p:spPr>
          <a:xfrm>
            <a:off x="621792" y="2834640"/>
            <a:ext cx="2368296" cy="548640"/>
          </a:xfrm>
          <a:prstGeom prst="rect">
            <a:avLst/>
          </a:prstGeom>
          <a:noFill/>
          <a:ln/>
        </p:spPr>
        <p:txBody>
          <a:bodyPr wrap="square" lIns="0" tIns="0" rIns="0" bIns="0" rtlCol="0" anchor="ctr"/>
          <a:lstStyle/>
          <a:p>
            <a:pPr indent="0" marL="0">
              <a:buNone/>
            </a:pPr>
            <a:r>
              <a:rPr lang="en-US" sz="2600" b="1" dirty="0">
                <a:solidFill>
                  <a:schemeClr val="accent1"/>
                </a:solidFill>
              </a:rPr>
              <a:t>50%</a:t>
            </a:r>
            <a:endParaRPr lang="en-US" sz="2600" dirty="0"/>
          </a:p>
        </p:txBody>
      </p:sp>
      <p:sp>
        <p:nvSpPr>
          <p:cNvPr id="17" name="stat label How full the shop looks next year"/>
          <p:cNvSpPr txBox="1"/>
          <p:nvPr/>
        </p:nvSpPr>
        <p:spPr>
          <a:xfrm>
            <a:off x="621792" y="3383280"/>
            <a:ext cx="2368296" cy="292608"/>
          </a:xfrm>
          <a:prstGeom prst="rect">
            <a:avLst/>
          </a:prstGeom>
          <a:noFill/>
          <a:ln/>
        </p:spPr>
        <p:txBody>
          <a:bodyPr wrap="square" lIns="0" tIns="0" rIns="0" bIns="0" rtlCol="0" anchor="ctr"/>
          <a:lstStyle/>
          <a:p>
            <a:pPr indent="0" marL="0">
              <a:buNone/>
            </a:pPr>
            <a:r>
              <a:rPr lang="en-US" sz="1150" b="1" dirty="0">
                <a:solidFill>
                  <a:schemeClr val="tx2"/>
                </a:solidFill>
              </a:rPr>
              <a:t>How full the shop looks next year</a:t>
            </a:r>
            <a:endParaRPr lang="en-US" sz="1150" dirty="0"/>
          </a:p>
        </p:txBody>
      </p:sp>
      <p:sp>
        <p:nvSpPr>
          <p:cNvPr id="18" name="stat note How full the shop looks next year"/>
          <p:cNvSpPr txBox="1"/>
          <p:nvPr/>
        </p:nvSpPr>
        <p:spPr>
          <a:xfrm>
            <a:off x="621792" y="3657600"/>
            <a:ext cx="2368296" cy="457200"/>
          </a:xfrm>
          <a:prstGeom prst="rect">
            <a:avLst/>
          </a:prstGeom>
          <a:noFill/>
          <a:ln/>
        </p:spPr>
        <p:txBody>
          <a:bodyPr wrap="square" lIns="0" tIns="0" rIns="0" bIns="0" rtlCol="0" anchor="ctr"/>
          <a:lstStyle/>
          <a:p>
            <a:pPr indent="0" marL="0">
              <a:buNone/>
            </a:pPr>
            <a:r>
              <a:rPr lang="en-US" sz="950" dirty="0">
                <a:solidFill>
                  <a:schemeClr val="accent5"/>
                </a:solidFill>
              </a:rPr>
              <a:t>won work plus upcoming work at its odds</a:t>
            </a:r>
            <a:endParaRPr lang="en-US" sz="950" dirty="0"/>
          </a:p>
        </p:txBody>
      </p:sp>
      <p:sp>
        <p:nvSpPr>
          <p:cNvPr id="19" name="stat Margin estimated but not kept"/>
          <p:cNvSpPr/>
          <p:nvPr/>
        </p:nvSpPr>
        <p:spPr>
          <a:xfrm>
            <a:off x="3246120" y="2743200"/>
            <a:ext cx="2697480" cy="1417320"/>
          </a:xfrm>
          <a:prstGeom prst="roundRect">
            <a:avLst>
              <a:gd name="adj" fmla="val 5161"/>
            </a:avLst>
          </a:prstGeom>
          <a:solidFill>
            <a:schemeClr val="bg2"/>
          </a:solidFill>
          <a:ln w="9525">
            <a:solidFill>
              <a:schemeClr val="accent6"/>
            </a:solidFill>
            <a:prstDash val="solid"/>
          </a:ln>
        </p:spPr>
      </p:sp>
      <p:sp>
        <p:nvSpPr>
          <p:cNvPr id="20" name="stat value Margin estimated but not kept"/>
          <p:cNvSpPr txBox="1"/>
          <p:nvPr/>
        </p:nvSpPr>
        <p:spPr>
          <a:xfrm>
            <a:off x="3410712" y="2834640"/>
            <a:ext cx="2368296" cy="548640"/>
          </a:xfrm>
          <a:prstGeom prst="rect">
            <a:avLst/>
          </a:prstGeom>
          <a:noFill/>
          <a:ln/>
        </p:spPr>
        <p:txBody>
          <a:bodyPr wrap="square" lIns="0" tIns="0" rIns="0" bIns="0" rtlCol="0" anchor="ctr"/>
          <a:lstStyle/>
          <a:p>
            <a:pPr indent="0" marL="0">
              <a:buNone/>
            </a:pPr>
            <a:r>
              <a:rPr lang="en-US" sz="2600" b="1" dirty="0">
                <a:solidFill>
                  <a:schemeClr val="accent1"/>
                </a:solidFill>
              </a:rPr>
              <a:t>4.5 pts</a:t>
            </a:r>
            <a:endParaRPr lang="en-US" sz="2600" dirty="0"/>
          </a:p>
        </p:txBody>
      </p:sp>
      <p:sp>
        <p:nvSpPr>
          <p:cNvPr id="21" name="stat label Margin estimated but not kept"/>
          <p:cNvSpPr txBox="1"/>
          <p:nvPr/>
        </p:nvSpPr>
        <p:spPr>
          <a:xfrm>
            <a:off x="3410712" y="3383280"/>
            <a:ext cx="2368296" cy="292608"/>
          </a:xfrm>
          <a:prstGeom prst="rect">
            <a:avLst/>
          </a:prstGeom>
          <a:noFill/>
          <a:ln/>
        </p:spPr>
        <p:txBody>
          <a:bodyPr wrap="square" lIns="0" tIns="0" rIns="0" bIns="0" rtlCol="0" anchor="ctr"/>
          <a:lstStyle/>
          <a:p>
            <a:pPr indent="0" marL="0">
              <a:buNone/>
            </a:pPr>
            <a:r>
              <a:rPr lang="en-US" sz="1150" b="1" dirty="0">
                <a:solidFill>
                  <a:schemeClr val="tx2"/>
                </a:solidFill>
              </a:rPr>
              <a:t>Margin estimated but not kept</a:t>
            </a:r>
            <a:endParaRPr lang="en-US" sz="1150" dirty="0"/>
          </a:p>
        </p:txBody>
      </p:sp>
      <p:sp>
        <p:nvSpPr>
          <p:cNvPr id="22" name="stat note Margin estimated but not kept"/>
          <p:cNvSpPr txBox="1"/>
          <p:nvPr/>
        </p:nvSpPr>
        <p:spPr>
          <a:xfrm>
            <a:off x="3410712" y="3657600"/>
            <a:ext cx="2368296" cy="457200"/>
          </a:xfrm>
          <a:prstGeom prst="rect">
            <a:avLst/>
          </a:prstGeom>
          <a:noFill/>
          <a:ln/>
        </p:spPr>
        <p:txBody>
          <a:bodyPr wrap="square" lIns="0" tIns="0" rIns="0" bIns="0" rtlCol="0" anchor="ctr"/>
          <a:lstStyle/>
          <a:p>
            <a:pPr indent="0" marL="0">
              <a:buNone/>
            </a:pPr>
            <a:r>
              <a:rPr lang="en-US" sz="950" dirty="0">
                <a:solidFill>
                  <a:schemeClr val="accent5"/>
                </a:solidFill>
              </a:rPr>
              <a:t>estimated 22.9%, actually earned 18.3%</a:t>
            </a:r>
            <a:endParaRPr lang="en-US" sz="950" dirty="0"/>
          </a:p>
        </p:txBody>
      </p:sp>
      <p:sp>
        <p:nvSpPr>
          <p:cNvPr id="23" name="stat Upcoming projects worth chasing"/>
          <p:cNvSpPr/>
          <p:nvPr/>
        </p:nvSpPr>
        <p:spPr>
          <a:xfrm>
            <a:off x="6035040" y="2743200"/>
            <a:ext cx="2697480" cy="1417320"/>
          </a:xfrm>
          <a:prstGeom prst="roundRect">
            <a:avLst>
              <a:gd name="adj" fmla="val 5161"/>
            </a:avLst>
          </a:prstGeom>
          <a:solidFill>
            <a:schemeClr val="bg2"/>
          </a:solidFill>
          <a:ln w="9525">
            <a:solidFill>
              <a:schemeClr val="accent6"/>
            </a:solidFill>
            <a:prstDash val="solid"/>
          </a:ln>
        </p:spPr>
      </p:sp>
      <p:sp>
        <p:nvSpPr>
          <p:cNvPr id="24" name="stat value Upcoming projects worth chasing"/>
          <p:cNvSpPr txBox="1"/>
          <p:nvPr/>
        </p:nvSpPr>
        <p:spPr>
          <a:xfrm>
            <a:off x="6199632" y="2834640"/>
            <a:ext cx="2368296" cy="548640"/>
          </a:xfrm>
          <a:prstGeom prst="rect">
            <a:avLst/>
          </a:prstGeom>
          <a:noFill/>
          <a:ln/>
        </p:spPr>
        <p:txBody>
          <a:bodyPr wrap="square" lIns="0" tIns="0" rIns="0" bIns="0" rtlCol="0" anchor="ctr"/>
          <a:lstStyle/>
          <a:p>
            <a:pPr indent="0" marL="0">
              <a:buNone/>
            </a:pPr>
            <a:r>
              <a:rPr lang="en-US" sz="2600" b="1" dirty="0">
                <a:solidFill>
                  <a:schemeClr val="accent2"/>
                </a:solidFill>
              </a:rPr>
              <a:t>29 of 90</a:t>
            </a:r>
            <a:endParaRPr lang="en-US" sz="2600" dirty="0"/>
          </a:p>
        </p:txBody>
      </p:sp>
      <p:sp>
        <p:nvSpPr>
          <p:cNvPr id="25" name="stat label Upcoming projects worth chasing"/>
          <p:cNvSpPr txBox="1"/>
          <p:nvPr/>
        </p:nvSpPr>
        <p:spPr>
          <a:xfrm>
            <a:off x="6199632" y="3383280"/>
            <a:ext cx="2368296" cy="292608"/>
          </a:xfrm>
          <a:prstGeom prst="rect">
            <a:avLst/>
          </a:prstGeom>
          <a:noFill/>
          <a:ln/>
        </p:spPr>
        <p:txBody>
          <a:bodyPr wrap="square" lIns="0" tIns="0" rIns="0" bIns="0" rtlCol="0" anchor="ctr"/>
          <a:lstStyle/>
          <a:p>
            <a:pPr indent="0" marL="0">
              <a:buNone/>
            </a:pPr>
            <a:r>
              <a:rPr lang="en-US" sz="1150" b="1" dirty="0">
                <a:solidFill>
                  <a:schemeClr val="tx2"/>
                </a:solidFill>
              </a:rPr>
              <a:t>Upcoming projects worth chasing</a:t>
            </a:r>
            <a:endParaRPr lang="en-US" sz="1150" dirty="0"/>
          </a:p>
        </p:txBody>
      </p:sp>
      <p:sp>
        <p:nvSpPr>
          <p:cNvPr id="26" name="stat note Upcoming projects worth chasing"/>
          <p:cNvSpPr txBox="1"/>
          <p:nvPr/>
        </p:nvSpPr>
        <p:spPr>
          <a:xfrm>
            <a:off x="6199632" y="3657600"/>
            <a:ext cx="2368296" cy="457200"/>
          </a:xfrm>
          <a:prstGeom prst="rect">
            <a:avLst/>
          </a:prstGeom>
          <a:noFill/>
          <a:ln/>
        </p:spPr>
        <p:txBody>
          <a:bodyPr wrap="square" lIns="0" tIns="0" rIns="0" bIns="0" rtlCol="0" anchor="ctr"/>
          <a:lstStyle/>
          <a:p>
            <a:pPr indent="0" marL="0">
              <a:buNone/>
            </a:pPr>
            <a:r>
              <a:rPr lang="en-US" sz="950" dirty="0">
                <a:solidFill>
                  <a:schemeClr val="accent5"/>
                </a:solidFill>
              </a:rPr>
              <a:t>about 698 estimating hours to bid them</a:t>
            </a:r>
            <a:endParaRPr lang="en-US" sz="9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Hit rate by quarter: by count and by dollars</a:t>
            </a:r>
            <a:endParaRPr lang="en-US" sz="2400" dirty="0"/>
          </a:p>
        </p:txBody>
      </p:sp>
      <p:graphicFrame>
        <p:nvGraphicFramePr>
          <p:cNvPr id="3" name="hit rate trend" descr=""/>
          <p:cNvGraphicFramePr/>
          <p:nvPr/>
        </p:nvGraphicFramePr>
        <p:xfrm>
          <a:off x="457200" y="1097280"/>
          <a:ext cx="5669280" cy="3566160"/>
        </p:xfrm>
        <a:graphic xmlns:a="http://schemas.openxmlformats.org/drawingml/2006/main">
          <a:graphicData uri="http://schemas.openxmlformats.org/drawingml/2006/chart">
            <c:chart xmlns:c="http://schemas.openxmlformats.org/drawingml/2006/chart" r:id="rId1"/>
          </a:graphicData>
        </a:graphic>
      </p:graphicFrame>
      <p:sp>
        <p:nvSpPr>
          <p:cNvPr id="4" name="commentary"/>
          <p:cNvSpPr/>
          <p:nvPr/>
        </p:nvSpPr>
        <p:spPr>
          <a:xfrm>
            <a:off x="6355080" y="1097280"/>
            <a:ext cx="2331720" cy="3566160"/>
          </a:xfrm>
          <a:prstGeom prst="roundRect">
            <a:avLst>
              <a:gd name="adj" fmla="val 3137"/>
            </a:avLst>
          </a:prstGeom>
          <a:solidFill>
            <a:schemeClr val="bg2"/>
          </a:solidFill>
          <a:ln w="9525">
            <a:solidFill>
              <a:schemeClr val="accent6"/>
            </a:solidFill>
            <a:prstDash val="solid"/>
          </a:ln>
        </p:spPr>
      </p:sp>
      <p:sp>
        <p:nvSpPr>
          <p:cNvPr id="5" name="commentary text"/>
          <p:cNvSpPr txBox="1"/>
          <p:nvPr/>
        </p:nvSpPr>
        <p:spPr>
          <a:xfrm>
            <a:off x="6537960" y="1261872"/>
            <a:ext cx="1965960" cy="3291840"/>
          </a:xfrm>
          <a:prstGeom prst="rect">
            <a:avLst/>
          </a:prstGeom>
          <a:noFill/>
          <a:ln/>
        </p:spPr>
        <p:txBody>
          <a:bodyPr wrap="square" lIns="0" tIns="0" rIns="0" bIns="0" rtlCol="0" anchor="t"/>
          <a:lstStyle/>
          <a:p>
            <a:pPr indent="0" marL="0">
              <a:spcAft>
                <a:spcPts val="700"/>
              </a:spcAft>
              <a:buNone/>
            </a:pPr>
            <a:r>
              <a:rPr lang="en-US" sz="1200" b="1" dirty="0">
                <a:solidFill>
                  <a:schemeClr val="tx1"/>
                </a:solidFill>
              </a:rPr>
              <a:t>Decided bids only; cancelled projects do not count against us.</a:t>
            </a:r>
            <a:endParaRPr lang="en-US" sz="1200" dirty="0"/>
          </a:p>
          <a:p>
            <a:pPr indent="0" marL="0">
              <a:spcAft>
                <a:spcPts val="700"/>
              </a:spcAft>
              <a:buNone/>
            </a:pPr>
            <a:r>
              <a:rPr lang="en-US" sz="1200" dirty="0">
                <a:solidFill>
                  <a:schemeClr val="tx1"/>
                </a:solidFill>
              </a:rPr>
              <a:t>Long-run average 27%. Quarters swing because 20 bids is a small sample; one quarter is weather, four is a trend.</a:t>
            </a:r>
            <a:endParaRPr lang="en-US" sz="1200" dirty="0"/>
          </a:p>
          <a:p>
            <a:pPr indent="0" marL="0">
              <a:spcAft>
                <a:spcPts val="700"/>
              </a:spcAft>
              <a:buNone/>
            </a:pPr>
            <a:r>
              <a:rPr lang="en-US" sz="1200" dirty="0">
                <a:solidFill>
                  <a:schemeClr val="tx1"/>
                </a:solidFill>
              </a:rPr>
              <a:t>Count and dollar rates move together, so we are not winning only the small jobs.</a:t>
            </a:r>
            <a:endParaRPr lang="en-US" sz="1200" dirty="0"/>
          </a:p>
          <a:p>
            <a:pPr indent="0" marL="0">
              <a:buNone/>
            </a:pPr>
            <a:r>
              <a:rPr lang="en-US" sz="1200" b="1" dirty="0">
                <a:solidFill>
                  <a:schemeClr val="accent1"/>
                </a:solidFill>
              </a:rPr>
              <a:t>Report both every quarter and never react to one.</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Where the shop fits: hit rate and dollars won per estimating hour, by project type</a:t>
            </a:r>
            <a:endParaRPr lang="en-US" sz="2400" dirty="0"/>
          </a:p>
        </p:txBody>
      </p:sp>
      <p:graphicFrame>
        <p:nvGraphicFramePr>
          <p:cNvPr id="3" name="hit by type" descr=""/>
          <p:cNvGraphicFramePr/>
          <p:nvPr/>
        </p:nvGraphicFramePr>
        <p:xfrm>
          <a:off x="457200" y="1097280"/>
          <a:ext cx="411480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won per hour by type" descr=""/>
          <p:cNvGraphicFramePr/>
          <p:nvPr/>
        </p:nvGraphicFramePr>
        <p:xfrm>
          <a:off x="4663440" y="1097280"/>
          <a:ext cx="4023360" cy="356616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Hit rate by size, distance and how the job is bought</a:t>
            </a:r>
            <a:endParaRPr lang="en-US" sz="2400" dirty="0"/>
          </a:p>
        </p:txBody>
      </p:sp>
      <p:graphicFrame>
        <p:nvGraphicFramePr>
          <p:cNvPr id="3" name="By tonnage (bids decided)" descr=""/>
          <p:cNvGraphicFramePr/>
          <p:nvPr/>
        </p:nvGraphicFramePr>
        <p:xfrm>
          <a:off x="457200" y="1097280"/>
          <a:ext cx="269748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By distance from the shop" descr=""/>
          <p:cNvGraphicFramePr/>
          <p:nvPr/>
        </p:nvGraphicFramePr>
        <p:xfrm>
          <a:off x="3246120" y="1097280"/>
          <a:ext cx="2697480" cy="292608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By delivery method" descr=""/>
          <p:cNvGraphicFramePr/>
          <p:nvPr/>
        </p:nvGraphicFramePr>
        <p:xfrm>
          <a:off x="6035040" y="1097280"/>
          <a:ext cx="2697480" cy="2926080"/>
        </p:xfrm>
        <a:graphic xmlns:a="http://schemas.openxmlformats.org/drawingml/2006/main">
          <a:graphicData uri="http://schemas.openxmlformats.org/drawingml/2006/chart">
            <c:chart xmlns:c="http://schemas.openxmlformats.org/drawingml/2006/chart" r:id="rId3"/>
          </a:graphicData>
        </a:graphic>
      </p:graphicFrame>
      <p:sp>
        <p:nvSpPr>
          <p:cNvPr id="6" name="cuts note"/>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150" b="1" dirty="0">
                <a:solidFill>
                  <a:schemeClr val="tx1"/>
                </a:solidFill>
              </a:rPr>
              <a:t>Reading it: </a:t>
            </a:r>
            <a:pPr indent="0" marL="0">
              <a:buNone/>
            </a:pPr>
            <a:r>
              <a:rPr lang="en-US" sz="1150" dirty="0">
                <a:solidFill>
                  <a:schemeClr val="tx1"/>
                </a:solidFill>
              </a:rPr>
              <a:t>negotiated and design-build work wins roughly twice as often as hard bids; hit rate falls off beyond 250 miles (23 bids); and the mid-size bands carry most of the dollars. None of these cuts is a reason to never bid, all of them are a reason to bid differently.</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Pricing feedback: how far above the low number were we when we lost on price?</a:t>
            </a:r>
            <a:endParaRPr lang="en-US" sz="2400" dirty="0"/>
          </a:p>
        </p:txBody>
      </p:sp>
      <p:graphicFrame>
        <p:nvGraphicFramePr>
          <p:cNvPr id="3" name="gap histogram" descr=""/>
          <p:cNvGraphicFramePr/>
          <p:nvPr/>
        </p:nvGraphicFramePr>
        <p:xfrm>
          <a:off x="457200" y="1097280"/>
          <a:ext cx="4937760" cy="3017520"/>
        </p:xfrm>
        <a:graphic xmlns:a="http://schemas.openxmlformats.org/drawingml/2006/main">
          <a:graphicData uri="http://schemas.openxmlformats.org/drawingml/2006/chart">
            <c:chart xmlns:c="http://schemas.openxmlformats.org/drawingml/2006/chart" r:id="rId1"/>
          </a:graphicData>
        </a:graphic>
      </p:graphicFrame>
      <p:sp>
        <p:nvSpPr>
          <p:cNvPr id="4" name="stat Median gap when we lose on price"/>
          <p:cNvSpPr/>
          <p:nvPr/>
        </p:nvSpPr>
        <p:spPr>
          <a:xfrm>
            <a:off x="5669280" y="1097280"/>
            <a:ext cx="3017520" cy="1188720"/>
          </a:xfrm>
          <a:prstGeom prst="roundRect">
            <a:avLst>
              <a:gd name="adj" fmla="val 6154"/>
            </a:avLst>
          </a:prstGeom>
          <a:solidFill>
            <a:schemeClr val="bg2"/>
          </a:solidFill>
          <a:ln w="9525">
            <a:solidFill>
              <a:schemeClr val="accent6"/>
            </a:solidFill>
            <a:prstDash val="solid"/>
          </a:ln>
        </p:spPr>
      </p:sp>
      <p:sp>
        <p:nvSpPr>
          <p:cNvPr id="5" name="stat value Median gap when we lose on price"/>
          <p:cNvSpPr txBox="1"/>
          <p:nvPr/>
        </p:nvSpPr>
        <p:spPr>
          <a:xfrm>
            <a:off x="5833872" y="1188720"/>
            <a:ext cx="2688336" cy="548640"/>
          </a:xfrm>
          <a:prstGeom prst="rect">
            <a:avLst/>
          </a:prstGeom>
          <a:noFill/>
          <a:ln/>
        </p:spPr>
        <p:txBody>
          <a:bodyPr wrap="square" lIns="0" tIns="0" rIns="0" bIns="0" rtlCol="0" anchor="ctr"/>
          <a:lstStyle/>
          <a:p>
            <a:pPr indent="0" marL="0">
              <a:buNone/>
            </a:pPr>
            <a:r>
              <a:rPr lang="en-US" sz="2600" b="1" dirty="0">
                <a:solidFill>
                  <a:schemeClr val="accent1"/>
                </a:solidFill>
              </a:rPr>
              <a:t>9.7%</a:t>
            </a:r>
            <a:endParaRPr lang="en-US" sz="2600" dirty="0"/>
          </a:p>
        </p:txBody>
      </p:sp>
      <p:sp>
        <p:nvSpPr>
          <p:cNvPr id="6" name="stat label Median gap when we lose on price"/>
          <p:cNvSpPr txBox="1"/>
          <p:nvPr/>
        </p:nvSpPr>
        <p:spPr>
          <a:xfrm>
            <a:off x="5833872" y="1737360"/>
            <a:ext cx="2688336" cy="292608"/>
          </a:xfrm>
          <a:prstGeom prst="rect">
            <a:avLst/>
          </a:prstGeom>
          <a:noFill/>
          <a:ln/>
        </p:spPr>
        <p:txBody>
          <a:bodyPr wrap="square" lIns="0" tIns="0" rIns="0" bIns="0" rtlCol="0" anchor="ctr"/>
          <a:lstStyle/>
          <a:p>
            <a:pPr indent="0" marL="0">
              <a:buNone/>
            </a:pPr>
            <a:r>
              <a:rPr lang="en-US" sz="1150" b="1" dirty="0">
                <a:solidFill>
                  <a:schemeClr val="tx2"/>
                </a:solidFill>
              </a:rPr>
              <a:t>Median gap when we lose on price</a:t>
            </a:r>
            <a:endParaRPr lang="en-US" sz="1150" dirty="0"/>
          </a:p>
        </p:txBody>
      </p:sp>
      <p:sp>
        <p:nvSpPr>
          <p:cNvPr id="7" name="stat note Median gap when we lose on price"/>
          <p:cNvSpPr txBox="1"/>
          <p:nvPr/>
        </p:nvSpPr>
        <p:spPr>
          <a:xfrm>
            <a:off x="5833872" y="2011680"/>
            <a:ext cx="2688336" cy="228600"/>
          </a:xfrm>
          <a:prstGeom prst="rect">
            <a:avLst/>
          </a:prstGeom>
          <a:noFill/>
          <a:ln/>
        </p:spPr>
        <p:txBody>
          <a:bodyPr wrap="square" lIns="0" tIns="0" rIns="0" bIns="0" rtlCol="0" anchor="ctr"/>
          <a:lstStyle/>
          <a:p>
            <a:pPr indent="0" marL="0">
              <a:buNone/>
            </a:pPr>
            <a:r>
              <a:rPr lang="en-US" sz="950" dirty="0">
                <a:solidFill>
                  <a:schemeClr val="accent5"/>
                </a:solidFill>
              </a:rPr>
              <a:t>feedback collected on 62% of price losses</a:t>
            </a:r>
            <a:endParaRPr lang="en-US" sz="950" dirty="0"/>
          </a:p>
        </p:txBody>
      </p:sp>
      <p:sp>
        <p:nvSpPr>
          <p:cNvPr id="8" name="stat Left on the table when we win"/>
          <p:cNvSpPr/>
          <p:nvPr/>
        </p:nvSpPr>
        <p:spPr>
          <a:xfrm>
            <a:off x="5669280" y="2423160"/>
            <a:ext cx="3017520" cy="1188720"/>
          </a:xfrm>
          <a:prstGeom prst="roundRect">
            <a:avLst>
              <a:gd name="adj" fmla="val 6154"/>
            </a:avLst>
          </a:prstGeom>
          <a:solidFill>
            <a:schemeClr val="bg2"/>
          </a:solidFill>
          <a:ln w="9525">
            <a:solidFill>
              <a:schemeClr val="accent6"/>
            </a:solidFill>
            <a:prstDash val="solid"/>
          </a:ln>
        </p:spPr>
      </p:sp>
      <p:sp>
        <p:nvSpPr>
          <p:cNvPr id="9" name="stat value Left on the table when we win"/>
          <p:cNvSpPr txBox="1"/>
          <p:nvPr/>
        </p:nvSpPr>
        <p:spPr>
          <a:xfrm>
            <a:off x="5833872" y="2514600"/>
            <a:ext cx="2688336" cy="548640"/>
          </a:xfrm>
          <a:prstGeom prst="rect">
            <a:avLst/>
          </a:prstGeom>
          <a:noFill/>
          <a:ln/>
        </p:spPr>
        <p:txBody>
          <a:bodyPr wrap="square" lIns="0" tIns="0" rIns="0" bIns="0" rtlCol="0" anchor="ctr"/>
          <a:lstStyle/>
          <a:p>
            <a:pPr indent="0" marL="0">
              <a:buNone/>
            </a:pPr>
            <a:r>
              <a:rPr lang="en-US" sz="2600" b="1" dirty="0">
                <a:solidFill>
                  <a:schemeClr val="tx1"/>
                </a:solidFill>
              </a:rPr>
              <a:t>3.9%</a:t>
            </a:r>
            <a:endParaRPr lang="en-US" sz="2600" dirty="0"/>
          </a:p>
        </p:txBody>
      </p:sp>
      <p:sp>
        <p:nvSpPr>
          <p:cNvPr id="10" name="stat label Left on the table when we win"/>
          <p:cNvSpPr txBox="1"/>
          <p:nvPr/>
        </p:nvSpPr>
        <p:spPr>
          <a:xfrm>
            <a:off x="5833872" y="3063240"/>
            <a:ext cx="2688336" cy="292608"/>
          </a:xfrm>
          <a:prstGeom prst="rect">
            <a:avLst/>
          </a:prstGeom>
          <a:noFill/>
          <a:ln/>
        </p:spPr>
        <p:txBody>
          <a:bodyPr wrap="square" lIns="0" tIns="0" rIns="0" bIns="0" rtlCol="0" anchor="ctr"/>
          <a:lstStyle/>
          <a:p>
            <a:pPr indent="0" marL="0">
              <a:buNone/>
            </a:pPr>
            <a:r>
              <a:rPr lang="en-US" sz="1150" b="1" dirty="0">
                <a:solidFill>
                  <a:schemeClr val="tx2"/>
                </a:solidFill>
              </a:rPr>
              <a:t>Left on the table when we win</a:t>
            </a:r>
            <a:endParaRPr lang="en-US" sz="1150" dirty="0"/>
          </a:p>
        </p:txBody>
      </p:sp>
      <p:sp>
        <p:nvSpPr>
          <p:cNvPr id="11" name="stat note Left on the table when we win"/>
          <p:cNvSpPr txBox="1"/>
          <p:nvPr/>
        </p:nvSpPr>
        <p:spPr>
          <a:xfrm>
            <a:off x="5833872" y="3337560"/>
            <a:ext cx="2688336" cy="228600"/>
          </a:xfrm>
          <a:prstGeom prst="rect">
            <a:avLst/>
          </a:prstGeom>
          <a:noFill/>
          <a:ln/>
        </p:spPr>
        <p:txBody>
          <a:bodyPr wrap="square" lIns="0" tIns="0" rIns="0" bIns="0" rtlCol="0" anchor="ctr"/>
          <a:lstStyle/>
          <a:p>
            <a:pPr indent="0" marL="0">
              <a:buNone/>
            </a:pPr>
            <a:r>
              <a:rPr lang="en-US" sz="950" dirty="0">
                <a:solidFill>
                  <a:schemeClr val="accent5"/>
                </a:solidFill>
              </a:rPr>
              <a:t>median gap to the next-lowest bid, where known</a:t>
            </a:r>
            <a:endParaRPr lang="en-US" sz="950" dirty="0"/>
          </a:p>
        </p:txBody>
      </p:sp>
      <p:sp>
        <p:nvSpPr>
          <p:cNvPr id="12" name="gap note"/>
          <p:cNvSpPr txBox="1"/>
          <p:nvPr/>
        </p:nvSpPr>
        <p:spPr>
          <a:xfrm>
            <a:off x="457200" y="4206240"/>
            <a:ext cx="8229600" cy="502920"/>
          </a:xfrm>
          <a:prstGeom prst="rect">
            <a:avLst/>
          </a:prstGeom>
          <a:noFill/>
          <a:ln/>
        </p:spPr>
        <p:txBody>
          <a:bodyPr wrap="square" lIns="0" tIns="0" rIns="0" bIns="0" rtlCol="0" anchor="t"/>
          <a:lstStyle/>
          <a:p>
            <a:pPr indent="0" marL="0">
              <a:buNone/>
            </a:pPr>
            <a:r>
              <a:rPr lang="en-US" sz="1150" b="1" dirty="0">
                <a:solidFill>
                  <a:schemeClr val="tx1"/>
                </a:solidFill>
              </a:rPr>
              <a:t>Rule of thumb: </a:t>
            </a:r>
            <a:pPr indent="0" marL="0">
              <a:buNone/>
            </a:pPr>
            <a:r>
              <a:rPr lang="en-US" sz="1150" dirty="0">
                <a:solidFill>
                  <a:schemeClr val="tx1"/>
                </a:solidFill>
              </a:rPr>
              <a:t>a gap under 3% is a markup conversation. A gap over 10% means we should not have been on that bid list, and the scorecard should learn that. Most of our losses sit in the second group.</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Customer scorecard: the ten general contractors we have won the most from</a:t>
            </a:r>
            <a:endParaRPr lang="en-US" sz="2400" dirty="0"/>
          </a:p>
        </p:txBody>
      </p:sp>
      <p:graphicFrame>
        <p:nvGraphicFramePr>
          <p:cNvPr id="14" name="customer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920240"/>
                <a:gridCol w="685800"/>
                <a:gridCol w="502920"/>
                <a:gridCol w="457200"/>
                <a:gridCol w="685800"/>
                <a:gridCol w="685800"/>
                <a:gridCol w="914400"/>
                <a:gridCol w="777240"/>
                <a:gridCol w="960120"/>
                <a:gridCol w="640080"/>
              </a:tblGrid>
              <a:tr h="274320">
                <a:tc>
                  <a:txBody>
                    <a:bodyPr/>
                    <a:lstStyle/>
                    <a:p>
                      <a:pPr algn="l" indent="0" marL="0">
                        <a:buNone/>
                      </a:pPr>
                      <a:r>
                        <a:rPr lang="en-US" sz="900" b="1" dirty="0">
                          <a:solidFill>
                            <a:srgbClr val="4A5660"/>
                          </a:solidFill>
                          <a:latin typeface="+mn-lt" pitchFamily="34" charset="0"/>
                          <a:ea typeface="+mn-lt" pitchFamily="34" charset="-122"/>
                          <a:cs typeface="+mn-lt" pitchFamily="34" charset="-120"/>
                        </a:rPr>
                        <a:t>General contractor</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00" b="1" dirty="0">
                          <a:solidFill>
                            <a:srgbClr val="4A5660"/>
                          </a:solidFill>
                          <a:latin typeface="+mn-lt" pitchFamily="34" charset="0"/>
                          <a:ea typeface="+mn-lt" pitchFamily="34" charset="-122"/>
                          <a:cs typeface="+mn-lt" pitchFamily="34" charset="-120"/>
                        </a:rPr>
                        <a:t>Tier</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00" b="1" dirty="0">
                          <a:solidFill>
                            <a:srgbClr val="4A5660"/>
                          </a:solidFill>
                          <a:latin typeface="+mn-lt" pitchFamily="34" charset="0"/>
                          <a:ea typeface="+mn-lt" pitchFamily="34" charset="-122"/>
                          <a:cs typeface="+mn-lt" pitchFamily="34" charset="-120"/>
                        </a:rPr>
                        <a:t>Class</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00" b="1" dirty="0">
                          <a:solidFill>
                            <a:srgbClr val="4A5660"/>
                          </a:solidFill>
                          <a:latin typeface="+mn-lt" pitchFamily="34" charset="0"/>
                          <a:ea typeface="+mn-lt" pitchFamily="34" charset="-122"/>
                          <a:cs typeface="+mn-lt" pitchFamily="34" charset="-120"/>
                        </a:rPr>
                        <a:t>Bids</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00" b="1" dirty="0">
                          <a:solidFill>
                            <a:srgbClr val="4A5660"/>
                          </a:solidFill>
                          <a:latin typeface="+mn-lt" pitchFamily="34" charset="0"/>
                          <a:ea typeface="+mn-lt" pitchFamily="34" charset="-122"/>
                          <a:cs typeface="+mn-lt" pitchFamily="34" charset="-120"/>
                        </a:rPr>
                        <a:t>Hit rate</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00" b="1" dirty="0">
                          <a:solidFill>
                            <a:srgbClr val="4A5660"/>
                          </a:solidFill>
                          <a:latin typeface="+mn-lt" pitchFamily="34" charset="0"/>
                          <a:ea typeface="+mn-lt" pitchFamily="34" charset="-122"/>
                          <a:cs typeface="+mn-lt" pitchFamily="34" charset="-120"/>
                        </a:rPr>
                        <a:t>Won</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00" b="1" dirty="0">
                          <a:solidFill>
                            <a:srgbClr val="4A5660"/>
                          </a:solidFill>
                          <a:latin typeface="+mn-lt" pitchFamily="34" charset="0"/>
                          <a:ea typeface="+mn-lt" pitchFamily="34" charset="-122"/>
                          <a:cs typeface="+mn-lt" pitchFamily="34" charset="-120"/>
                        </a:rPr>
                        <a:t>Won / est. hr</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00" b="1" dirty="0">
                          <a:solidFill>
                            <a:srgbClr val="4A5660"/>
                          </a:solidFill>
                          <a:latin typeface="+mn-lt" pitchFamily="34" charset="0"/>
                          <a:ea typeface="+mn-lt" pitchFamily="34" charset="-122"/>
                          <a:cs typeface="+mn-lt" pitchFamily="34" charset="-120"/>
                        </a:rPr>
                        <a:t>Price gap</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00" b="1" dirty="0">
                          <a:solidFill>
                            <a:srgbClr val="4A5660"/>
                          </a:solidFill>
                          <a:latin typeface="+mn-lt" pitchFamily="34" charset="0"/>
                          <a:ea typeface="+mn-lt" pitchFamily="34" charset="-122"/>
                          <a:cs typeface="+mn-lt" pitchFamily="34" charset="-120"/>
                        </a:rPr>
                        <a:t>Realised margin</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00" b="1" dirty="0">
                          <a:solidFill>
                            <a:srgbClr val="4A5660"/>
                          </a:solidFill>
                          <a:latin typeface="+mn-lt" pitchFamily="34" charset="0"/>
                          <a:ea typeface="+mn-lt" pitchFamily="34" charset="-122"/>
                          <a:cs typeface="+mn-lt" pitchFamily="34" charset="-120"/>
                        </a:rPr>
                        <a:t>Days to pay</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r>
              <a:tr h="274320">
                <a:tc>
                  <a:txBody>
                    <a:bodyPr/>
                    <a:lstStyle/>
                    <a:p>
                      <a:pPr algn="l" indent="0" marL="0">
                        <a:buNone/>
                      </a:pPr>
                      <a:r>
                        <a:rPr lang="en-US" sz="900" dirty="0">
                          <a:solidFill>
                            <a:srgbClr val="1F2A33"/>
                          </a:solidFill>
                          <a:latin typeface="+mn-lt" pitchFamily="34" charset="0"/>
                          <a:ea typeface="+mn-lt" pitchFamily="34" charset="-122"/>
                          <a:cs typeface="+mn-lt" pitchFamily="34" charset="-120"/>
                        </a:rPr>
                        <a:t>Sooner State Contractors</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00" dirty="0">
                          <a:solidFill>
                            <a:srgbClr val="1F2A33"/>
                          </a:solidFill>
                          <a:latin typeface="+mn-lt" pitchFamily="34" charset="0"/>
                          <a:ea typeface="+mn-lt" pitchFamily="34" charset="-122"/>
                          <a:cs typeface="+mn-lt" pitchFamily="34" charset="-120"/>
                        </a:rPr>
                        <a:t>regional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2A78D6"/>
                          </a:solidFill>
                          <a:latin typeface="+mn-lt" pitchFamily="34" charset="0"/>
                          <a:ea typeface="+mn-lt" pitchFamily="34" charset="-122"/>
                          <a:cs typeface="+mn-lt" pitchFamily="34" charset="-120"/>
                        </a:rPr>
                        <a:t>A</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20</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45%</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$11.8M</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$18k</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12.0%</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17.2%</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62</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algn="l" indent="0" marL="0">
                        <a:buNone/>
                      </a:pPr>
                      <a:r>
                        <a:rPr lang="en-US" sz="900" dirty="0">
                          <a:solidFill>
                            <a:srgbClr val="1F2A33"/>
                          </a:solidFill>
                          <a:latin typeface="+mn-lt" pitchFamily="34" charset="0"/>
                          <a:ea typeface="+mn-lt" pitchFamily="34" charset="-122"/>
                          <a:cs typeface="+mn-lt" pitchFamily="34" charset="-120"/>
                        </a:rPr>
                        <a:t>Granite Peak Builders</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00" dirty="0">
                          <a:solidFill>
                            <a:srgbClr val="1F2A33"/>
                          </a:solidFill>
                          <a:latin typeface="+mn-lt" pitchFamily="34" charset="0"/>
                          <a:ea typeface="+mn-lt" pitchFamily="34" charset="-122"/>
                          <a:cs typeface="+mn-lt" pitchFamily="34" charset="-120"/>
                        </a:rPr>
                        <a:t>regional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2A78D6"/>
                          </a:solidFill>
                          <a:latin typeface="+mn-lt" pitchFamily="34" charset="0"/>
                          <a:ea typeface="+mn-lt" pitchFamily="34" charset="-122"/>
                          <a:cs typeface="+mn-lt" pitchFamily="34" charset="-120"/>
                        </a:rPr>
                        <a:t>A</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24</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42%</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$8.4M</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$14.2k</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9.5%</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20.5%</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58</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algn="l" indent="0" marL="0">
                        <a:buNone/>
                      </a:pPr>
                      <a:r>
                        <a:rPr lang="en-US" sz="900" dirty="0">
                          <a:solidFill>
                            <a:srgbClr val="1F2A33"/>
                          </a:solidFill>
                          <a:latin typeface="+mn-lt" pitchFamily="34" charset="0"/>
                          <a:ea typeface="+mn-lt" pitchFamily="34" charset="-122"/>
                          <a:cs typeface="+mn-lt" pitchFamily="34" charset="-120"/>
                        </a:rPr>
                        <a:t>Wagon Trail Builders</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00" dirty="0">
                          <a:solidFill>
                            <a:srgbClr val="1F2A33"/>
                          </a:solidFill>
                          <a:latin typeface="+mn-lt" pitchFamily="34" charset="0"/>
                          <a:ea typeface="+mn-lt" pitchFamily="34" charset="-122"/>
                          <a:cs typeface="+mn-lt" pitchFamily="34" charset="-120"/>
                        </a:rPr>
                        <a:t>national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2A78D6"/>
                          </a:solidFill>
                          <a:latin typeface="+mn-lt" pitchFamily="34" charset="0"/>
                          <a:ea typeface="+mn-lt" pitchFamily="34" charset="-122"/>
                          <a:cs typeface="+mn-lt" pitchFamily="34" charset="-120"/>
                        </a:rPr>
                        <a:t>A</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19</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53%</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$8M</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$16.4k</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11.9%</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22.6%</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47</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algn="l" indent="0" marL="0">
                        <a:buNone/>
                      </a:pPr>
                      <a:r>
                        <a:rPr lang="en-US" sz="900" dirty="0">
                          <a:solidFill>
                            <a:srgbClr val="1F2A33"/>
                          </a:solidFill>
                          <a:latin typeface="+mn-lt" pitchFamily="34" charset="0"/>
                          <a:ea typeface="+mn-lt" pitchFamily="34" charset="-122"/>
                          <a:cs typeface="+mn-lt" pitchFamily="34" charset="-120"/>
                        </a:rPr>
                        <a:t>Ouachita Building Group</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00" dirty="0">
                          <a:solidFill>
                            <a:srgbClr val="1F2A33"/>
                          </a:solidFill>
                          <a:latin typeface="+mn-lt" pitchFamily="34" charset="0"/>
                          <a:ea typeface="+mn-lt" pitchFamily="34" charset="-122"/>
                          <a:cs typeface="+mn-lt" pitchFamily="34" charset="-120"/>
                        </a:rPr>
                        <a:t>regional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4A5660"/>
                          </a:solidFill>
                          <a:latin typeface="+mn-lt" pitchFamily="34" charset="0"/>
                          <a:ea typeface="+mn-lt" pitchFamily="34" charset="-122"/>
                          <a:cs typeface="+mn-lt" pitchFamily="34" charset="-120"/>
                        </a:rPr>
                        <a:t>B</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17</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24%</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$6.8M</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$13.1k</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9.7%</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15.4%</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49</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algn="l" indent="0" marL="0">
                        <a:buNone/>
                      </a:pPr>
                      <a:r>
                        <a:rPr lang="en-US" sz="900" dirty="0">
                          <a:solidFill>
                            <a:srgbClr val="1F2A33"/>
                          </a:solidFill>
                          <a:latin typeface="+mn-lt" pitchFamily="34" charset="0"/>
                          <a:ea typeface="+mn-lt" pitchFamily="34" charset="-122"/>
                          <a:cs typeface="+mn-lt" pitchFamily="34" charset="-120"/>
                        </a:rPr>
                        <a:t>Meridian Build Partners</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00" dirty="0">
                          <a:solidFill>
                            <a:srgbClr val="1F2A33"/>
                          </a:solidFill>
                          <a:latin typeface="+mn-lt" pitchFamily="34" charset="0"/>
                          <a:ea typeface="+mn-lt" pitchFamily="34" charset="-122"/>
                          <a:cs typeface="+mn-lt" pitchFamily="34" charset="-120"/>
                        </a:rPr>
                        <a:t>regional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4A5660"/>
                          </a:solidFill>
                          <a:latin typeface="+mn-lt" pitchFamily="34" charset="0"/>
                          <a:ea typeface="+mn-lt" pitchFamily="34" charset="-122"/>
                          <a:cs typeface="+mn-lt" pitchFamily="34" charset="-120"/>
                        </a:rPr>
                        <a:t>B</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23</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30%</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$6.5M</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$12.2k</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9.8%</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17.7%</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61</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algn="l" indent="0" marL="0">
                        <a:buNone/>
                      </a:pPr>
                      <a:r>
                        <a:rPr lang="en-US" sz="900" dirty="0">
                          <a:solidFill>
                            <a:srgbClr val="1F2A33"/>
                          </a:solidFill>
                          <a:latin typeface="+mn-lt" pitchFamily="34" charset="0"/>
                          <a:ea typeface="+mn-lt" pitchFamily="34" charset="-122"/>
                          <a:cs typeface="+mn-lt" pitchFamily="34" charset="-120"/>
                        </a:rPr>
                        <a:t>Washita Valley Builders</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00" dirty="0">
                          <a:solidFill>
                            <a:srgbClr val="1F2A33"/>
                          </a:solidFill>
                          <a:latin typeface="+mn-lt" pitchFamily="34" charset="0"/>
                          <a:ea typeface="+mn-lt" pitchFamily="34" charset="-122"/>
                          <a:cs typeface="+mn-lt" pitchFamily="34" charset="-120"/>
                        </a:rPr>
                        <a:t>local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EB6834"/>
                          </a:solidFill>
                          <a:latin typeface="+mn-lt" pitchFamily="34" charset="0"/>
                          <a:ea typeface="+mn-lt" pitchFamily="34" charset="-122"/>
                          <a:cs typeface="+mn-lt" pitchFamily="34" charset="-120"/>
                        </a:rPr>
                        <a:t>C</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17</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18%</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$6.3M</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$15.4k</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8.4%</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15.8%</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63</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algn="l" indent="0" marL="0">
                        <a:buNone/>
                      </a:pPr>
                      <a:r>
                        <a:rPr lang="en-US" sz="900" dirty="0">
                          <a:solidFill>
                            <a:srgbClr val="1F2A33"/>
                          </a:solidFill>
                          <a:latin typeface="+mn-lt" pitchFamily="34" charset="0"/>
                          <a:ea typeface="+mn-lt" pitchFamily="34" charset="-122"/>
                          <a:cs typeface="+mn-lt" pitchFamily="34" charset="-120"/>
                        </a:rPr>
                        <a:t>Longhorn Commercial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00" dirty="0">
                          <a:solidFill>
                            <a:srgbClr val="1F2A33"/>
                          </a:solidFill>
                          <a:latin typeface="+mn-lt" pitchFamily="34" charset="0"/>
                          <a:ea typeface="+mn-lt" pitchFamily="34" charset="-122"/>
                          <a:cs typeface="+mn-lt" pitchFamily="34" charset="-120"/>
                        </a:rPr>
                        <a:t>regional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4A5660"/>
                          </a:solidFill>
                          <a:latin typeface="+mn-lt" pitchFamily="34" charset="0"/>
                          <a:ea typeface="+mn-lt" pitchFamily="34" charset="-122"/>
                          <a:cs typeface="+mn-lt" pitchFamily="34" charset="-120"/>
                        </a:rPr>
                        <a:t>B</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9</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33%</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$6.1M</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$21.4k</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5.6%</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28.3%</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47</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algn="l" indent="0" marL="0">
                        <a:buNone/>
                      </a:pPr>
                      <a:r>
                        <a:rPr lang="en-US" sz="900" dirty="0">
                          <a:solidFill>
                            <a:srgbClr val="1F2A33"/>
                          </a:solidFill>
                          <a:latin typeface="+mn-lt" pitchFamily="34" charset="0"/>
                          <a:ea typeface="+mn-lt" pitchFamily="34" charset="-122"/>
                          <a:cs typeface="+mn-lt" pitchFamily="34" charset="-120"/>
                        </a:rPr>
                        <a:t>Great Plains Constructors</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00" dirty="0">
                          <a:solidFill>
                            <a:srgbClr val="1F2A33"/>
                          </a:solidFill>
                          <a:latin typeface="+mn-lt" pitchFamily="34" charset="0"/>
                          <a:ea typeface="+mn-lt" pitchFamily="34" charset="-122"/>
                          <a:cs typeface="+mn-lt" pitchFamily="34" charset="-120"/>
                        </a:rPr>
                        <a:t>national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4A5660"/>
                          </a:solidFill>
                          <a:latin typeface="+mn-lt" pitchFamily="34" charset="0"/>
                          <a:ea typeface="+mn-lt" pitchFamily="34" charset="-122"/>
                          <a:cs typeface="+mn-lt" pitchFamily="34" charset="-120"/>
                        </a:rPr>
                        <a:t>B</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18</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33%</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$5.6M</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$12.1k</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9.7%</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22.6%</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71</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algn="l" indent="0" marL="0">
                        <a:buNone/>
                      </a:pPr>
                      <a:r>
                        <a:rPr lang="en-US" sz="900" dirty="0">
                          <a:solidFill>
                            <a:srgbClr val="1F2A33"/>
                          </a:solidFill>
                          <a:latin typeface="+mn-lt" pitchFamily="34" charset="0"/>
                          <a:ea typeface="+mn-lt" pitchFamily="34" charset="-122"/>
                          <a:cs typeface="+mn-lt" pitchFamily="34" charset="-120"/>
                        </a:rPr>
                        <a:t>Red River Builders</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00" dirty="0">
                          <a:solidFill>
                            <a:srgbClr val="1F2A33"/>
                          </a:solidFill>
                          <a:latin typeface="+mn-lt" pitchFamily="34" charset="0"/>
                          <a:ea typeface="+mn-lt" pitchFamily="34" charset="-122"/>
                          <a:cs typeface="+mn-lt" pitchFamily="34" charset="-120"/>
                        </a:rPr>
                        <a:t>regional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4A5660"/>
                          </a:solidFill>
                          <a:latin typeface="+mn-lt" pitchFamily="34" charset="0"/>
                          <a:ea typeface="+mn-lt" pitchFamily="34" charset="-122"/>
                          <a:cs typeface="+mn-lt" pitchFamily="34" charset="-120"/>
                        </a:rPr>
                        <a:t>B</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19</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32%</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$5.5M</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$12.3k</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8.4%</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20.1%</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42</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algn="l" indent="0" marL="0">
                        <a:buNone/>
                      </a:pPr>
                      <a:r>
                        <a:rPr lang="en-US" sz="900" dirty="0">
                          <a:solidFill>
                            <a:srgbClr val="1F2A33"/>
                          </a:solidFill>
                          <a:latin typeface="+mn-lt" pitchFamily="34" charset="0"/>
                          <a:ea typeface="+mn-lt" pitchFamily="34" charset="-122"/>
                          <a:cs typeface="+mn-lt" pitchFamily="34" charset="-120"/>
                        </a:rPr>
                        <a:t>Verdigris Construction</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00" dirty="0">
                          <a:solidFill>
                            <a:srgbClr val="1F2A33"/>
                          </a:solidFill>
                          <a:latin typeface="+mn-lt" pitchFamily="34" charset="0"/>
                          <a:ea typeface="+mn-lt" pitchFamily="34" charset="-122"/>
                          <a:cs typeface="+mn-lt" pitchFamily="34" charset="-120"/>
                        </a:rPr>
                        <a:t>local</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4A5660"/>
                          </a:solidFill>
                          <a:latin typeface="+mn-lt" pitchFamily="34" charset="0"/>
                          <a:ea typeface="+mn-lt" pitchFamily="34" charset="-122"/>
                          <a:cs typeface="+mn-lt" pitchFamily="34" charset="-120"/>
                        </a:rPr>
                        <a:t>B</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9</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56%</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$4.8M</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$19.5k</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15.0%</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900" dirty="0">
                          <a:solidFill>
                            <a:srgbClr val="1F2A33"/>
                          </a:solidFill>
                          <a:latin typeface="+mn-lt" pitchFamily="34" charset="0"/>
                          <a:ea typeface="+mn-lt" pitchFamily="34" charset="-122"/>
                          <a:cs typeface="+mn-lt" pitchFamily="34" charset="-120"/>
                        </a:rPr>
                        <a:t>62</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4" name="customer note"/>
          <p:cNvSpPr txBox="1"/>
          <p:nvPr/>
        </p:nvSpPr>
        <p:spPr>
          <a:xfrm>
            <a:off x="457200" y="4160520"/>
            <a:ext cx="8229600" cy="548640"/>
          </a:xfrm>
          <a:prstGeom prst="rect">
            <a:avLst/>
          </a:prstGeom>
          <a:noFill/>
          <a:ln/>
        </p:spPr>
        <p:txBody>
          <a:bodyPr wrap="square" lIns="0" tIns="0" rIns="0" bIns="0" rtlCol="0" anchor="t"/>
          <a:lstStyle/>
          <a:p>
            <a:pPr indent="0" marL="0">
              <a:buNone/>
            </a:pPr>
            <a:r>
              <a:rPr lang="en-US" sz="1050" dirty="0">
                <a:solidFill>
                  <a:schemeClr val="tx2"/>
                </a:solidFill>
              </a:rPr>
              <a:t>A = awards us 40% or more and the work earns at or above shop margin. B = 22% or more. C = below. Hit rate alone flatters a GC who sends us everything; realised margin, change-order behaviour and payment speed belong next to it.</a:t>
            </a:r>
            <a:endParaRPr lang="en-US" sz="10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Who awards us work and who checks their numbers against us</a:t>
            </a:r>
            <a:endParaRPr lang="en-US" sz="2400" dirty="0"/>
          </a:p>
        </p:txBody>
      </p:sp>
      <p:graphicFrame>
        <p:nvGraphicFramePr>
          <p:cNvPr id="3" name="customer scatter" descr=""/>
          <p:cNvGraphicFramePr/>
          <p:nvPr/>
        </p:nvGraphicFramePr>
        <p:xfrm>
          <a:off x="457200" y="109728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4" name="commentary"/>
          <p:cNvSpPr/>
          <p:nvPr/>
        </p:nvSpPr>
        <p:spPr>
          <a:xfrm>
            <a:off x="6172200" y="1097280"/>
            <a:ext cx="2514600" cy="3566160"/>
          </a:xfrm>
          <a:prstGeom prst="roundRect">
            <a:avLst>
              <a:gd name="adj" fmla="val 2909"/>
            </a:avLst>
          </a:prstGeom>
          <a:solidFill>
            <a:schemeClr val="bg2"/>
          </a:solidFill>
          <a:ln w="9525">
            <a:solidFill>
              <a:schemeClr val="accent6"/>
            </a:solidFill>
            <a:prstDash val="solid"/>
          </a:ln>
        </p:spPr>
      </p:sp>
      <p:sp>
        <p:nvSpPr>
          <p:cNvPr id="5" name="commentary text"/>
          <p:cNvSpPr txBox="1"/>
          <p:nvPr/>
        </p:nvSpPr>
        <p:spPr>
          <a:xfrm>
            <a:off x="6355080" y="1261872"/>
            <a:ext cx="2148840" cy="3291840"/>
          </a:xfrm>
          <a:prstGeom prst="rect">
            <a:avLst/>
          </a:prstGeom>
          <a:noFill/>
          <a:ln/>
        </p:spPr>
        <p:txBody>
          <a:bodyPr wrap="square" lIns="0" tIns="0" rIns="0" bIns="0" rtlCol="0" anchor="t"/>
          <a:lstStyle/>
          <a:p>
            <a:pPr indent="0" marL="0">
              <a:spcAft>
                <a:spcPts val="700"/>
              </a:spcAft>
              <a:buNone/>
            </a:pPr>
            <a:r>
              <a:rPr lang="en-US" sz="1200" b="1" dirty="0">
                <a:solidFill>
                  <a:schemeClr val="tx1"/>
                </a:solidFill>
              </a:rPr>
              <a:t>Bottom right is the expensive corner: GCs who rarely award us and are far below us on price.</a:t>
            </a:r>
            <a:endParaRPr lang="en-US" sz="1200" dirty="0"/>
          </a:p>
          <a:p>
            <a:pPr indent="0" marL="0">
              <a:spcAft>
                <a:spcPts val="700"/>
              </a:spcAft>
              <a:buNone/>
            </a:pPr>
            <a:r>
              <a:rPr lang="en-US" sz="1200" dirty="0">
                <a:solidFill>
                  <a:schemeClr val="tx1"/>
                </a:solidFill>
              </a:rPr>
              <a:t>Top left is where the business is: GCs who award us often and whose price gap is small when they do not.</a:t>
            </a:r>
            <a:endParaRPr lang="en-US" sz="1200" dirty="0"/>
          </a:p>
          <a:p>
            <a:pPr indent="0" marL="0">
              <a:spcAft>
                <a:spcPts val="700"/>
              </a:spcAft>
              <a:buNone/>
            </a:pPr>
            <a:r>
              <a:rPr lang="en-US" sz="1200" dirty="0">
                <a:solidFill>
                  <a:schemeClr val="tx1"/>
                </a:solidFill>
              </a:rPr>
              <a:t>Each dot is a GC with three or more decided bids.</a:t>
            </a:r>
            <a:endParaRPr lang="en-US" sz="1200" dirty="0"/>
          </a:p>
          <a:p>
            <a:pPr indent="0" marL="0">
              <a:buNone/>
            </a:pPr>
            <a:r>
              <a:rPr lang="en-US" sz="1200" b="1" dirty="0">
                <a:solidFill>
                  <a:schemeClr val="accent1"/>
                </a:solidFill>
              </a:rPr>
              <a:t>Spend estimating hours top-left, and on new GCs that look like them.</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What the estimate promised versus what the job earned, by project type</a:t>
            </a:r>
            <a:endParaRPr lang="en-US" sz="2400" dirty="0"/>
          </a:p>
        </p:txBody>
      </p:sp>
      <p:graphicFrame>
        <p:nvGraphicFramePr>
          <p:cNvPr id="3" name="est vs act by type" descr=""/>
          <p:cNvGraphicFramePr/>
          <p:nvPr/>
        </p:nvGraphicFramePr>
        <p:xfrm>
          <a:off x="457200" y="109728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4" name="commentary"/>
          <p:cNvSpPr/>
          <p:nvPr/>
        </p:nvSpPr>
        <p:spPr>
          <a:xfrm>
            <a:off x="6675120" y="1097280"/>
            <a:ext cx="2011680" cy="3566160"/>
          </a:xfrm>
          <a:prstGeom prst="roundRect">
            <a:avLst>
              <a:gd name="adj" fmla="val 3636"/>
            </a:avLst>
          </a:prstGeom>
          <a:solidFill>
            <a:schemeClr val="bg2"/>
          </a:solidFill>
          <a:ln w="9525">
            <a:solidFill>
              <a:schemeClr val="accent6"/>
            </a:solidFill>
            <a:prstDash val="solid"/>
          </a:ln>
        </p:spPr>
      </p:sp>
      <p:sp>
        <p:nvSpPr>
          <p:cNvPr id="5" name="commentary text"/>
          <p:cNvSpPr txBox="1"/>
          <p:nvPr/>
        </p:nvSpPr>
        <p:spPr>
          <a:xfrm>
            <a:off x="6858000" y="1261872"/>
            <a:ext cx="1645920" cy="3291840"/>
          </a:xfrm>
          <a:prstGeom prst="rect">
            <a:avLst/>
          </a:prstGeom>
          <a:noFill/>
          <a:ln/>
        </p:spPr>
        <p:txBody>
          <a:bodyPr wrap="square" lIns="0" tIns="0" rIns="0" bIns="0" rtlCol="0" anchor="t"/>
          <a:lstStyle/>
          <a:p>
            <a:pPr indent="0" marL="0">
              <a:spcAft>
                <a:spcPts val="700"/>
              </a:spcAft>
              <a:buNone/>
            </a:pPr>
            <a:r>
              <a:rPr lang="en-US" sz="1200" b="1" dirty="0">
                <a:solidFill>
                  <a:schemeClr val="tx1"/>
                </a:solidFill>
              </a:rPr>
              <a:t>Across 95 completed jobs: 22.9% estimated, 18.3% earned.</a:t>
            </a:r>
            <a:endParaRPr lang="en-US" sz="1200" dirty="0"/>
          </a:p>
          <a:p>
            <a:pPr indent="0" marL="0">
              <a:spcAft>
                <a:spcPts val="700"/>
              </a:spcAft>
              <a:buNone/>
            </a:pPr>
            <a:r>
              <a:rPr lang="en-US" sz="1200" dirty="0">
                <a:solidFill>
                  <a:schemeClr val="tx1"/>
                </a:solidFill>
              </a:rPr>
              <a:t>4.5 points, about $4.3M, that was in the bid and not in the bank.</a:t>
            </a:r>
            <a:endParaRPr lang="en-US" sz="1200" dirty="0"/>
          </a:p>
          <a:p>
            <a:pPr indent="0" marL="0">
              <a:spcAft>
                <a:spcPts val="700"/>
              </a:spcAft>
              <a:buNone/>
            </a:pPr>
            <a:r>
              <a:rPr lang="en-US" sz="1200" dirty="0">
                <a:solidFill>
                  <a:schemeClr val="tx1"/>
                </a:solidFill>
              </a:rPr>
              <a:t>Sorted worst to best. The estimate is roughly right on simple work and roughly four to ten points optimistic on complex work.</a:t>
            </a:r>
            <a:endParaRPr lang="en-US" sz="1200" dirty="0"/>
          </a:p>
          <a:p>
            <a:pPr indent="0" marL="0">
              <a:buNone/>
            </a:pPr>
            <a:r>
              <a:rPr lang="en-US" sz="1200" b="1" dirty="0">
                <a:solidFill>
                  <a:schemeClr val="accent1"/>
                </a:solidFill>
              </a:rPr>
              <a:t>Put realised margin by type into the estimate as a line item.</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Complexity is where the margin goes: hour overruns by complexity grade</a:t>
            </a:r>
            <a:endParaRPr lang="en-US" sz="2400" dirty="0"/>
          </a:p>
        </p:txBody>
      </p:sp>
      <p:graphicFrame>
        <p:nvGraphicFramePr>
          <p:cNvPr id="3" name="margin by complexity" descr=""/>
          <p:cNvGraphicFramePr/>
          <p:nvPr/>
        </p:nvGraphicFramePr>
        <p:xfrm>
          <a:off x="457200" y="1097280"/>
          <a:ext cx="411480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hours by complexity" descr=""/>
          <p:cNvGraphicFramePr/>
          <p:nvPr/>
        </p:nvGraphicFramePr>
        <p:xfrm>
          <a:off x="4663440" y="1097280"/>
          <a:ext cx="4023360" cy="3108960"/>
        </p:xfrm>
        <a:graphic xmlns:a="http://schemas.openxmlformats.org/drawingml/2006/main">
          <a:graphicData uri="http://schemas.openxmlformats.org/drawingml/2006/chart">
            <c:chart xmlns:c="http://schemas.openxmlformats.org/drawingml/2006/chart" r:id="rId2"/>
          </a:graphicData>
        </a:graphic>
      </p:graphicFrame>
      <p:sp>
        <p:nvSpPr>
          <p:cNvPr id="5" name="complexity note"/>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100" b="1" dirty="0">
                <a:solidFill>
                  <a:schemeClr val="tx1"/>
                </a:solidFill>
              </a:rPr>
              <a:t>Grades: </a:t>
            </a:r>
            <a:pPr indent="0" marL="0">
              <a:buNone/>
            </a:pPr>
            <a:r>
              <a:rPr lang="en-US" sz="1100" dirty="0">
                <a:solidFill>
                  <a:schemeClr val="tx1"/>
                </a:solidFill>
              </a:rPr>
              <a:t>1 is simple braced frames, 5 is architecturally exposed steel, long spans or heavy moment connections. Shop hours ran 10% over estimate overall and field hours 8%; the overrun grows with the grade. A complexity-based contingency, not a flat markup, is the fix.</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Can the shop take what we are chasing? Backlog and weighted pipeline against capacity</a:t>
            </a:r>
            <a:endParaRPr lang="en-US" sz="2400" dirty="0"/>
          </a:p>
        </p:txBody>
      </p:sp>
      <p:graphicFrame>
        <p:nvGraphicFramePr>
          <p:cNvPr id="3" name="capacity by quarter" descr=""/>
          <p:cNvGraphicFramePr/>
          <p:nvPr/>
        </p:nvGraphicFramePr>
        <p:xfrm>
          <a:off x="457200" y="1097280"/>
          <a:ext cx="5669280" cy="3566160"/>
        </p:xfrm>
        <a:graphic xmlns:a="http://schemas.openxmlformats.org/drawingml/2006/main">
          <a:graphicData uri="http://schemas.openxmlformats.org/drawingml/2006/chart">
            <c:chart xmlns:c="http://schemas.openxmlformats.org/drawingml/2006/chart" r:id="rId1"/>
          </a:graphicData>
        </a:graphic>
      </p:graphicFrame>
      <p:sp>
        <p:nvSpPr>
          <p:cNvPr id="4" name="commentary"/>
          <p:cNvSpPr/>
          <p:nvPr/>
        </p:nvSpPr>
        <p:spPr>
          <a:xfrm>
            <a:off x="6355080" y="1097280"/>
            <a:ext cx="2331720" cy="3566160"/>
          </a:xfrm>
          <a:prstGeom prst="roundRect">
            <a:avLst>
              <a:gd name="adj" fmla="val 3137"/>
            </a:avLst>
          </a:prstGeom>
          <a:solidFill>
            <a:schemeClr val="bg2"/>
          </a:solidFill>
          <a:ln w="9525">
            <a:solidFill>
              <a:schemeClr val="accent6"/>
            </a:solidFill>
            <a:prstDash val="solid"/>
          </a:ln>
        </p:spPr>
      </p:sp>
      <p:sp>
        <p:nvSpPr>
          <p:cNvPr id="5" name="commentary text"/>
          <p:cNvSpPr txBox="1"/>
          <p:nvPr/>
        </p:nvSpPr>
        <p:spPr>
          <a:xfrm>
            <a:off x="6537960" y="1261872"/>
            <a:ext cx="1965960" cy="3291840"/>
          </a:xfrm>
          <a:prstGeom prst="rect">
            <a:avLst/>
          </a:prstGeom>
          <a:noFill/>
          <a:ln/>
        </p:spPr>
        <p:txBody>
          <a:bodyPr wrap="square" lIns="0" tIns="0" rIns="0" bIns="0" rtlCol="0" anchor="t"/>
          <a:lstStyle/>
          <a:p>
            <a:pPr indent="0" marL="0">
              <a:spcAft>
                <a:spcPts val="700"/>
              </a:spcAft>
              <a:buNone/>
            </a:pPr>
            <a:r>
              <a:rPr lang="en-US" sz="1200" b="1" dirty="0">
                <a:solidFill>
                  <a:schemeClr val="tx1"/>
                </a:solidFill>
              </a:rPr>
              <a:t>Each won job spreads its tonnage evenly over its fabrication weeks.</a:t>
            </a:r>
            <a:endParaRPr lang="en-US" sz="1200" dirty="0"/>
          </a:p>
          <a:p>
            <a:pPr indent="0" marL="0">
              <a:spcAft>
                <a:spcPts val="700"/>
              </a:spcAft>
              <a:buNone/>
            </a:pPr>
            <a:r>
              <a:rPr lang="en-US" sz="1200" dirty="0">
                <a:solidFill>
                  <a:schemeClr val="tx1"/>
                </a:solidFill>
              </a:rPr>
              <a:t>Each upcoming job counts at tons times win odds: a 400-ton job at 25% is 100 tons.</a:t>
            </a:r>
            <a:endParaRPr lang="en-US" sz="1200" dirty="0"/>
          </a:p>
          <a:p>
            <a:pPr indent="0" marL="0">
              <a:spcAft>
                <a:spcPts val="700"/>
              </a:spcAft>
              <a:buNone/>
            </a:pPr>
            <a:r>
              <a:rPr lang="en-US" sz="1200" dirty="0">
                <a:solidFill>
                  <a:schemeClr val="tx1"/>
                </a:solidFill>
              </a:rPr>
              <a:t>Won work covers 16 weeks. From early next year the shop is less than half full unless the pipeline converts.</a:t>
            </a:r>
            <a:endParaRPr lang="en-US" sz="1200" dirty="0"/>
          </a:p>
          <a:p>
            <a:pPr indent="0" marL="0">
              <a:buNone/>
            </a:pPr>
            <a:r>
              <a:rPr lang="en-US" sz="1200" b="1" dirty="0">
                <a:solidFill>
                  <a:schemeClr val="accent1"/>
                </a:solidFill>
              </a:rPr>
              <a:t>Target: roughly 9,000 more tons of identified opportunities at today's hit rate.</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863840" cy="914400"/>
          </a:xfrm>
          <a:prstGeom prst="rect">
            <a:avLst/>
          </a:prstGeom>
          <a:noFill/>
          <a:ln/>
        </p:spPr>
        <p:txBody>
          <a:bodyPr wrap="square" lIns="0" tIns="0" rIns="0" bIns="0" rtlCol="0" anchor="ctr"/>
          <a:lstStyle/>
          <a:p>
            <a:pPr indent="0" marL="0">
              <a:buNone/>
            </a:pPr>
            <a:r>
              <a:rPr lang="en-US" sz="3200" b="1" dirty="0">
                <a:solidFill>
                  <a:schemeClr val="bg1"/>
                </a:solidFill>
              </a:rPr>
              <a:t>3. The decision tool</a:t>
            </a:r>
            <a:endParaRPr lang="en-US" sz="3200" dirty="0"/>
          </a:p>
        </p:txBody>
      </p:sp>
      <p:sp>
        <p:nvSpPr>
          <p:cNvPr id="3" name="Text 0"/>
          <p:cNvSpPr/>
          <p:nvPr>
            <p:ph idx="101" type="body" hasCustomPrompt="1"/>
          </p:nvPr>
        </p:nvSpPr>
        <p:spPr>
          <a:xfrm>
            <a:off x="640080" y="2788920"/>
            <a:ext cx="7863840" cy="822960"/>
          </a:xfrm>
          <a:prstGeom prst="rect">
            <a:avLst/>
          </a:prstGeom>
          <a:noFill/>
          <a:ln/>
        </p:spPr>
        <p:txBody>
          <a:bodyPr wrap="square" lIns="0" tIns="0" rIns="0" bIns="0" rtlCol="0" anchor="t"/>
          <a:lstStyle/>
          <a:p>
            <a:pPr indent="0" marL="0">
              <a:buNone/>
            </a:pPr>
            <a:r>
              <a:rPr lang="en-US" sz="1500" dirty="0">
                <a:solidFill>
                  <a:schemeClr val="accent6"/>
                </a:solidFill>
              </a:rPr>
              <a:t>Every upcoming project scored before a week of takeoff starts. A starting point for the bid meeting, not a verdict.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How the scorecard scores a project</a:t>
            </a:r>
            <a:endParaRPr lang="en-US" sz="2400" dirty="0"/>
          </a:p>
        </p:txBody>
      </p:sp>
      <p:sp>
        <p:nvSpPr>
          <p:cNvPr id="3" name="box Win odds"/>
          <p:cNvSpPr/>
          <p:nvPr/>
        </p:nvSpPr>
        <p:spPr>
          <a:xfrm>
            <a:off x="457200" y="1097280"/>
            <a:ext cx="1920240" cy="1920240"/>
          </a:xfrm>
          <a:prstGeom prst="roundRect">
            <a:avLst>
              <a:gd name="adj" fmla="val 3810"/>
            </a:avLst>
          </a:prstGeom>
          <a:solidFill>
            <a:schemeClr val="bg2"/>
          </a:solidFill>
          <a:ln w="9525">
            <a:solidFill>
              <a:schemeClr val="accent6"/>
            </a:solidFill>
            <a:prstDash val="solid"/>
          </a:ln>
        </p:spPr>
      </p:sp>
      <p:sp>
        <p:nvSpPr>
          <p:cNvPr id="4" name="box mark"/>
          <p:cNvSpPr/>
          <p:nvPr/>
        </p:nvSpPr>
        <p:spPr>
          <a:xfrm>
            <a:off x="640080" y="1261872"/>
            <a:ext cx="109728" cy="292608"/>
          </a:xfrm>
          <a:prstGeom prst="rect">
            <a:avLst/>
          </a:prstGeom>
          <a:solidFill>
            <a:srgbClr val="2A78D6"/>
          </a:solidFill>
          <a:ln w="12700">
            <a:solidFill>
              <a:srgbClr val="2A78D6"/>
            </a:solidFill>
            <a:prstDash val="solid"/>
          </a:ln>
        </p:spPr>
      </p:sp>
      <p:sp>
        <p:nvSpPr>
          <p:cNvPr id="5" name="box head"/>
          <p:cNvSpPr txBox="1"/>
          <p:nvPr/>
        </p:nvSpPr>
        <p:spPr>
          <a:xfrm>
            <a:off x="841248" y="1216152"/>
            <a:ext cx="1463040" cy="384048"/>
          </a:xfrm>
          <a:prstGeom prst="rect">
            <a:avLst/>
          </a:prstGeom>
          <a:noFill/>
          <a:ln/>
        </p:spPr>
        <p:txBody>
          <a:bodyPr wrap="square" lIns="0" tIns="0" rIns="0" bIns="0" rtlCol="0" anchor="ctr"/>
          <a:lstStyle/>
          <a:p>
            <a:pPr indent="0" marL="0">
              <a:buNone/>
            </a:pPr>
            <a:r>
              <a:rPr lang="en-US" sz="1300" b="1" dirty="0">
                <a:solidFill>
                  <a:schemeClr val="tx1"/>
                </a:solidFill>
              </a:rPr>
              <a:t>Win odds</a:t>
            </a:r>
            <a:endParaRPr lang="en-US" sz="1300" dirty="0"/>
          </a:p>
        </p:txBody>
      </p:sp>
      <p:sp>
        <p:nvSpPr>
          <p:cNvPr id="6" name="box text"/>
          <p:cNvSpPr txBox="1"/>
          <p:nvPr/>
        </p:nvSpPr>
        <p:spPr>
          <a:xfrm>
            <a:off x="640080" y="1691640"/>
            <a:ext cx="1600200" cy="1280160"/>
          </a:xfrm>
          <a:prstGeom prst="rect">
            <a:avLst/>
          </a:prstGeom>
          <a:noFill/>
          <a:ln/>
        </p:spPr>
        <p:txBody>
          <a:bodyPr wrap="square" lIns="0" tIns="0" rIns="0" bIns="0" rtlCol="0" anchor="t"/>
          <a:lstStyle/>
          <a:p>
            <a:pPr indent="0" marL="0">
              <a:buNone/>
            </a:pPr>
            <a:r>
              <a:rPr lang="en-US" sz="1000" dirty="0">
                <a:solidFill>
                  <a:schemeClr val="tx2"/>
                </a:solidFill>
              </a:rPr>
              <a:t>From a model fitted to our own bids: project type, tonnage, miles, complexity, delivery method, bidders, and our history with that GC.</a:t>
            </a:r>
            <a:endParaRPr lang="en-US" sz="1000" dirty="0"/>
          </a:p>
        </p:txBody>
      </p:sp>
      <p:sp>
        <p:nvSpPr>
          <p:cNvPr id="7" name="box Expected revenue"/>
          <p:cNvSpPr/>
          <p:nvPr/>
        </p:nvSpPr>
        <p:spPr>
          <a:xfrm>
            <a:off x="2560320" y="1097280"/>
            <a:ext cx="1920240" cy="1920240"/>
          </a:xfrm>
          <a:prstGeom prst="roundRect">
            <a:avLst>
              <a:gd name="adj" fmla="val 3810"/>
            </a:avLst>
          </a:prstGeom>
          <a:solidFill>
            <a:schemeClr val="bg2"/>
          </a:solidFill>
          <a:ln w="9525">
            <a:solidFill>
              <a:schemeClr val="accent6"/>
            </a:solidFill>
            <a:prstDash val="solid"/>
          </a:ln>
        </p:spPr>
      </p:sp>
      <p:sp>
        <p:nvSpPr>
          <p:cNvPr id="8" name="box mark"/>
          <p:cNvSpPr/>
          <p:nvPr/>
        </p:nvSpPr>
        <p:spPr>
          <a:xfrm>
            <a:off x="2743200" y="1261872"/>
            <a:ext cx="109728" cy="292608"/>
          </a:xfrm>
          <a:prstGeom prst="rect">
            <a:avLst/>
          </a:prstGeom>
          <a:solidFill>
            <a:srgbClr val="2A78D6"/>
          </a:solidFill>
          <a:ln w="12700">
            <a:solidFill>
              <a:srgbClr val="2A78D6"/>
            </a:solidFill>
            <a:prstDash val="solid"/>
          </a:ln>
        </p:spPr>
      </p:sp>
      <p:sp>
        <p:nvSpPr>
          <p:cNvPr id="9" name="box head"/>
          <p:cNvSpPr txBox="1"/>
          <p:nvPr/>
        </p:nvSpPr>
        <p:spPr>
          <a:xfrm>
            <a:off x="2944368" y="1216152"/>
            <a:ext cx="1463040" cy="384048"/>
          </a:xfrm>
          <a:prstGeom prst="rect">
            <a:avLst/>
          </a:prstGeom>
          <a:noFill/>
          <a:ln/>
        </p:spPr>
        <p:txBody>
          <a:bodyPr wrap="square" lIns="0" tIns="0" rIns="0" bIns="0" rtlCol="0" anchor="ctr"/>
          <a:lstStyle/>
          <a:p>
            <a:pPr indent="0" marL="0">
              <a:buNone/>
            </a:pPr>
            <a:r>
              <a:rPr lang="en-US" sz="1300" b="1" dirty="0">
                <a:solidFill>
                  <a:schemeClr val="tx1"/>
                </a:solidFill>
              </a:rPr>
              <a:t>Expected revenue</a:t>
            </a:r>
            <a:endParaRPr lang="en-US" sz="1300" dirty="0"/>
          </a:p>
        </p:txBody>
      </p:sp>
      <p:sp>
        <p:nvSpPr>
          <p:cNvPr id="10" name="box text"/>
          <p:cNvSpPr txBox="1"/>
          <p:nvPr/>
        </p:nvSpPr>
        <p:spPr>
          <a:xfrm>
            <a:off x="2743200" y="1691640"/>
            <a:ext cx="1600200" cy="1280160"/>
          </a:xfrm>
          <a:prstGeom prst="rect">
            <a:avLst/>
          </a:prstGeom>
          <a:noFill/>
          <a:ln/>
        </p:spPr>
        <p:txBody>
          <a:bodyPr wrap="square" lIns="0" tIns="0" rIns="0" bIns="0" rtlCol="0" anchor="t"/>
          <a:lstStyle/>
          <a:p>
            <a:pPr indent="0" marL="0">
              <a:buNone/>
            </a:pPr>
            <a:r>
              <a:rPr lang="en-US" sz="1000" dirty="0">
                <a:solidFill>
                  <a:schemeClr val="tx2"/>
                </a:solidFill>
              </a:rPr>
              <a:t>Tons times our historical price per ton for that project type (the real estimate replaces this once one exists).</a:t>
            </a:r>
            <a:endParaRPr lang="en-US" sz="1000" dirty="0"/>
          </a:p>
        </p:txBody>
      </p:sp>
      <p:sp>
        <p:nvSpPr>
          <p:cNvPr id="11" name="box Margin we really keep"/>
          <p:cNvSpPr/>
          <p:nvPr/>
        </p:nvSpPr>
        <p:spPr>
          <a:xfrm>
            <a:off x="4663440" y="1097280"/>
            <a:ext cx="1920240" cy="1920240"/>
          </a:xfrm>
          <a:prstGeom prst="roundRect">
            <a:avLst>
              <a:gd name="adj" fmla="val 3810"/>
            </a:avLst>
          </a:prstGeom>
          <a:solidFill>
            <a:schemeClr val="bg2"/>
          </a:solidFill>
          <a:ln w="9525">
            <a:solidFill>
              <a:schemeClr val="accent6"/>
            </a:solidFill>
            <a:prstDash val="solid"/>
          </a:ln>
        </p:spPr>
      </p:sp>
      <p:sp>
        <p:nvSpPr>
          <p:cNvPr id="12" name="box mark"/>
          <p:cNvSpPr/>
          <p:nvPr/>
        </p:nvSpPr>
        <p:spPr>
          <a:xfrm>
            <a:off x="4846320" y="1261872"/>
            <a:ext cx="109728" cy="292608"/>
          </a:xfrm>
          <a:prstGeom prst="rect">
            <a:avLst/>
          </a:prstGeom>
          <a:solidFill>
            <a:srgbClr val="EB6834"/>
          </a:solidFill>
          <a:ln w="12700">
            <a:solidFill>
              <a:srgbClr val="EB6834"/>
            </a:solidFill>
            <a:prstDash val="solid"/>
          </a:ln>
        </p:spPr>
      </p:sp>
      <p:sp>
        <p:nvSpPr>
          <p:cNvPr id="13" name="box head"/>
          <p:cNvSpPr txBox="1"/>
          <p:nvPr/>
        </p:nvSpPr>
        <p:spPr>
          <a:xfrm>
            <a:off x="5047488" y="1216152"/>
            <a:ext cx="1463040" cy="384048"/>
          </a:xfrm>
          <a:prstGeom prst="rect">
            <a:avLst/>
          </a:prstGeom>
          <a:noFill/>
          <a:ln/>
        </p:spPr>
        <p:txBody>
          <a:bodyPr wrap="square" lIns="0" tIns="0" rIns="0" bIns="0" rtlCol="0" anchor="ctr"/>
          <a:lstStyle/>
          <a:p>
            <a:pPr indent="0" marL="0">
              <a:buNone/>
            </a:pPr>
            <a:r>
              <a:rPr lang="en-US" sz="1300" b="1" dirty="0">
                <a:solidFill>
                  <a:schemeClr val="tx1"/>
                </a:solidFill>
              </a:rPr>
              <a:t>Margin we really keep</a:t>
            </a:r>
            <a:endParaRPr lang="en-US" sz="1300" dirty="0"/>
          </a:p>
        </p:txBody>
      </p:sp>
      <p:sp>
        <p:nvSpPr>
          <p:cNvPr id="14" name="box text"/>
          <p:cNvSpPr txBox="1"/>
          <p:nvPr/>
        </p:nvSpPr>
        <p:spPr>
          <a:xfrm>
            <a:off x="4846320" y="1691640"/>
            <a:ext cx="1600200" cy="1280160"/>
          </a:xfrm>
          <a:prstGeom prst="rect">
            <a:avLst/>
          </a:prstGeom>
          <a:noFill/>
          <a:ln/>
        </p:spPr>
        <p:txBody>
          <a:bodyPr wrap="square" lIns="0" tIns="0" rIns="0" bIns="0" rtlCol="0" anchor="t"/>
          <a:lstStyle/>
          <a:p>
            <a:pPr indent="0" marL="0">
              <a:buNone/>
            </a:pPr>
            <a:r>
              <a:rPr lang="en-US" sz="1000" dirty="0">
                <a:solidFill>
                  <a:schemeClr val="tx2"/>
                </a:solidFill>
              </a:rPr>
              <a:t>Realised gross margin on that project type from completed jobs, not the estimate's margin.</a:t>
            </a:r>
            <a:endParaRPr lang="en-US" sz="1000" dirty="0"/>
          </a:p>
        </p:txBody>
      </p:sp>
      <p:sp>
        <p:nvSpPr>
          <p:cNvPr id="15" name="box Estimating cost"/>
          <p:cNvSpPr/>
          <p:nvPr/>
        </p:nvSpPr>
        <p:spPr>
          <a:xfrm>
            <a:off x="6766560" y="1097280"/>
            <a:ext cx="1920240" cy="1920240"/>
          </a:xfrm>
          <a:prstGeom prst="roundRect">
            <a:avLst>
              <a:gd name="adj" fmla="val 3810"/>
            </a:avLst>
          </a:prstGeom>
          <a:solidFill>
            <a:schemeClr val="bg2"/>
          </a:solidFill>
          <a:ln w="9525">
            <a:solidFill>
              <a:schemeClr val="accent6"/>
            </a:solidFill>
            <a:prstDash val="solid"/>
          </a:ln>
        </p:spPr>
      </p:sp>
      <p:sp>
        <p:nvSpPr>
          <p:cNvPr id="16" name="box mark"/>
          <p:cNvSpPr/>
          <p:nvPr/>
        </p:nvSpPr>
        <p:spPr>
          <a:xfrm>
            <a:off x="6949440" y="1261872"/>
            <a:ext cx="109728" cy="292608"/>
          </a:xfrm>
          <a:prstGeom prst="rect">
            <a:avLst/>
          </a:prstGeom>
          <a:solidFill>
            <a:srgbClr val="EDA100"/>
          </a:solidFill>
          <a:ln w="12700">
            <a:solidFill>
              <a:srgbClr val="EDA100"/>
            </a:solidFill>
            <a:prstDash val="solid"/>
          </a:ln>
        </p:spPr>
      </p:sp>
      <p:sp>
        <p:nvSpPr>
          <p:cNvPr id="17" name="box head"/>
          <p:cNvSpPr txBox="1"/>
          <p:nvPr/>
        </p:nvSpPr>
        <p:spPr>
          <a:xfrm>
            <a:off x="7150608" y="1216152"/>
            <a:ext cx="1463040" cy="384048"/>
          </a:xfrm>
          <a:prstGeom prst="rect">
            <a:avLst/>
          </a:prstGeom>
          <a:noFill/>
          <a:ln/>
        </p:spPr>
        <p:txBody>
          <a:bodyPr wrap="square" lIns="0" tIns="0" rIns="0" bIns="0" rtlCol="0" anchor="ctr"/>
          <a:lstStyle/>
          <a:p>
            <a:pPr indent="0" marL="0">
              <a:buNone/>
            </a:pPr>
            <a:r>
              <a:rPr lang="en-US" sz="1300" b="1" dirty="0">
                <a:solidFill>
                  <a:schemeClr val="tx1"/>
                </a:solidFill>
              </a:rPr>
              <a:t>Estimating cost</a:t>
            </a:r>
            <a:endParaRPr lang="en-US" sz="1300" dirty="0"/>
          </a:p>
        </p:txBody>
      </p:sp>
      <p:sp>
        <p:nvSpPr>
          <p:cNvPr id="18" name="box text"/>
          <p:cNvSpPr txBox="1"/>
          <p:nvPr/>
        </p:nvSpPr>
        <p:spPr>
          <a:xfrm>
            <a:off x="6949440" y="1691640"/>
            <a:ext cx="1600200" cy="1280160"/>
          </a:xfrm>
          <a:prstGeom prst="rect">
            <a:avLst/>
          </a:prstGeom>
          <a:noFill/>
          <a:ln/>
        </p:spPr>
        <p:txBody>
          <a:bodyPr wrap="square" lIns="0" tIns="0" rIns="0" bIns="0" rtlCol="0" anchor="t"/>
          <a:lstStyle/>
          <a:p>
            <a:pPr indent="0" marL="0">
              <a:buNone/>
            </a:pPr>
            <a:r>
              <a:rPr lang="en-US" sz="1000" dirty="0">
                <a:solidFill>
                  <a:schemeClr val="tx2"/>
                </a:solidFill>
              </a:rPr>
              <a:t>Hours from a curve fitted to our own bid log (tons and complexity) times the loaded estimator rate.</a:t>
            </a:r>
            <a:endParaRPr lang="en-US" sz="1000" dirty="0"/>
          </a:p>
        </p:txBody>
      </p:sp>
      <p:sp>
        <p:nvSpPr>
          <p:cNvPr id="19" name="formula card"/>
          <p:cNvSpPr/>
          <p:nvPr/>
        </p:nvSpPr>
        <p:spPr>
          <a:xfrm>
            <a:off x="457200" y="3200400"/>
            <a:ext cx="8229600" cy="1417320"/>
          </a:xfrm>
          <a:prstGeom prst="roundRect">
            <a:avLst>
              <a:gd name="adj" fmla="val 5161"/>
            </a:avLst>
          </a:prstGeom>
          <a:solidFill>
            <a:schemeClr val="bg2"/>
          </a:solidFill>
          <a:ln w="9525">
            <a:solidFill>
              <a:schemeClr val="accent6"/>
            </a:solidFill>
            <a:prstDash val="solid"/>
          </a:ln>
        </p:spPr>
      </p:sp>
      <p:sp>
        <p:nvSpPr>
          <p:cNvPr id="20" name="formula text"/>
          <p:cNvSpPr txBox="1"/>
          <p:nvPr/>
        </p:nvSpPr>
        <p:spPr>
          <a:xfrm>
            <a:off x="685800" y="3310128"/>
            <a:ext cx="7772400" cy="123444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Expected value  =  win odds  x  expected revenue  x  margin we really keep   minus   estimating cost</a:t>
            </a:r>
            <a:endParaRPr lang="en-US" sz="1400" dirty="0"/>
          </a:p>
          <a:p>
            <a:pPr indent="0" marL="0">
              <a:buNone/>
            </a:pPr>
            <a:r>
              <a:rPr lang="en-US" sz="1150" dirty="0">
                <a:solidFill>
                  <a:schemeClr val="tx2"/>
                </a:solidFill>
              </a:rPr>
              <a:t>Ranked per estimating hour, because hours are the scarce input, and compared with what an hour has returned historically (about $2,468 of gross margin per estimating hour over the last two years). Pursue at 80% of that or better, Review from 35% to 80%, Pass below. A separate check projects shop load over the job's fabrication weeks if we win it.</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Worked example: one Pursue and one Pass, step by step</a:t>
            </a:r>
            <a:endParaRPr lang="en-US" sz="2400" dirty="0"/>
          </a:p>
        </p:txBody>
      </p:sp>
      <p:sp>
        <p:nvSpPr>
          <p:cNvPr id="3" name="example Pursue"/>
          <p:cNvSpPr/>
          <p:nvPr/>
        </p:nvSpPr>
        <p:spPr>
          <a:xfrm>
            <a:off x="457200" y="1097280"/>
            <a:ext cx="4023360" cy="3566160"/>
          </a:xfrm>
          <a:prstGeom prst="roundRect">
            <a:avLst>
              <a:gd name="adj" fmla="val 2051"/>
            </a:avLst>
          </a:prstGeom>
          <a:solidFill>
            <a:schemeClr val="bg2"/>
          </a:solidFill>
          <a:ln w="9525">
            <a:solidFill>
              <a:schemeClr val="accent6"/>
            </a:solidFill>
            <a:prstDash val="solid"/>
          </a:ln>
        </p:spPr>
      </p:sp>
      <p:sp>
        <p:nvSpPr>
          <p:cNvPr id="4" name="example head"/>
          <p:cNvSpPr txBox="1"/>
          <p:nvPr/>
        </p:nvSpPr>
        <p:spPr>
          <a:xfrm>
            <a:off x="640080" y="1188720"/>
            <a:ext cx="3657600" cy="365760"/>
          </a:xfrm>
          <a:prstGeom prst="rect">
            <a:avLst/>
          </a:prstGeom>
          <a:noFill/>
          <a:ln/>
        </p:spPr>
        <p:txBody>
          <a:bodyPr wrap="square" lIns="0" tIns="0" rIns="0" bIns="0" rtlCol="0" anchor="ctr"/>
          <a:lstStyle/>
          <a:p>
            <a:pPr indent="0" marL="0">
              <a:buNone/>
            </a:pPr>
            <a:r>
              <a:rPr lang="en-US" sz="1400" b="1" dirty="0">
                <a:solidFill>
                  <a:srgbClr val="1BAF7A"/>
                </a:solidFill>
              </a:rPr>
              <a:t>Pursue</a:t>
            </a:r>
            <a:pPr indent="0" marL="0">
              <a:buNone/>
            </a:pPr>
            <a:r>
              <a:rPr lang="en-US" sz="1200" b="1" dirty="0">
                <a:solidFill>
                  <a:schemeClr val="tx1"/>
                </a:solidFill>
              </a:rPr>
              <a:t>   Industrial - Stillwater #24</a:t>
            </a:r>
            <a:endParaRPr lang="en-US" sz="1400" dirty="0"/>
          </a:p>
        </p:txBody>
      </p:sp>
      <p:sp>
        <p:nvSpPr>
          <p:cNvPr id="5" name="example meta"/>
          <p:cNvSpPr txBox="1"/>
          <p:nvPr/>
        </p:nvSpPr>
        <p:spPr>
          <a:xfrm>
            <a:off x="640080" y="1554480"/>
            <a:ext cx="3657600" cy="457200"/>
          </a:xfrm>
          <a:prstGeom prst="rect">
            <a:avLst/>
          </a:prstGeom>
          <a:noFill/>
          <a:ln/>
        </p:spPr>
        <p:txBody>
          <a:bodyPr wrap="square" lIns="0" tIns="0" rIns="0" bIns="0" rtlCol="0" anchor="ctr"/>
          <a:lstStyle/>
          <a:p>
            <a:pPr indent="0" marL="0">
              <a:buNone/>
            </a:pPr>
            <a:r>
              <a:rPr lang="en-US" sz="950" dirty="0">
                <a:solidFill>
                  <a:schemeClr val="tx2"/>
                </a:solidFill>
              </a:rPr>
              <a:t>Caddo Construction, Stillwater, 83 mi, 398 t, complexity 1, Design-build, 3 prior bids with this GC at 14% hit rate</a:t>
            </a:r>
            <a:endParaRPr lang="en-US" sz="950" dirty="0"/>
          </a:p>
        </p:txBody>
      </p:sp>
      <p:graphicFrame>
        <p:nvGraphicFramePr>
          <p:cNvPr id="21" name="example table"/>
          <p:cNvGraphicFramePr>
            <a:graphicFrameLocks noGrp="1"/>
          </p:cNvGraphicFramePr>
          <p:nvPr>
            <p:extLst>
              <p:ext uri="{D42A27DB-BD31-4B8C-83A1-F6EECF244321}">
                <p14:modId xmlns:p14="http://schemas.microsoft.com/office/powerpoint/2010/main" val="1579011935"/>
              </p:ext>
            </p:extLst>
          </p:nvPr>
        </p:nvGraphicFramePr>
        <p:xfrm>
          <a:off x="640080" y="2057400"/>
          <a:ext cx="3657600" cy="914400"/>
        </p:xfrm>
        <a:graphic>
          <a:graphicData uri="http://schemas.openxmlformats.org/drawingml/2006/table">
            <a:tbl>
              <a:tblPr/>
              <a:tblGrid>
                <a:gridCol w="1325880"/>
                <a:gridCol w="2331720"/>
              </a:tblGrid>
              <a:tr h="246888">
                <a:tc>
                  <a:txBody>
                    <a:bodyPr/>
                    <a:lstStyle/>
                    <a:p>
                      <a:pPr algn="l" indent="0" marL="0">
                        <a:buNone/>
                      </a:pPr>
                      <a:r>
                        <a:rPr lang="en-US" sz="850" b="1" dirty="0">
                          <a:solidFill>
                            <a:srgbClr val="4A5660"/>
                          </a:solidFill>
                          <a:latin typeface="+mn-lt" pitchFamily="34" charset="0"/>
                          <a:ea typeface="+mn-lt" pitchFamily="34" charset="-122"/>
                          <a:cs typeface="+mn-lt" pitchFamily="34" charset="-120"/>
                        </a:rPr>
                        <a:t>Step</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50" b="1" dirty="0">
                          <a:solidFill>
                            <a:srgbClr val="4A5660"/>
                          </a:solidFill>
                          <a:latin typeface="+mn-lt" pitchFamily="34" charset="0"/>
                          <a:ea typeface="+mn-lt" pitchFamily="34" charset="-122"/>
                          <a:cs typeface="+mn-lt" pitchFamily="34" charset="-120"/>
                        </a:rPr>
                        <a:t>Value</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Win odds</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52%</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Expected revenue</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398 t x $4,011 = $1.60M</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Margin we really keep</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19.9%</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Expected margin dollars</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52% x $1.60M x 19.9% = $167k</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Estimating cost</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25.8 h x $85 = $2k</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Expected value</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$164k</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EV per estimating hour</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$6,373 (258% of historical)</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Shop load if won</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82%</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Reasons</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design-build delivery</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7" name="example Pass"/>
          <p:cNvSpPr/>
          <p:nvPr/>
        </p:nvSpPr>
        <p:spPr>
          <a:xfrm>
            <a:off x="4663440" y="1097280"/>
            <a:ext cx="4023360" cy="3566160"/>
          </a:xfrm>
          <a:prstGeom prst="roundRect">
            <a:avLst>
              <a:gd name="adj" fmla="val 2051"/>
            </a:avLst>
          </a:prstGeom>
          <a:solidFill>
            <a:schemeClr val="bg2"/>
          </a:solidFill>
          <a:ln w="9525">
            <a:solidFill>
              <a:schemeClr val="accent6"/>
            </a:solidFill>
            <a:prstDash val="solid"/>
          </a:ln>
        </p:spPr>
      </p:sp>
      <p:sp>
        <p:nvSpPr>
          <p:cNvPr id="8" name="example head"/>
          <p:cNvSpPr txBox="1"/>
          <p:nvPr/>
        </p:nvSpPr>
        <p:spPr>
          <a:xfrm>
            <a:off x="4846320" y="1188720"/>
            <a:ext cx="3657600" cy="365760"/>
          </a:xfrm>
          <a:prstGeom prst="rect">
            <a:avLst/>
          </a:prstGeom>
          <a:noFill/>
          <a:ln/>
        </p:spPr>
        <p:txBody>
          <a:bodyPr wrap="square" lIns="0" tIns="0" rIns="0" bIns="0" rtlCol="0" anchor="ctr"/>
          <a:lstStyle/>
          <a:p>
            <a:pPr indent="0" marL="0">
              <a:buNone/>
            </a:pPr>
            <a:r>
              <a:rPr lang="en-US" sz="1400" b="1" dirty="0">
                <a:solidFill>
                  <a:srgbClr val="8A96A0"/>
                </a:solidFill>
              </a:rPr>
              <a:t>Pass</a:t>
            </a:r>
            <a:pPr indent="0" marL="0">
              <a:buNone/>
            </a:pPr>
            <a:r>
              <a:rPr lang="en-US" sz="1200" b="1" dirty="0">
                <a:solidFill>
                  <a:schemeClr val="tx1"/>
                </a:solidFill>
              </a:rPr>
              <a:t>   Warehouse - Fort Smith #83</a:t>
            </a:r>
            <a:endParaRPr lang="en-US" sz="1400" dirty="0"/>
          </a:p>
        </p:txBody>
      </p:sp>
      <p:sp>
        <p:nvSpPr>
          <p:cNvPr id="9" name="example meta"/>
          <p:cNvSpPr txBox="1"/>
          <p:nvPr/>
        </p:nvSpPr>
        <p:spPr>
          <a:xfrm>
            <a:off x="4846320" y="1554480"/>
            <a:ext cx="3657600" cy="457200"/>
          </a:xfrm>
          <a:prstGeom prst="rect">
            <a:avLst/>
          </a:prstGeom>
          <a:noFill/>
          <a:ln/>
        </p:spPr>
        <p:txBody>
          <a:bodyPr wrap="square" lIns="0" tIns="0" rIns="0" bIns="0" rtlCol="0" anchor="ctr"/>
          <a:lstStyle/>
          <a:p>
            <a:pPr indent="0" marL="0">
              <a:buNone/>
            </a:pPr>
            <a:r>
              <a:rPr lang="en-US" sz="950" dirty="0">
                <a:solidFill>
                  <a:schemeClr val="tx2"/>
                </a:solidFill>
              </a:rPr>
              <a:t>Longhorn Commercial, Fort Smith, 195 mi, 711 t, complexity 1, Hard bid, 9 prior bids with this GC at 32% hit rate</a:t>
            </a:r>
            <a:endParaRPr lang="en-US" sz="950" dirty="0"/>
          </a:p>
        </p:txBody>
      </p:sp>
      <p:graphicFrame>
        <p:nvGraphicFramePr>
          <p:cNvPr id="41" name="example table"/>
          <p:cNvGraphicFramePr>
            <a:graphicFrameLocks noGrp="1"/>
          </p:cNvGraphicFramePr>
          <p:nvPr>
            <p:extLst>
              <p:ext uri="{D42A27DB-BD31-4B8C-83A1-F6EECF244321}">
                <p14:modId xmlns:p14="http://schemas.microsoft.com/office/powerpoint/2010/main" val="1579011935"/>
              </p:ext>
            </p:extLst>
          </p:nvPr>
        </p:nvGraphicFramePr>
        <p:xfrm>
          <a:off x="4846320" y="2057400"/>
          <a:ext cx="3657600" cy="914400"/>
        </p:xfrm>
        <a:graphic>
          <a:graphicData uri="http://schemas.openxmlformats.org/drawingml/2006/table">
            <a:tbl>
              <a:tblPr/>
              <a:tblGrid>
                <a:gridCol w="1325880"/>
                <a:gridCol w="2331720"/>
              </a:tblGrid>
              <a:tr h="246888">
                <a:tc>
                  <a:txBody>
                    <a:bodyPr/>
                    <a:lstStyle/>
                    <a:p>
                      <a:pPr algn="l" indent="0" marL="0">
                        <a:buNone/>
                      </a:pPr>
                      <a:r>
                        <a:rPr lang="en-US" sz="850" b="1" dirty="0">
                          <a:solidFill>
                            <a:srgbClr val="4A5660"/>
                          </a:solidFill>
                          <a:latin typeface="+mn-lt" pitchFamily="34" charset="0"/>
                          <a:ea typeface="+mn-lt" pitchFamily="34" charset="-122"/>
                          <a:cs typeface="+mn-lt" pitchFamily="34" charset="-120"/>
                        </a:rPr>
                        <a:t>Step</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50" b="1" dirty="0">
                          <a:solidFill>
                            <a:srgbClr val="4A5660"/>
                          </a:solidFill>
                          <a:latin typeface="+mn-lt" pitchFamily="34" charset="0"/>
                          <a:ea typeface="+mn-lt" pitchFamily="34" charset="-122"/>
                          <a:cs typeface="+mn-lt" pitchFamily="34" charset="-120"/>
                        </a:rPr>
                        <a:t>Value</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Win odds</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11%</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Expected revenue</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711 t x $3,130 = $2.23M</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Margin we really keep</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21.9%</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Expected margin dollars</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11% x $2.23M x 21.9% = $51k</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Estimating cost</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37.4 h x $85 = $3k</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Expected value</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$48k</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EV per estimating hour</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$1,283 (52% of historical)</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Shop load if won</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79%</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46888">
                <a:tc>
                  <a:txBody>
                    <a:bodyPr/>
                    <a:lstStyle/>
                    <a:p>
                      <a:pPr algn="l" indent="0" marL="0">
                        <a:buNone/>
                      </a:pPr>
                      <a:r>
                        <a:rPr lang="en-US" sz="850" dirty="0">
                          <a:solidFill>
                            <a:srgbClr val="1F2A33"/>
                          </a:solidFill>
                          <a:latin typeface="+mn-lt" pitchFamily="34" charset="0"/>
                          <a:ea typeface="+mn-lt" pitchFamily="34" charset="-122"/>
                          <a:cs typeface="+mn-lt" pitchFamily="34" charset="-120"/>
                        </a:rPr>
                        <a:t>Reasons</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50" dirty="0">
                          <a:solidFill>
                            <a:srgbClr val="1F2A33"/>
                          </a:solidFill>
                          <a:latin typeface="+mn-lt" pitchFamily="34" charset="0"/>
                          <a:ea typeface="+mn-lt" pitchFamily="34" charset="-122"/>
                          <a:cs typeface="+mn-lt" pitchFamily="34" charset="-120"/>
                        </a:rPr>
                        <a:t>win odds 11%</a:t>
                      </a:r>
                      <a:endParaRPr lang="en-US" sz="8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The ranked pipeline: 90 upcoming projects on one chart</a:t>
            </a:r>
            <a:endParaRPr lang="en-US" sz="2400" dirty="0"/>
          </a:p>
        </p:txBody>
      </p:sp>
      <p:graphicFrame>
        <p:nvGraphicFramePr>
          <p:cNvPr id="3" name="odds vs EV scatter" descr=""/>
          <p:cNvGraphicFramePr/>
          <p:nvPr/>
        </p:nvGraphicFramePr>
        <p:xfrm>
          <a:off x="457200" y="109728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4" name="summary Pursue"/>
          <p:cNvSpPr/>
          <p:nvPr/>
        </p:nvSpPr>
        <p:spPr>
          <a:xfrm>
            <a:off x="6172200" y="1097280"/>
            <a:ext cx="2514600" cy="1078992"/>
          </a:xfrm>
          <a:prstGeom prst="roundRect">
            <a:avLst>
              <a:gd name="adj" fmla="val 6780"/>
            </a:avLst>
          </a:prstGeom>
          <a:solidFill>
            <a:schemeClr val="bg2"/>
          </a:solidFill>
          <a:ln w="9525">
            <a:solidFill>
              <a:schemeClr val="accent6"/>
            </a:solidFill>
            <a:prstDash val="solid"/>
          </a:ln>
        </p:spPr>
      </p:sp>
      <p:sp>
        <p:nvSpPr>
          <p:cNvPr id="5" name="sum call"/>
          <p:cNvSpPr txBox="1"/>
          <p:nvPr/>
        </p:nvSpPr>
        <p:spPr>
          <a:xfrm>
            <a:off x="6309360" y="1161288"/>
            <a:ext cx="1188720" cy="365760"/>
          </a:xfrm>
          <a:prstGeom prst="rect">
            <a:avLst/>
          </a:prstGeom>
          <a:noFill/>
          <a:ln/>
        </p:spPr>
        <p:txBody>
          <a:bodyPr wrap="square" lIns="0" tIns="0" rIns="0" bIns="0" rtlCol="0" anchor="ctr"/>
          <a:lstStyle/>
          <a:p>
            <a:pPr indent="0" marL="0">
              <a:buNone/>
            </a:pPr>
            <a:r>
              <a:rPr lang="en-US" sz="1500" b="1" dirty="0">
                <a:solidFill>
                  <a:srgbClr val="1BAF7A"/>
                </a:solidFill>
              </a:rPr>
              <a:t>Pursue</a:t>
            </a:r>
            <a:endParaRPr lang="en-US" sz="1500" dirty="0"/>
          </a:p>
        </p:txBody>
      </p:sp>
      <p:sp>
        <p:nvSpPr>
          <p:cNvPr id="6" name="sum n"/>
          <p:cNvSpPr txBox="1"/>
          <p:nvPr/>
        </p:nvSpPr>
        <p:spPr>
          <a:xfrm>
            <a:off x="7406640" y="1161288"/>
            <a:ext cx="1143000" cy="365760"/>
          </a:xfrm>
          <a:prstGeom prst="rect">
            <a:avLst/>
          </a:prstGeom>
          <a:noFill/>
          <a:ln/>
        </p:spPr>
        <p:txBody>
          <a:bodyPr wrap="square" lIns="0" tIns="0" rIns="0" bIns="0" rtlCol="0" anchor="ctr"/>
          <a:lstStyle/>
          <a:p>
            <a:pPr algn="r" indent="0" marL="0">
              <a:buNone/>
            </a:pPr>
            <a:r>
              <a:rPr lang="en-US" sz="1300" b="1" dirty="0">
                <a:solidFill>
                  <a:schemeClr val="tx1"/>
                </a:solidFill>
              </a:rPr>
              <a:t>29 projects</a:t>
            </a:r>
            <a:endParaRPr lang="en-US" sz="1300" dirty="0"/>
          </a:p>
        </p:txBody>
      </p:sp>
      <p:sp>
        <p:nvSpPr>
          <p:cNvPr id="7" name="sum detail"/>
          <p:cNvSpPr txBox="1"/>
          <p:nvPr/>
        </p:nvSpPr>
        <p:spPr>
          <a:xfrm>
            <a:off x="6309360" y="1527048"/>
            <a:ext cx="2240280" cy="594360"/>
          </a:xfrm>
          <a:prstGeom prst="rect">
            <a:avLst/>
          </a:prstGeom>
          <a:noFill/>
          <a:ln/>
        </p:spPr>
        <p:txBody>
          <a:bodyPr wrap="square" lIns="0" tIns="0" rIns="0" bIns="0" rtlCol="0" anchor="t"/>
          <a:lstStyle/>
          <a:p>
            <a:pPr indent="0" marL="0">
              <a:buNone/>
            </a:pPr>
            <a:r>
              <a:rPr lang="en-US" sz="950" dirty="0">
                <a:solidFill>
                  <a:schemeClr val="tx2"/>
                </a:solidFill>
              </a:rPr>
              <a:t>698 estimating hours</a:t>
            </a:r>
            <a:endParaRPr lang="en-US" sz="950" dirty="0"/>
          </a:p>
          <a:p>
            <a:pPr indent="0" marL="0">
              <a:buNone/>
            </a:pPr>
            <a:r>
              <a:rPr lang="en-US" sz="950" dirty="0">
                <a:solidFill>
                  <a:schemeClr val="tx2"/>
                </a:solidFill>
              </a:rPr>
              <a:t>9,872 tons, $2.5M expected margin net of estimating</a:t>
            </a:r>
            <a:endParaRPr lang="en-US" sz="950" dirty="0"/>
          </a:p>
        </p:txBody>
      </p:sp>
      <p:sp>
        <p:nvSpPr>
          <p:cNvPr id="8" name="summary Review"/>
          <p:cNvSpPr/>
          <p:nvPr/>
        </p:nvSpPr>
        <p:spPr>
          <a:xfrm>
            <a:off x="6172200" y="2286000"/>
            <a:ext cx="2514600" cy="1078992"/>
          </a:xfrm>
          <a:prstGeom prst="roundRect">
            <a:avLst>
              <a:gd name="adj" fmla="val 6780"/>
            </a:avLst>
          </a:prstGeom>
          <a:solidFill>
            <a:schemeClr val="bg2"/>
          </a:solidFill>
          <a:ln w="9525">
            <a:solidFill>
              <a:schemeClr val="accent6"/>
            </a:solidFill>
            <a:prstDash val="solid"/>
          </a:ln>
        </p:spPr>
      </p:sp>
      <p:sp>
        <p:nvSpPr>
          <p:cNvPr id="9" name="sum call"/>
          <p:cNvSpPr txBox="1"/>
          <p:nvPr/>
        </p:nvSpPr>
        <p:spPr>
          <a:xfrm>
            <a:off x="6309360" y="2350008"/>
            <a:ext cx="1188720" cy="365760"/>
          </a:xfrm>
          <a:prstGeom prst="rect">
            <a:avLst/>
          </a:prstGeom>
          <a:noFill/>
          <a:ln/>
        </p:spPr>
        <p:txBody>
          <a:bodyPr wrap="square" lIns="0" tIns="0" rIns="0" bIns="0" rtlCol="0" anchor="ctr"/>
          <a:lstStyle/>
          <a:p>
            <a:pPr indent="0" marL="0">
              <a:buNone/>
            </a:pPr>
            <a:r>
              <a:rPr lang="en-US" sz="1500" b="1" dirty="0">
                <a:solidFill>
                  <a:srgbClr val="EDA100"/>
                </a:solidFill>
              </a:rPr>
              <a:t>Review</a:t>
            </a:r>
            <a:endParaRPr lang="en-US" sz="1500" dirty="0"/>
          </a:p>
        </p:txBody>
      </p:sp>
      <p:sp>
        <p:nvSpPr>
          <p:cNvPr id="10" name="sum n"/>
          <p:cNvSpPr txBox="1"/>
          <p:nvPr/>
        </p:nvSpPr>
        <p:spPr>
          <a:xfrm>
            <a:off x="7406640" y="2350008"/>
            <a:ext cx="1143000" cy="365760"/>
          </a:xfrm>
          <a:prstGeom prst="rect">
            <a:avLst/>
          </a:prstGeom>
          <a:noFill/>
          <a:ln/>
        </p:spPr>
        <p:txBody>
          <a:bodyPr wrap="square" lIns="0" tIns="0" rIns="0" bIns="0" rtlCol="0" anchor="ctr"/>
          <a:lstStyle/>
          <a:p>
            <a:pPr algn="r" indent="0" marL="0">
              <a:buNone/>
            </a:pPr>
            <a:r>
              <a:rPr lang="en-US" sz="1300" b="1" dirty="0">
                <a:solidFill>
                  <a:schemeClr val="tx1"/>
                </a:solidFill>
              </a:rPr>
              <a:t>26 projects</a:t>
            </a:r>
            <a:endParaRPr lang="en-US" sz="1300" dirty="0"/>
          </a:p>
        </p:txBody>
      </p:sp>
      <p:sp>
        <p:nvSpPr>
          <p:cNvPr id="11" name="sum detail"/>
          <p:cNvSpPr txBox="1"/>
          <p:nvPr/>
        </p:nvSpPr>
        <p:spPr>
          <a:xfrm>
            <a:off x="6309360" y="2715768"/>
            <a:ext cx="2240280" cy="594360"/>
          </a:xfrm>
          <a:prstGeom prst="rect">
            <a:avLst/>
          </a:prstGeom>
          <a:noFill/>
          <a:ln/>
        </p:spPr>
        <p:txBody>
          <a:bodyPr wrap="square" lIns="0" tIns="0" rIns="0" bIns="0" rtlCol="0" anchor="t"/>
          <a:lstStyle/>
          <a:p>
            <a:pPr indent="0" marL="0">
              <a:buNone/>
            </a:pPr>
            <a:r>
              <a:rPr lang="en-US" sz="950" dirty="0">
                <a:solidFill>
                  <a:schemeClr val="tx2"/>
                </a:solidFill>
              </a:rPr>
              <a:t>451 estimating hours</a:t>
            </a:r>
            <a:endParaRPr lang="en-US" sz="950" dirty="0"/>
          </a:p>
          <a:p>
            <a:pPr indent="0" marL="0">
              <a:buNone/>
            </a:pPr>
            <a:r>
              <a:rPr lang="en-US" sz="950" dirty="0">
                <a:solidFill>
                  <a:schemeClr val="tx2"/>
                </a:solidFill>
              </a:rPr>
              <a:t>4,608 tons, $0.72M expected margin net of estimating</a:t>
            </a:r>
            <a:endParaRPr lang="en-US" sz="950" dirty="0"/>
          </a:p>
        </p:txBody>
      </p:sp>
      <p:sp>
        <p:nvSpPr>
          <p:cNvPr id="12" name="summary Pass"/>
          <p:cNvSpPr/>
          <p:nvPr/>
        </p:nvSpPr>
        <p:spPr>
          <a:xfrm>
            <a:off x="6172200" y="3474720"/>
            <a:ext cx="2514600" cy="1078992"/>
          </a:xfrm>
          <a:prstGeom prst="roundRect">
            <a:avLst>
              <a:gd name="adj" fmla="val 6780"/>
            </a:avLst>
          </a:prstGeom>
          <a:solidFill>
            <a:schemeClr val="bg2"/>
          </a:solidFill>
          <a:ln w="9525">
            <a:solidFill>
              <a:schemeClr val="accent6"/>
            </a:solidFill>
            <a:prstDash val="solid"/>
          </a:ln>
        </p:spPr>
      </p:sp>
      <p:sp>
        <p:nvSpPr>
          <p:cNvPr id="13" name="sum call"/>
          <p:cNvSpPr txBox="1"/>
          <p:nvPr/>
        </p:nvSpPr>
        <p:spPr>
          <a:xfrm>
            <a:off x="6309360" y="3538728"/>
            <a:ext cx="1188720" cy="365760"/>
          </a:xfrm>
          <a:prstGeom prst="rect">
            <a:avLst/>
          </a:prstGeom>
          <a:noFill/>
          <a:ln/>
        </p:spPr>
        <p:txBody>
          <a:bodyPr wrap="square" lIns="0" tIns="0" rIns="0" bIns="0" rtlCol="0" anchor="ctr"/>
          <a:lstStyle/>
          <a:p>
            <a:pPr indent="0" marL="0">
              <a:buNone/>
            </a:pPr>
            <a:r>
              <a:rPr lang="en-US" sz="1500" b="1" dirty="0">
                <a:solidFill>
                  <a:srgbClr val="8A96A0"/>
                </a:solidFill>
              </a:rPr>
              <a:t>Pass</a:t>
            </a:r>
            <a:endParaRPr lang="en-US" sz="1500" dirty="0"/>
          </a:p>
        </p:txBody>
      </p:sp>
      <p:sp>
        <p:nvSpPr>
          <p:cNvPr id="14" name="sum n"/>
          <p:cNvSpPr txBox="1"/>
          <p:nvPr/>
        </p:nvSpPr>
        <p:spPr>
          <a:xfrm>
            <a:off x="7406640" y="3538728"/>
            <a:ext cx="1143000" cy="365760"/>
          </a:xfrm>
          <a:prstGeom prst="rect">
            <a:avLst/>
          </a:prstGeom>
          <a:noFill/>
          <a:ln/>
        </p:spPr>
        <p:txBody>
          <a:bodyPr wrap="square" lIns="0" tIns="0" rIns="0" bIns="0" rtlCol="0" anchor="ctr"/>
          <a:lstStyle/>
          <a:p>
            <a:pPr algn="r" indent="0" marL="0">
              <a:buNone/>
            </a:pPr>
            <a:r>
              <a:rPr lang="en-US" sz="1300" b="1" dirty="0">
                <a:solidFill>
                  <a:schemeClr val="tx1"/>
                </a:solidFill>
              </a:rPr>
              <a:t>35 projects</a:t>
            </a:r>
            <a:endParaRPr lang="en-US" sz="1300" dirty="0"/>
          </a:p>
        </p:txBody>
      </p:sp>
      <p:sp>
        <p:nvSpPr>
          <p:cNvPr id="15" name="sum detail"/>
          <p:cNvSpPr txBox="1"/>
          <p:nvPr/>
        </p:nvSpPr>
        <p:spPr>
          <a:xfrm>
            <a:off x="6309360" y="3904488"/>
            <a:ext cx="2240280" cy="594360"/>
          </a:xfrm>
          <a:prstGeom prst="rect">
            <a:avLst/>
          </a:prstGeom>
          <a:noFill/>
          <a:ln/>
        </p:spPr>
        <p:txBody>
          <a:bodyPr wrap="square" lIns="0" tIns="0" rIns="0" bIns="0" rtlCol="0" anchor="t"/>
          <a:lstStyle/>
          <a:p>
            <a:pPr indent="0" marL="0">
              <a:buNone/>
            </a:pPr>
            <a:r>
              <a:rPr lang="en-US" sz="950" dirty="0">
                <a:solidFill>
                  <a:schemeClr val="tx2"/>
                </a:solidFill>
              </a:rPr>
              <a:t>858 estimating hours</a:t>
            </a:r>
            <a:endParaRPr lang="en-US" sz="950" dirty="0"/>
          </a:p>
          <a:p>
            <a:pPr indent="0" marL="0">
              <a:buNone/>
            </a:pPr>
            <a:r>
              <a:rPr lang="en-US" sz="950" dirty="0">
                <a:solidFill>
                  <a:schemeClr val="tx2"/>
                </a:solidFill>
              </a:rPr>
              <a:t>9,961 tons, $0.53M expected margin net of estimating</a:t>
            </a:r>
            <a:endParaRPr lang="en-US" sz="9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The top ten, as the bid meeting would see them</a:t>
            </a:r>
            <a:endParaRPr lang="en-US" sz="2400" dirty="0"/>
          </a:p>
        </p:txBody>
      </p:sp>
      <p:graphicFrame>
        <p:nvGraphicFramePr>
          <p:cNvPr id="23" name="top10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
                <a:gridCol w="548640"/>
                <a:gridCol w="1371600"/>
                <a:gridCol w="1325880"/>
                <a:gridCol w="411480"/>
                <a:gridCol w="411480"/>
                <a:gridCol w="731520"/>
                <a:gridCol w="457200"/>
                <a:gridCol w="548640"/>
                <a:gridCol w="594360"/>
                <a:gridCol w="1554480"/>
              </a:tblGrid>
              <a:tr h="265176">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Call</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Project</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GC</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Tons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Miles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Delivery</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Odds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EV / hr</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Shop load</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800" b="1" dirty="0">
                          <a:solidFill>
                            <a:srgbClr val="4A5660"/>
                          </a:solidFill>
                          <a:latin typeface="+mn-lt" pitchFamily="34" charset="0"/>
                          <a:ea typeface="+mn-lt" pitchFamily="34" charset="-122"/>
                          <a:cs typeface="+mn-lt" pitchFamily="34" charset="-120"/>
                        </a:rPr>
                        <a:t>Why</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r>
              <a:tr h="265176">
                <a:tc>
                  <a:txBody>
                    <a:bodyPr/>
                    <a:lstStyle/>
                    <a:p>
                      <a:pPr algn="l" indent="0" marL="0">
                        <a:buNone/>
                      </a:pPr>
                      <a:r>
                        <a:rPr lang="en-US" sz="800" dirty="0">
                          <a:solidFill>
                            <a:srgbClr val="1F2A33"/>
                          </a:solidFill>
                          <a:latin typeface="+mn-lt" pitchFamily="34" charset="0"/>
                          <a:ea typeface="+mn-lt" pitchFamily="34" charset="-122"/>
                          <a:cs typeface="+mn-lt" pitchFamily="34" charset="-120"/>
                        </a:rPr>
                        <a:t>1</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1BAF7A"/>
                          </a:solidFill>
                          <a:latin typeface="+mn-lt" pitchFamily="34" charset="0"/>
                          <a:ea typeface="+mn-lt" pitchFamily="34" charset="-122"/>
                          <a:cs typeface="+mn-lt" pitchFamily="34" charset="-120"/>
                        </a:rPr>
                        <a:t>Pursue</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Industrial - Stillwater #24</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Caddo Construction</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398</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83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Design-build</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52%</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$6.4k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82%</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design-build delivery</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65176">
                <a:tc>
                  <a:txBody>
                    <a:bodyPr/>
                    <a:lstStyle/>
                    <a:p>
                      <a:pPr algn="l" indent="0" marL="0">
                        <a:buNone/>
                      </a:pPr>
                      <a:r>
                        <a:rPr lang="en-US" sz="800" dirty="0">
                          <a:solidFill>
                            <a:srgbClr val="1F2A33"/>
                          </a:solidFill>
                          <a:latin typeface="+mn-lt" pitchFamily="34" charset="0"/>
                          <a:ea typeface="+mn-lt" pitchFamily="34" charset="-122"/>
                          <a:cs typeface="+mn-lt" pitchFamily="34" charset="-120"/>
                        </a:rPr>
                        <a:t>2</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1BAF7A"/>
                          </a:solidFill>
                          <a:latin typeface="+mn-lt" pitchFamily="34" charset="0"/>
                          <a:ea typeface="+mn-lt" pitchFamily="34" charset="-122"/>
                          <a:cs typeface="+mn-lt" pitchFamily="34" charset="-120"/>
                        </a:rPr>
                        <a:t>Pursue</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Municipal - Norman #23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Flint Hills Construction</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134</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13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Negotiated</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83%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$5.6k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74%</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negotiated delivery</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65176">
                <a:tc>
                  <a:txBody>
                    <a:bodyPr/>
                    <a:lstStyle/>
                    <a:p>
                      <a:pPr algn="l" indent="0" marL="0">
                        <a:buNone/>
                      </a:pPr>
                      <a:r>
                        <a:rPr lang="en-US" sz="800" dirty="0">
                          <a:solidFill>
                            <a:srgbClr val="1F2A33"/>
                          </a:solidFill>
                          <a:latin typeface="+mn-lt" pitchFamily="34" charset="0"/>
                          <a:ea typeface="+mn-lt" pitchFamily="34" charset="-122"/>
                          <a:cs typeface="+mn-lt" pitchFamily="34" charset="-120"/>
                        </a:rPr>
                        <a:t>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1BAF7A"/>
                          </a:solidFill>
                          <a:latin typeface="+mn-lt" pitchFamily="34" charset="0"/>
                          <a:ea typeface="+mn-lt" pitchFamily="34" charset="-122"/>
                          <a:cs typeface="+mn-lt" pitchFamily="34" charset="-120"/>
                        </a:rPr>
                        <a:t>Pursue</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Industrial - Muskogee #3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Meridian Build Partners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494</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133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Design-build</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43%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$5.2k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72%</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design-build delivery</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65176">
                <a:tc>
                  <a:txBody>
                    <a:bodyPr/>
                    <a:lstStyle/>
                    <a:p>
                      <a:pPr algn="l" indent="0" marL="0">
                        <a:buNone/>
                      </a:pPr>
                      <a:r>
                        <a:rPr lang="en-US" sz="800" dirty="0">
                          <a:solidFill>
                            <a:srgbClr val="1F2A33"/>
                          </a:solidFill>
                          <a:latin typeface="+mn-lt" pitchFamily="34" charset="0"/>
                          <a:ea typeface="+mn-lt" pitchFamily="34" charset="-122"/>
                          <a:cs typeface="+mn-lt" pitchFamily="34" charset="-120"/>
                        </a:rPr>
                        <a:t>4</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1BAF7A"/>
                          </a:solidFill>
                          <a:latin typeface="+mn-lt" pitchFamily="34" charset="0"/>
                          <a:ea typeface="+mn-lt" pitchFamily="34" charset="-122"/>
                          <a:cs typeface="+mn-lt" pitchFamily="34" charset="-120"/>
                        </a:rPr>
                        <a:t>Pursue</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Industrial - Oklahoma City #11</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Boomer Construction Group</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923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32</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CM at risk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36%</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$5k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69%</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no flags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65176">
                <a:tc>
                  <a:txBody>
                    <a:bodyPr/>
                    <a:lstStyle/>
                    <a:p>
                      <a:pPr algn="l" indent="0" marL="0">
                        <a:buNone/>
                      </a:pPr>
                      <a:r>
                        <a:rPr lang="en-US" sz="800" dirty="0">
                          <a:solidFill>
                            <a:srgbClr val="1F2A33"/>
                          </a:solidFill>
                          <a:latin typeface="+mn-lt" pitchFamily="34" charset="0"/>
                          <a:ea typeface="+mn-lt" pitchFamily="34" charset="-122"/>
                          <a:cs typeface="+mn-lt" pitchFamily="34" charset="-120"/>
                        </a:rPr>
                        <a:t>5</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1BAF7A"/>
                          </a:solidFill>
                          <a:latin typeface="+mn-lt" pitchFamily="34" charset="0"/>
                          <a:ea typeface="+mn-lt" pitchFamily="34" charset="-122"/>
                          <a:cs typeface="+mn-lt" pitchFamily="34" charset="-120"/>
                        </a:rPr>
                        <a:t>Pursue</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K-12 school - Tulsa #26</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Sooner State Contractors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175</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120</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Negotiated</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65%</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$4.7k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63%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relationship GC (43% hit rate, 20 bids); project type we w…</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65176">
                <a:tc>
                  <a:txBody>
                    <a:bodyPr/>
                    <a:lstStyle/>
                    <a:p>
                      <a:pPr algn="l" indent="0" marL="0">
                        <a:buNone/>
                      </a:pPr>
                      <a:r>
                        <a:rPr lang="en-US" sz="800" dirty="0">
                          <a:solidFill>
                            <a:srgbClr val="1F2A33"/>
                          </a:solidFill>
                          <a:latin typeface="+mn-lt" pitchFamily="34" charset="0"/>
                          <a:ea typeface="+mn-lt" pitchFamily="34" charset="-122"/>
                          <a:cs typeface="+mn-lt" pitchFamily="34" charset="-120"/>
                        </a:rPr>
                        <a:t>6</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1BAF7A"/>
                          </a:solidFill>
                          <a:latin typeface="+mn-lt" pitchFamily="34" charset="0"/>
                          <a:ea typeface="+mn-lt" pitchFamily="34" charset="-122"/>
                          <a:cs typeface="+mn-lt" pitchFamily="34" charset="-120"/>
                        </a:rPr>
                        <a:t>Pursue</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Industrial - Oklahoma City #45</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Summit Ridge Construction</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1330</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30</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Hard bid</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24%</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$4.2k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69%</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no flags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65176">
                <a:tc>
                  <a:txBody>
                    <a:bodyPr/>
                    <a:lstStyle/>
                    <a:p>
                      <a:pPr algn="l" indent="0" marL="0">
                        <a:buNone/>
                      </a:pPr>
                      <a:r>
                        <a:rPr lang="en-US" sz="800" dirty="0">
                          <a:solidFill>
                            <a:srgbClr val="1F2A33"/>
                          </a:solidFill>
                          <a:latin typeface="+mn-lt" pitchFamily="34" charset="0"/>
                          <a:ea typeface="+mn-lt" pitchFamily="34" charset="-122"/>
                          <a:cs typeface="+mn-lt" pitchFamily="34" charset="-120"/>
                        </a:rPr>
                        <a:t>7</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1BAF7A"/>
                          </a:solidFill>
                          <a:latin typeface="+mn-lt" pitchFamily="34" charset="0"/>
                          <a:ea typeface="+mn-lt" pitchFamily="34" charset="-122"/>
                          <a:cs typeface="+mn-lt" pitchFamily="34" charset="-120"/>
                        </a:rPr>
                        <a:t>Pursue</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Municipal - Tulsa #61</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Meridian Build Partners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196</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126</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Design-build</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53%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$4.1k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62%</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design-build delivery</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65176">
                <a:tc>
                  <a:txBody>
                    <a:bodyPr/>
                    <a:lstStyle/>
                    <a:p>
                      <a:pPr algn="l" indent="0" marL="0">
                        <a:buNone/>
                      </a:pPr>
                      <a:r>
                        <a:rPr lang="en-US" sz="800" dirty="0">
                          <a:solidFill>
                            <a:srgbClr val="1F2A33"/>
                          </a:solidFill>
                          <a:latin typeface="+mn-lt" pitchFamily="34" charset="0"/>
                          <a:ea typeface="+mn-lt" pitchFamily="34" charset="-122"/>
                          <a:cs typeface="+mn-lt" pitchFamily="34" charset="-120"/>
                        </a:rPr>
                        <a:t>8</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EDA100"/>
                          </a:solidFill>
                          <a:latin typeface="+mn-lt" pitchFamily="34" charset="0"/>
                          <a:ea typeface="+mn-lt" pitchFamily="34" charset="-122"/>
                          <a:cs typeface="+mn-lt" pitchFamily="34" charset="-120"/>
                        </a:rPr>
                        <a:t>Review</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Municipal - Muskogee #32</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Cimarron Commercial</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145</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136</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Negotiated</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62%</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$3.9k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98%</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shop tight (98%) during fabrication window; negotiated del…</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65176">
                <a:tc>
                  <a:txBody>
                    <a:bodyPr/>
                    <a:lstStyle/>
                    <a:p>
                      <a:pPr algn="l" indent="0" marL="0">
                        <a:buNone/>
                      </a:pPr>
                      <a:r>
                        <a:rPr lang="en-US" sz="800" dirty="0">
                          <a:solidFill>
                            <a:srgbClr val="1F2A33"/>
                          </a:solidFill>
                          <a:latin typeface="+mn-lt" pitchFamily="34" charset="0"/>
                          <a:ea typeface="+mn-lt" pitchFamily="34" charset="-122"/>
                          <a:cs typeface="+mn-lt" pitchFamily="34" charset="-120"/>
                        </a:rPr>
                        <a:t>9</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1BAF7A"/>
                          </a:solidFill>
                          <a:latin typeface="+mn-lt" pitchFamily="34" charset="0"/>
                          <a:ea typeface="+mn-lt" pitchFamily="34" charset="-122"/>
                          <a:cs typeface="+mn-lt" pitchFamily="34" charset="-120"/>
                        </a:rPr>
                        <a:t>Pursue</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Industrial - Stillwater #49</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Flint Hills Construction</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338</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83</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CM at risk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37%</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$3.9k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55%</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no flags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65176">
                <a:tc>
                  <a:txBody>
                    <a:bodyPr/>
                    <a:lstStyle/>
                    <a:p>
                      <a:pPr algn="l" indent="0" marL="0">
                        <a:buNone/>
                      </a:pPr>
                      <a:r>
                        <a:rPr lang="en-US" sz="800" dirty="0">
                          <a:solidFill>
                            <a:srgbClr val="1F2A33"/>
                          </a:solidFill>
                          <a:latin typeface="+mn-lt" pitchFamily="34" charset="0"/>
                          <a:ea typeface="+mn-lt" pitchFamily="34" charset="-122"/>
                          <a:cs typeface="+mn-lt" pitchFamily="34" charset="-120"/>
                        </a:rPr>
                        <a:t>10</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900" b="1" dirty="0">
                          <a:solidFill>
                            <a:srgbClr val="1BAF7A"/>
                          </a:solidFill>
                          <a:latin typeface="+mn-lt" pitchFamily="34" charset="0"/>
                          <a:ea typeface="+mn-lt" pitchFamily="34" charset="-122"/>
                          <a:cs typeface="+mn-lt" pitchFamily="34" charset="-120"/>
                        </a:rPr>
                        <a:t>Pursue</a:t>
                      </a:r>
                      <a:endParaRPr lang="en-US" sz="9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Industrial - Moore #30</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Washita Valley Builders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414</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21</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CM at risk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36%</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$3.7k</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r" indent="0" marL="0">
                        <a:buNone/>
                      </a:pPr>
                      <a:r>
                        <a:rPr lang="en-US" sz="800" dirty="0">
                          <a:solidFill>
                            <a:srgbClr val="1F2A33"/>
                          </a:solidFill>
                          <a:latin typeface="+mn-lt" pitchFamily="34" charset="0"/>
                          <a:ea typeface="+mn-lt" pitchFamily="34" charset="-122"/>
                          <a:cs typeface="+mn-lt" pitchFamily="34" charset="-120"/>
                        </a:rPr>
                        <a:t>75%</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800" dirty="0">
                          <a:solidFill>
                            <a:srgbClr val="1F2A33"/>
                          </a:solidFill>
                          <a:latin typeface="+mn-lt" pitchFamily="34" charset="0"/>
                          <a:ea typeface="+mn-lt" pitchFamily="34" charset="-122"/>
                          <a:cs typeface="+mn-lt" pitchFamily="34" charset="-120"/>
                        </a:rPr>
                        <a:t>no flags</a:t>
                      </a:r>
                      <a:endParaRPr lang="en-US" sz="80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4" name="top10 note"/>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000" i="1" dirty="0">
                <a:solidFill>
                  <a:schemeClr val="tx2"/>
                </a:solidFill>
              </a:rPr>
              <a:t>Full list of 90 is in the report and the CSV, with every input next to every call so the room can argue with the number.</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The rules, in the order they fire, and how the room overrides them</a:t>
            </a:r>
            <a:endParaRPr lang="en-US" sz="2400" dirty="0"/>
          </a:p>
        </p:txBody>
      </p:sp>
      <p:sp>
        <p:nvSpPr>
          <p:cNvPr id="3" name="rule num circle"/>
          <p:cNvSpPr/>
          <p:nvPr/>
        </p:nvSpPr>
        <p:spPr>
          <a:xfrm>
            <a:off x="548640" y="1188720"/>
            <a:ext cx="420624" cy="420624"/>
          </a:xfrm>
          <a:prstGeom prst="ellipse">
            <a:avLst/>
          </a:prstGeom>
          <a:solidFill>
            <a:schemeClr val="accent2"/>
          </a:solidFill>
          <a:ln w="12700">
            <a:solidFill>
              <a:schemeClr val="accent2"/>
            </a:solidFill>
            <a:prstDash val="solid"/>
          </a:ln>
        </p:spPr>
      </p:sp>
      <p:sp>
        <p:nvSpPr>
          <p:cNvPr id="4" name="rule num"/>
          <p:cNvSpPr txBox="1"/>
          <p:nvPr/>
        </p:nvSpPr>
        <p:spPr>
          <a:xfrm>
            <a:off x="548640" y="118872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rule head"/>
          <p:cNvSpPr txBox="1"/>
          <p:nvPr/>
        </p:nvSpPr>
        <p:spPr>
          <a:xfrm>
            <a:off x="1188720" y="1097280"/>
            <a:ext cx="2103120" cy="603504"/>
          </a:xfrm>
          <a:prstGeom prst="rect">
            <a:avLst/>
          </a:prstGeom>
          <a:noFill/>
          <a:ln/>
        </p:spPr>
        <p:txBody>
          <a:bodyPr wrap="square" lIns="0" tIns="0" rIns="0" bIns="0" rtlCol="0" anchor="ctr"/>
          <a:lstStyle/>
          <a:p>
            <a:pPr indent="0" marL="0">
              <a:buNone/>
            </a:pPr>
            <a:r>
              <a:rPr lang="en-US" sz="1300" b="1" dirty="0">
                <a:solidFill>
                  <a:schemeClr val="tx1"/>
                </a:solidFill>
              </a:rPr>
              <a:t>Hard flags first</a:t>
            </a:r>
            <a:endParaRPr lang="en-US" sz="1300" dirty="0"/>
          </a:p>
        </p:txBody>
      </p:sp>
      <p:sp>
        <p:nvSpPr>
          <p:cNvPr id="6" name="rule text"/>
          <p:cNvSpPr txBox="1"/>
          <p:nvPr/>
        </p:nvSpPr>
        <p:spPr>
          <a:xfrm>
            <a:off x="3383280" y="1097280"/>
            <a:ext cx="5303520" cy="603504"/>
          </a:xfrm>
          <a:prstGeom prst="rect">
            <a:avLst/>
          </a:prstGeom>
          <a:noFill/>
          <a:ln/>
        </p:spPr>
        <p:txBody>
          <a:bodyPr wrap="square" lIns="0" tIns="0" rIns="0" bIns="0" rtlCol="0" anchor="ctr"/>
          <a:lstStyle/>
          <a:p>
            <a:pPr indent="0" marL="0">
              <a:buNone/>
            </a:pPr>
            <a:r>
              <a:rPr lang="en-US" sz="1100" dirty="0">
                <a:solidFill>
                  <a:schemeClr val="tx2"/>
                </a:solidFill>
              </a:rPr>
              <a:t>Shop over 105% of capacity if we win it, or win odds under 12%, is a Pass whatever the dollars say.</a:t>
            </a:r>
            <a:endParaRPr lang="en-US" sz="1100" dirty="0"/>
          </a:p>
        </p:txBody>
      </p:sp>
      <p:sp>
        <p:nvSpPr>
          <p:cNvPr id="7" name="rule num circle"/>
          <p:cNvSpPr/>
          <p:nvPr/>
        </p:nvSpPr>
        <p:spPr>
          <a:xfrm>
            <a:off x="548640" y="1901952"/>
            <a:ext cx="420624" cy="420624"/>
          </a:xfrm>
          <a:prstGeom prst="ellipse">
            <a:avLst/>
          </a:prstGeom>
          <a:solidFill>
            <a:schemeClr val="accent2"/>
          </a:solidFill>
          <a:ln w="12700">
            <a:solidFill>
              <a:schemeClr val="accent2"/>
            </a:solidFill>
            <a:prstDash val="solid"/>
          </a:ln>
        </p:spPr>
      </p:sp>
      <p:sp>
        <p:nvSpPr>
          <p:cNvPr id="8" name="rule num"/>
          <p:cNvSpPr txBox="1"/>
          <p:nvPr/>
        </p:nvSpPr>
        <p:spPr>
          <a:xfrm>
            <a:off x="548640" y="190195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rule head"/>
          <p:cNvSpPr txBox="1"/>
          <p:nvPr/>
        </p:nvSpPr>
        <p:spPr>
          <a:xfrm>
            <a:off x="1188720" y="1810512"/>
            <a:ext cx="2103120" cy="603504"/>
          </a:xfrm>
          <a:prstGeom prst="rect">
            <a:avLst/>
          </a:prstGeom>
          <a:noFill/>
          <a:ln/>
        </p:spPr>
        <p:txBody>
          <a:bodyPr wrap="square" lIns="0" tIns="0" rIns="0" bIns="0" rtlCol="0" anchor="ctr"/>
          <a:lstStyle/>
          <a:p>
            <a:pPr indent="0" marL="0">
              <a:buNone/>
            </a:pPr>
            <a:r>
              <a:rPr lang="en-US" sz="1300" b="1" dirty="0">
                <a:solidFill>
                  <a:schemeClr val="tx1"/>
                </a:solidFill>
              </a:rPr>
              <a:t>Then the money</a:t>
            </a:r>
            <a:endParaRPr lang="en-US" sz="1300" dirty="0"/>
          </a:p>
        </p:txBody>
      </p:sp>
      <p:sp>
        <p:nvSpPr>
          <p:cNvPr id="10" name="rule text"/>
          <p:cNvSpPr txBox="1"/>
          <p:nvPr/>
        </p:nvSpPr>
        <p:spPr>
          <a:xfrm>
            <a:off x="3383280" y="1810512"/>
            <a:ext cx="5303520" cy="603504"/>
          </a:xfrm>
          <a:prstGeom prst="rect">
            <a:avLst/>
          </a:prstGeom>
          <a:noFill/>
          <a:ln/>
        </p:spPr>
        <p:txBody>
          <a:bodyPr wrap="square" lIns="0" tIns="0" rIns="0" bIns="0" rtlCol="0" anchor="ctr"/>
          <a:lstStyle/>
          <a:p>
            <a:pPr indent="0" marL="0">
              <a:buNone/>
            </a:pPr>
            <a:r>
              <a:rPr lang="en-US" sz="1100" dirty="0">
                <a:solidFill>
                  <a:schemeClr val="tx2"/>
                </a:solidFill>
              </a:rPr>
              <a:t>Expected value per estimating hour against our historical return: 80% or better is Pursue, 35% to 80% is Review, below is Pass.</a:t>
            </a:r>
            <a:endParaRPr lang="en-US" sz="1100" dirty="0"/>
          </a:p>
        </p:txBody>
      </p:sp>
      <p:sp>
        <p:nvSpPr>
          <p:cNvPr id="11" name="rule num circle"/>
          <p:cNvSpPr/>
          <p:nvPr/>
        </p:nvSpPr>
        <p:spPr>
          <a:xfrm>
            <a:off x="548640" y="2615184"/>
            <a:ext cx="420624" cy="420624"/>
          </a:xfrm>
          <a:prstGeom prst="ellipse">
            <a:avLst/>
          </a:prstGeom>
          <a:solidFill>
            <a:schemeClr val="accent2"/>
          </a:solidFill>
          <a:ln w="12700">
            <a:solidFill>
              <a:schemeClr val="accent2"/>
            </a:solidFill>
            <a:prstDash val="solid"/>
          </a:ln>
        </p:spPr>
      </p:sp>
      <p:sp>
        <p:nvSpPr>
          <p:cNvPr id="12" name="rule num"/>
          <p:cNvSpPr txBox="1"/>
          <p:nvPr/>
        </p:nvSpPr>
        <p:spPr>
          <a:xfrm>
            <a:off x="548640" y="2615184"/>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rule head"/>
          <p:cNvSpPr txBox="1"/>
          <p:nvPr/>
        </p:nvSpPr>
        <p:spPr>
          <a:xfrm>
            <a:off x="1188720" y="2523744"/>
            <a:ext cx="2103120" cy="603504"/>
          </a:xfrm>
          <a:prstGeom prst="rect">
            <a:avLst/>
          </a:prstGeom>
          <a:noFill/>
          <a:ln/>
        </p:spPr>
        <p:txBody>
          <a:bodyPr wrap="square" lIns="0" tIns="0" rIns="0" bIns="0" rtlCol="0" anchor="ctr"/>
          <a:lstStyle/>
          <a:p>
            <a:pPr indent="0" marL="0">
              <a:buNone/>
            </a:pPr>
            <a:r>
              <a:rPr lang="en-US" sz="1300" b="1" dirty="0">
                <a:solidFill>
                  <a:schemeClr val="tx1"/>
                </a:solidFill>
              </a:rPr>
              <a:t>Then the soft flags</a:t>
            </a:r>
            <a:endParaRPr lang="en-US" sz="1300" dirty="0"/>
          </a:p>
        </p:txBody>
      </p:sp>
      <p:sp>
        <p:nvSpPr>
          <p:cNvPr id="14" name="rule text"/>
          <p:cNvSpPr txBox="1"/>
          <p:nvPr/>
        </p:nvSpPr>
        <p:spPr>
          <a:xfrm>
            <a:off x="3383280" y="2523744"/>
            <a:ext cx="5303520" cy="603504"/>
          </a:xfrm>
          <a:prstGeom prst="rect">
            <a:avLst/>
          </a:prstGeom>
          <a:noFill/>
          <a:ln/>
        </p:spPr>
        <p:txBody>
          <a:bodyPr wrap="square" lIns="0" tIns="0" rIns="0" bIns="0" rtlCol="0" anchor="ctr"/>
          <a:lstStyle/>
          <a:p>
            <a:pPr indent="0" marL="0">
              <a:buNone/>
            </a:pPr>
            <a:r>
              <a:rPr lang="en-US" sz="1100" dirty="0">
                <a:solidFill>
                  <a:schemeClr val="tx2"/>
                </a:solidFill>
              </a:rPr>
              <a:t>Shop tight (over 90%), erection beyond 250 miles, a project type where we realise well below shop margin: a would-be Pursue becomes Review.</a:t>
            </a:r>
            <a:endParaRPr lang="en-US" sz="1100" dirty="0"/>
          </a:p>
        </p:txBody>
      </p:sp>
      <p:sp>
        <p:nvSpPr>
          <p:cNvPr id="15" name="rule num circle"/>
          <p:cNvSpPr/>
          <p:nvPr/>
        </p:nvSpPr>
        <p:spPr>
          <a:xfrm>
            <a:off x="548640" y="3328416"/>
            <a:ext cx="420624" cy="420624"/>
          </a:xfrm>
          <a:prstGeom prst="ellipse">
            <a:avLst/>
          </a:prstGeom>
          <a:solidFill>
            <a:schemeClr val="accent2"/>
          </a:solidFill>
          <a:ln w="12700">
            <a:solidFill>
              <a:schemeClr val="accent2"/>
            </a:solidFill>
            <a:prstDash val="solid"/>
          </a:ln>
        </p:spPr>
      </p:sp>
      <p:sp>
        <p:nvSpPr>
          <p:cNvPr id="16" name="rule num"/>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rule head"/>
          <p:cNvSpPr txBox="1"/>
          <p:nvPr/>
        </p:nvSpPr>
        <p:spPr>
          <a:xfrm>
            <a:off x="1188720" y="3236976"/>
            <a:ext cx="2103120" cy="603504"/>
          </a:xfrm>
          <a:prstGeom prst="rect">
            <a:avLst/>
          </a:prstGeom>
          <a:noFill/>
          <a:ln/>
        </p:spPr>
        <p:txBody>
          <a:bodyPr wrap="square" lIns="0" tIns="0" rIns="0" bIns="0" rtlCol="0" anchor="ctr"/>
          <a:lstStyle/>
          <a:p>
            <a:pPr indent="0" marL="0">
              <a:buNone/>
            </a:pPr>
            <a:r>
              <a:rPr lang="en-US" sz="1300" b="1" dirty="0">
                <a:solidFill>
                  <a:schemeClr val="tx1"/>
                </a:solidFill>
              </a:rPr>
              <a:t>One strategic override</a:t>
            </a:r>
            <a:endParaRPr lang="en-US" sz="1300" dirty="0"/>
          </a:p>
        </p:txBody>
      </p:sp>
      <p:sp>
        <p:nvSpPr>
          <p:cNvPr id="18" name="rule text"/>
          <p:cNvSpPr txBox="1"/>
          <p:nvPr/>
        </p:nvSpPr>
        <p:spPr>
          <a:xfrm>
            <a:off x="3383280" y="3236976"/>
            <a:ext cx="5303520" cy="603504"/>
          </a:xfrm>
          <a:prstGeom prst="rect">
            <a:avLst/>
          </a:prstGeom>
          <a:noFill/>
          <a:ln/>
        </p:spPr>
        <p:txBody>
          <a:bodyPr wrap="square" lIns="0" tIns="0" rIns="0" bIns="0" rtlCol="0" anchor="ctr"/>
          <a:lstStyle/>
          <a:p>
            <a:pPr indent="0" marL="0">
              <a:buNone/>
            </a:pPr>
            <a:r>
              <a:rPr lang="en-US" sz="1100" dirty="0">
                <a:solidFill>
                  <a:schemeClr val="tx2"/>
                </a:solidFill>
              </a:rPr>
              <a:t>A new regional or national GC on one of our three best-fit project types is never an automatic Pass; it is Review, labelled strategic.</a:t>
            </a:r>
            <a:endParaRPr lang="en-US" sz="1100" dirty="0"/>
          </a:p>
        </p:txBody>
      </p:sp>
      <p:sp>
        <p:nvSpPr>
          <p:cNvPr id="19" name="rule num circle"/>
          <p:cNvSpPr/>
          <p:nvPr/>
        </p:nvSpPr>
        <p:spPr>
          <a:xfrm>
            <a:off x="548640" y="4041648"/>
            <a:ext cx="420624" cy="420624"/>
          </a:xfrm>
          <a:prstGeom prst="ellipse">
            <a:avLst/>
          </a:prstGeom>
          <a:solidFill>
            <a:schemeClr val="accent1"/>
          </a:solidFill>
          <a:ln w="12700">
            <a:solidFill>
              <a:schemeClr val="accent1"/>
            </a:solidFill>
            <a:prstDash val="solid"/>
          </a:ln>
        </p:spPr>
      </p:sp>
      <p:sp>
        <p:nvSpPr>
          <p:cNvPr id="20" name="rule num"/>
          <p:cNvSpPr txBox="1"/>
          <p:nvPr/>
        </p:nvSpPr>
        <p:spPr>
          <a:xfrm>
            <a:off x="548640" y="4041648"/>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rule head"/>
          <p:cNvSpPr txBox="1"/>
          <p:nvPr/>
        </p:nvSpPr>
        <p:spPr>
          <a:xfrm>
            <a:off x="1188720" y="3950208"/>
            <a:ext cx="2103120" cy="603504"/>
          </a:xfrm>
          <a:prstGeom prst="rect">
            <a:avLst/>
          </a:prstGeom>
          <a:noFill/>
          <a:ln/>
        </p:spPr>
        <p:txBody>
          <a:bodyPr wrap="square" lIns="0" tIns="0" rIns="0" bIns="0" rtlCol="0" anchor="ctr"/>
          <a:lstStyle/>
          <a:p>
            <a:pPr indent="0" marL="0">
              <a:buNone/>
            </a:pPr>
            <a:r>
              <a:rPr lang="en-US" sz="1300" b="1" dirty="0">
                <a:solidFill>
                  <a:schemeClr val="tx1"/>
                </a:solidFill>
              </a:rPr>
              <a:t>The room decides</a:t>
            </a:r>
            <a:endParaRPr lang="en-US" sz="1300" dirty="0"/>
          </a:p>
        </p:txBody>
      </p:sp>
      <p:sp>
        <p:nvSpPr>
          <p:cNvPr id="22" name="rule text"/>
          <p:cNvSpPr txBox="1"/>
          <p:nvPr/>
        </p:nvSpPr>
        <p:spPr>
          <a:xfrm>
            <a:off x="3383280" y="3950208"/>
            <a:ext cx="5303520" cy="603504"/>
          </a:xfrm>
          <a:prstGeom prst="rect">
            <a:avLst/>
          </a:prstGeom>
          <a:noFill/>
          <a:ln/>
        </p:spPr>
        <p:txBody>
          <a:bodyPr wrap="square" lIns="0" tIns="0" rIns="0" bIns="0" rtlCol="0" anchor="ctr"/>
          <a:lstStyle/>
          <a:p>
            <a:pPr indent="0" marL="0">
              <a:buNone/>
            </a:pPr>
            <a:r>
              <a:rPr lang="en-US" sz="1100" dirty="0">
                <a:solidFill>
                  <a:schemeClr val="tx2"/>
                </a:solidFill>
              </a:rPr>
              <a:t>Every call shows its inputs and reasons. When the room overrides, the override and the reason are logged and become next quarter's training data.</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863840" cy="914400"/>
          </a:xfrm>
          <a:prstGeom prst="rect">
            <a:avLst/>
          </a:prstGeom>
          <a:noFill/>
          <a:ln/>
        </p:spPr>
        <p:txBody>
          <a:bodyPr wrap="square" lIns="0" tIns="0" rIns="0" bIns="0" rtlCol="0" anchor="ctr"/>
          <a:lstStyle/>
          <a:p>
            <a:pPr indent="0" marL="0">
              <a:buNone/>
            </a:pPr>
            <a:r>
              <a:rPr lang="en-US" sz="3200" b="1" dirty="0">
                <a:solidFill>
                  <a:schemeClr val="bg1"/>
                </a:solidFill>
              </a:rPr>
              <a:t>4. How much to trust the win odds</a:t>
            </a:r>
            <a:endParaRPr lang="en-US" sz="3200" dirty="0"/>
          </a:p>
        </p:txBody>
      </p:sp>
      <p:sp>
        <p:nvSpPr>
          <p:cNvPr id="3" name="Text 0"/>
          <p:cNvSpPr/>
          <p:nvPr>
            <p:ph idx="101" type="body" hasCustomPrompt="1"/>
          </p:nvPr>
        </p:nvSpPr>
        <p:spPr>
          <a:xfrm>
            <a:off x="640080" y="2788920"/>
            <a:ext cx="7863840" cy="822960"/>
          </a:xfrm>
          <a:prstGeom prst="rect">
            <a:avLst/>
          </a:prstGeom>
          <a:noFill/>
          <a:ln/>
        </p:spPr>
        <p:txBody>
          <a:bodyPr wrap="square" lIns="0" tIns="0" rIns="0" bIns="0" rtlCol="0" anchor="t"/>
          <a:lstStyle/>
          <a:p>
            <a:pPr indent="0" marL="0">
              <a:buNone/>
            </a:pPr>
            <a:r>
              <a:rPr lang="en-US" sz="1500" dirty="0">
                <a:solidFill>
                  <a:schemeClr val="accent6"/>
                </a:solidFill>
              </a:rPr>
              <a:t>A small statistical model on our own bids, tested on bids it had never seen. Good enough to rank, not good enough to overrule the room on one job.</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What moves the win odds, in order of effect</a:t>
            </a:r>
            <a:endParaRPr lang="en-US" sz="2400" dirty="0"/>
          </a:p>
        </p:txBody>
      </p:sp>
      <p:graphicFrame>
        <p:nvGraphicFramePr>
          <p:cNvPr id="3" name="coefficients" descr=""/>
          <p:cNvGraphicFramePr/>
          <p:nvPr/>
        </p:nvGraphicFramePr>
        <p:xfrm>
          <a:off x="457200" y="109728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4" name="commentary"/>
          <p:cNvSpPr/>
          <p:nvPr/>
        </p:nvSpPr>
        <p:spPr>
          <a:xfrm>
            <a:off x="6172200" y="1097280"/>
            <a:ext cx="2514600" cy="3566160"/>
          </a:xfrm>
          <a:prstGeom prst="roundRect">
            <a:avLst>
              <a:gd name="adj" fmla="val 2909"/>
            </a:avLst>
          </a:prstGeom>
          <a:solidFill>
            <a:schemeClr val="bg2"/>
          </a:solidFill>
          <a:ln w="9525">
            <a:solidFill>
              <a:schemeClr val="accent6"/>
            </a:solidFill>
            <a:prstDash val="solid"/>
          </a:ln>
        </p:spPr>
      </p:sp>
      <p:sp>
        <p:nvSpPr>
          <p:cNvPr id="5" name="commentary text"/>
          <p:cNvSpPr txBox="1"/>
          <p:nvPr/>
        </p:nvSpPr>
        <p:spPr>
          <a:xfrm>
            <a:off x="6355080" y="1261872"/>
            <a:ext cx="2148840" cy="3291840"/>
          </a:xfrm>
          <a:prstGeom prst="rect">
            <a:avLst/>
          </a:prstGeom>
          <a:noFill/>
          <a:ln/>
        </p:spPr>
        <p:txBody>
          <a:bodyPr wrap="square" lIns="0" tIns="0" rIns="0" bIns="0" rtlCol="0" anchor="t"/>
          <a:lstStyle/>
          <a:p>
            <a:pPr indent="0" marL="0">
              <a:spcAft>
                <a:spcPts val="700"/>
              </a:spcAft>
              <a:buNone/>
            </a:pPr>
            <a:r>
              <a:rPr lang="en-US" sz="1200" b="1" dirty="0">
                <a:solidFill>
                  <a:schemeClr val="tx1"/>
                </a:solidFill>
              </a:rPr>
              <a:t>Bars to the left lower our odds, bars to the right raise them.</a:t>
            </a:r>
            <a:endParaRPr lang="en-US" sz="1200" dirty="0"/>
          </a:p>
          <a:p>
            <a:pPr indent="0" marL="0">
              <a:spcAft>
                <a:spcPts val="700"/>
              </a:spcAft>
              <a:buNone/>
            </a:pPr>
            <a:r>
              <a:rPr lang="en-US" sz="1200" dirty="0">
                <a:solidFill>
                  <a:schemeClr val="tx1"/>
                </a:solidFill>
              </a:rPr>
              <a:t>More bidders, more miles, a higher markup and higher complexity all cost us. Negotiated delivery and a good history with the GC help.</a:t>
            </a:r>
            <a:endParaRPr lang="en-US" sz="1200" dirty="0"/>
          </a:p>
          <a:p>
            <a:pPr indent="0" marL="0">
              <a:spcAft>
                <a:spcPts val="700"/>
              </a:spcAft>
              <a:buNone/>
            </a:pPr>
            <a:r>
              <a:rPr lang="en-US" sz="1200" dirty="0">
                <a:solidFill>
                  <a:schemeClr val="tx1"/>
                </a:solidFill>
              </a:rPr>
              <a:t>Measured against warehouse work on a hard bid.</a:t>
            </a:r>
            <a:endParaRPr lang="en-US" sz="1200" dirty="0"/>
          </a:p>
          <a:p>
            <a:pPr indent="0" marL="0">
              <a:buNone/>
            </a:pPr>
            <a:r>
              <a:rPr lang="en-US" sz="1200" b="1" dirty="0">
                <a:solidFill>
                  <a:schemeClr val="accent1"/>
                </a:solidFill>
              </a:rPr>
              <a:t>Nothing here surprises an estimator. That is the point: the model agrees with experience and adds a number.</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Did the odds come true? Tested on bids the model had never seen</a:t>
            </a:r>
            <a:endParaRPr lang="en-US" sz="2400" dirty="0"/>
          </a:p>
        </p:txBody>
      </p:sp>
      <p:graphicFrame>
        <p:nvGraphicFramePr>
          <p:cNvPr id="3" name="calibration" descr=""/>
          <p:cNvGraphicFramePr/>
          <p:nvPr/>
        </p:nvGraphicFramePr>
        <p:xfrm>
          <a:off x="457200" y="109728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4" name="stat Accuracy score (AUC)"/>
          <p:cNvSpPr/>
          <p:nvPr/>
        </p:nvSpPr>
        <p:spPr>
          <a:xfrm>
            <a:off x="5669280" y="1097280"/>
            <a:ext cx="3017520" cy="1024128"/>
          </a:xfrm>
          <a:prstGeom prst="roundRect">
            <a:avLst>
              <a:gd name="adj" fmla="val 7143"/>
            </a:avLst>
          </a:prstGeom>
          <a:solidFill>
            <a:schemeClr val="bg2"/>
          </a:solidFill>
          <a:ln w="9525">
            <a:solidFill>
              <a:schemeClr val="accent6"/>
            </a:solidFill>
            <a:prstDash val="solid"/>
          </a:ln>
        </p:spPr>
      </p:sp>
      <p:sp>
        <p:nvSpPr>
          <p:cNvPr id="5" name="stat value Accuracy score (AUC)"/>
          <p:cNvSpPr txBox="1"/>
          <p:nvPr/>
        </p:nvSpPr>
        <p:spPr>
          <a:xfrm>
            <a:off x="5833872" y="1188720"/>
            <a:ext cx="2688336" cy="548640"/>
          </a:xfrm>
          <a:prstGeom prst="rect">
            <a:avLst/>
          </a:prstGeom>
          <a:noFill/>
          <a:ln/>
        </p:spPr>
        <p:txBody>
          <a:bodyPr wrap="square" lIns="0" tIns="0" rIns="0" bIns="0" rtlCol="0" anchor="ctr"/>
          <a:lstStyle/>
          <a:p>
            <a:pPr indent="0" marL="0">
              <a:buNone/>
            </a:pPr>
            <a:r>
              <a:rPr lang="en-US" sz="2600" b="1" dirty="0">
                <a:solidFill>
                  <a:schemeClr val="accent2"/>
                </a:solidFill>
              </a:rPr>
              <a:t>0.75</a:t>
            </a:r>
            <a:endParaRPr lang="en-US" sz="2600" dirty="0"/>
          </a:p>
        </p:txBody>
      </p:sp>
      <p:sp>
        <p:nvSpPr>
          <p:cNvPr id="6" name="stat label Accuracy score (AUC)"/>
          <p:cNvSpPr txBox="1"/>
          <p:nvPr/>
        </p:nvSpPr>
        <p:spPr>
          <a:xfrm>
            <a:off x="5833872" y="1737360"/>
            <a:ext cx="2688336" cy="292608"/>
          </a:xfrm>
          <a:prstGeom prst="rect">
            <a:avLst/>
          </a:prstGeom>
          <a:noFill/>
          <a:ln/>
        </p:spPr>
        <p:txBody>
          <a:bodyPr wrap="square" lIns="0" tIns="0" rIns="0" bIns="0" rtlCol="0" anchor="ctr"/>
          <a:lstStyle/>
          <a:p>
            <a:pPr indent="0" marL="0">
              <a:buNone/>
            </a:pPr>
            <a:r>
              <a:rPr lang="en-US" sz="1150" b="1" dirty="0">
                <a:solidFill>
                  <a:schemeClr val="tx2"/>
                </a:solidFill>
              </a:rPr>
              <a:t>Accuracy score (AUC)</a:t>
            </a:r>
            <a:endParaRPr lang="en-US" sz="1150" dirty="0"/>
          </a:p>
        </p:txBody>
      </p:sp>
      <p:sp>
        <p:nvSpPr>
          <p:cNvPr id="7" name="stat note Accuracy score (AUC)"/>
          <p:cNvSpPr txBox="1"/>
          <p:nvPr/>
        </p:nvSpPr>
        <p:spPr>
          <a:xfrm>
            <a:off x="5833872" y="2011680"/>
            <a:ext cx="2688336" cy="64008"/>
          </a:xfrm>
          <a:prstGeom prst="rect">
            <a:avLst/>
          </a:prstGeom>
          <a:noFill/>
          <a:ln/>
        </p:spPr>
        <p:txBody>
          <a:bodyPr wrap="square" lIns="0" tIns="0" rIns="0" bIns="0" rtlCol="0" anchor="ctr"/>
          <a:lstStyle/>
          <a:p>
            <a:pPr indent="0" marL="0">
              <a:buNone/>
            </a:pPr>
            <a:r>
              <a:rPr lang="en-US" sz="950" dirty="0">
                <a:solidFill>
                  <a:schemeClr val="accent5"/>
                </a:solidFill>
              </a:rPr>
              <a:t>0.5 is a coin flip, 1.0 is perfect</a:t>
            </a:r>
            <a:endParaRPr lang="en-US" sz="950" dirty="0"/>
          </a:p>
        </p:txBody>
      </p:sp>
      <p:sp>
        <p:nvSpPr>
          <p:cNvPr id="8" name="stat Error score vs guessing the average"/>
          <p:cNvSpPr/>
          <p:nvPr/>
        </p:nvSpPr>
        <p:spPr>
          <a:xfrm>
            <a:off x="5669280" y="2194560"/>
            <a:ext cx="3017520" cy="1024128"/>
          </a:xfrm>
          <a:prstGeom prst="roundRect">
            <a:avLst>
              <a:gd name="adj" fmla="val 7143"/>
            </a:avLst>
          </a:prstGeom>
          <a:solidFill>
            <a:schemeClr val="bg2"/>
          </a:solidFill>
          <a:ln w="9525">
            <a:solidFill>
              <a:schemeClr val="accent6"/>
            </a:solidFill>
            <a:prstDash val="solid"/>
          </a:ln>
        </p:spPr>
      </p:sp>
      <p:sp>
        <p:nvSpPr>
          <p:cNvPr id="9" name="stat value Error score vs guessing the average"/>
          <p:cNvSpPr txBox="1"/>
          <p:nvPr/>
        </p:nvSpPr>
        <p:spPr>
          <a:xfrm>
            <a:off x="5833872" y="2286000"/>
            <a:ext cx="2688336" cy="548640"/>
          </a:xfrm>
          <a:prstGeom prst="rect">
            <a:avLst/>
          </a:prstGeom>
          <a:noFill/>
          <a:ln/>
        </p:spPr>
        <p:txBody>
          <a:bodyPr wrap="square" lIns="0" tIns="0" rIns="0" bIns="0" rtlCol="0" anchor="ctr"/>
          <a:lstStyle/>
          <a:p>
            <a:pPr indent="0" marL="0">
              <a:buNone/>
            </a:pPr>
            <a:r>
              <a:rPr lang="en-US" sz="2600" b="1" dirty="0">
                <a:solidFill>
                  <a:schemeClr val="tx1"/>
                </a:solidFill>
              </a:rPr>
              <a:t>0.182 vs 0.206</a:t>
            </a:r>
            <a:endParaRPr lang="en-US" sz="2600" dirty="0"/>
          </a:p>
        </p:txBody>
      </p:sp>
      <p:sp>
        <p:nvSpPr>
          <p:cNvPr id="10" name="stat label Error score vs guessing the average"/>
          <p:cNvSpPr txBox="1"/>
          <p:nvPr/>
        </p:nvSpPr>
        <p:spPr>
          <a:xfrm>
            <a:off x="5833872" y="2834640"/>
            <a:ext cx="2688336" cy="292608"/>
          </a:xfrm>
          <a:prstGeom prst="rect">
            <a:avLst/>
          </a:prstGeom>
          <a:noFill/>
          <a:ln/>
        </p:spPr>
        <p:txBody>
          <a:bodyPr wrap="square" lIns="0" tIns="0" rIns="0" bIns="0" rtlCol="0" anchor="ctr"/>
          <a:lstStyle/>
          <a:p>
            <a:pPr indent="0" marL="0">
              <a:buNone/>
            </a:pPr>
            <a:r>
              <a:rPr lang="en-US" sz="1150" b="1" dirty="0">
                <a:solidFill>
                  <a:schemeClr val="tx2"/>
                </a:solidFill>
              </a:rPr>
              <a:t>Error score vs guessing the average</a:t>
            </a:r>
            <a:endParaRPr lang="en-US" sz="1150" dirty="0"/>
          </a:p>
        </p:txBody>
      </p:sp>
      <p:sp>
        <p:nvSpPr>
          <p:cNvPr id="11" name="stat note Error score vs guessing the average"/>
          <p:cNvSpPr txBox="1"/>
          <p:nvPr/>
        </p:nvSpPr>
        <p:spPr>
          <a:xfrm>
            <a:off x="5833872" y="3108960"/>
            <a:ext cx="2688336" cy="64008"/>
          </a:xfrm>
          <a:prstGeom prst="rect">
            <a:avLst/>
          </a:prstGeom>
          <a:noFill/>
          <a:ln/>
        </p:spPr>
        <p:txBody>
          <a:bodyPr wrap="square" lIns="0" tIns="0" rIns="0" bIns="0" rtlCol="0" anchor="ctr"/>
          <a:lstStyle/>
          <a:p>
            <a:pPr indent="0" marL="0">
              <a:buNone/>
            </a:pPr>
            <a:r>
              <a:rPr lang="en-US" sz="950" dirty="0">
                <a:solidFill>
                  <a:schemeClr val="accent5"/>
                </a:solidFill>
              </a:rPr>
              <a:t>Brier score, lower is better</a:t>
            </a:r>
            <a:endParaRPr lang="en-US" sz="950" dirty="0"/>
          </a:p>
        </p:txBody>
      </p:sp>
      <p:sp>
        <p:nvSpPr>
          <p:cNvPr id="12" name="stat Held out for the test"/>
          <p:cNvSpPr/>
          <p:nvPr/>
        </p:nvSpPr>
        <p:spPr>
          <a:xfrm>
            <a:off x="5669280" y="3291840"/>
            <a:ext cx="3017520" cy="1024128"/>
          </a:xfrm>
          <a:prstGeom prst="roundRect">
            <a:avLst>
              <a:gd name="adj" fmla="val 7143"/>
            </a:avLst>
          </a:prstGeom>
          <a:solidFill>
            <a:schemeClr val="bg2"/>
          </a:solidFill>
          <a:ln w="9525">
            <a:solidFill>
              <a:schemeClr val="accent6"/>
            </a:solidFill>
            <a:prstDash val="solid"/>
          </a:ln>
        </p:spPr>
      </p:sp>
      <p:sp>
        <p:nvSpPr>
          <p:cNvPr id="13" name="stat value Held out for the test"/>
          <p:cNvSpPr txBox="1"/>
          <p:nvPr/>
        </p:nvSpPr>
        <p:spPr>
          <a:xfrm>
            <a:off x="5833872" y="3383280"/>
            <a:ext cx="2688336" cy="548640"/>
          </a:xfrm>
          <a:prstGeom prst="rect">
            <a:avLst/>
          </a:prstGeom>
          <a:noFill/>
          <a:ln/>
        </p:spPr>
        <p:txBody>
          <a:bodyPr wrap="square" lIns="0" tIns="0" rIns="0" bIns="0" rtlCol="0" anchor="ctr"/>
          <a:lstStyle/>
          <a:p>
            <a:pPr indent="0" marL="0">
              <a:buNone/>
            </a:pPr>
            <a:r>
              <a:rPr lang="en-US" sz="2600" b="1" dirty="0">
                <a:solidFill>
                  <a:schemeClr val="tx1"/>
                </a:solidFill>
              </a:rPr>
              <a:t>100 bids</a:t>
            </a:r>
            <a:endParaRPr lang="en-US" sz="2600" dirty="0"/>
          </a:p>
        </p:txBody>
      </p:sp>
      <p:sp>
        <p:nvSpPr>
          <p:cNvPr id="14" name="stat label Held out for the test"/>
          <p:cNvSpPr txBox="1"/>
          <p:nvPr/>
        </p:nvSpPr>
        <p:spPr>
          <a:xfrm>
            <a:off x="5833872" y="3931920"/>
            <a:ext cx="2688336" cy="292608"/>
          </a:xfrm>
          <a:prstGeom prst="rect">
            <a:avLst/>
          </a:prstGeom>
          <a:noFill/>
          <a:ln/>
        </p:spPr>
        <p:txBody>
          <a:bodyPr wrap="square" lIns="0" tIns="0" rIns="0" bIns="0" rtlCol="0" anchor="ctr"/>
          <a:lstStyle/>
          <a:p>
            <a:pPr indent="0" marL="0">
              <a:buNone/>
            </a:pPr>
            <a:r>
              <a:rPr lang="en-US" sz="1150" b="1" dirty="0">
                <a:solidFill>
                  <a:schemeClr val="tx2"/>
                </a:solidFill>
              </a:rPr>
              <a:t>Held out for the test</a:t>
            </a:r>
            <a:endParaRPr lang="en-US" sz="1150" dirty="0"/>
          </a:p>
        </p:txBody>
      </p:sp>
      <p:sp>
        <p:nvSpPr>
          <p:cNvPr id="15" name="stat note Held out for the test"/>
          <p:cNvSpPr txBox="1"/>
          <p:nvPr/>
        </p:nvSpPr>
        <p:spPr>
          <a:xfrm>
            <a:off x="5833872" y="4206240"/>
            <a:ext cx="2688336" cy="64008"/>
          </a:xfrm>
          <a:prstGeom prst="rect">
            <a:avLst/>
          </a:prstGeom>
          <a:noFill/>
          <a:ln/>
        </p:spPr>
        <p:txBody>
          <a:bodyPr wrap="square" lIns="0" tIns="0" rIns="0" bIns="0" rtlCol="0" anchor="ctr"/>
          <a:lstStyle/>
          <a:p>
            <a:pPr indent="0" marL="0">
              <a:buNone/>
            </a:pPr>
            <a:r>
              <a:rPr lang="en-US" sz="950" dirty="0">
                <a:solidFill>
                  <a:schemeClr val="accent5"/>
                </a:solidFill>
              </a:rPr>
              <a:t>fitted on 290 bids before 2025-07-01</a:t>
            </a:r>
            <a:endParaRPr lang="en-US" sz="950" dirty="0"/>
          </a:p>
        </p:txBody>
      </p:sp>
      <p:sp>
        <p:nvSpPr>
          <p:cNvPr id="16" name="calibration note"/>
          <p:cNvSpPr txBox="1"/>
          <p:nvPr/>
        </p:nvSpPr>
        <p:spPr>
          <a:xfrm>
            <a:off x="457200" y="4389120"/>
            <a:ext cx="8229600" cy="365760"/>
          </a:xfrm>
          <a:prstGeom prst="rect">
            <a:avLst/>
          </a:prstGeom>
          <a:noFill/>
          <a:ln/>
        </p:spPr>
        <p:txBody>
          <a:bodyPr wrap="square" lIns="0" tIns="0" rIns="0" bIns="0" rtlCol="0" anchor="t"/>
          <a:lstStyle/>
          <a:p>
            <a:pPr indent="0" marL="0">
              <a:buNone/>
            </a:pPr>
            <a:r>
              <a:rPr lang="en-US" sz="1050" b="1" dirty="0">
                <a:solidFill>
                  <a:schemeClr val="tx1"/>
                </a:solidFill>
              </a:rPr>
              <a:t>How to use it: </a:t>
            </a:r>
            <a:pPr indent="0" marL="0">
              <a:buNone/>
            </a:pPr>
            <a:r>
              <a:rPr lang="en-US" sz="1050" dirty="0">
                <a:solidFill>
                  <a:schemeClr val="tx1"/>
                </a:solidFill>
              </a:rPr>
              <a:t>the groups line up, so a 40% call wins about 40% of the time. Use the odds to rank and to budget hours. Do not use them to skip a job the room believes in. Re-fit every quarter; every decided bid and every low-bid number makes it better.</a:t>
            </a:r>
            <a:endParaRPr lang="en-US" sz="10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7863840" cy="914400"/>
          </a:xfrm>
          <a:prstGeom prst="rect">
            <a:avLst/>
          </a:prstGeom>
          <a:noFill/>
          <a:ln/>
        </p:spPr>
        <p:txBody>
          <a:bodyPr wrap="square" lIns="0" tIns="0" rIns="0" bIns="0" rtlCol="0" anchor="ctr"/>
          <a:lstStyle/>
          <a:p>
            <a:pPr indent="0" marL="0">
              <a:buNone/>
            </a:pPr>
            <a:r>
              <a:rPr lang="en-US" sz="3200" b="1" dirty="0">
                <a:solidFill>
                  <a:schemeClr val="bg1"/>
                </a:solidFill>
              </a:rPr>
              <a:t>5. Making it real at Weibee Steel</a:t>
            </a:r>
            <a:endParaRPr lang="en-US" sz="3200" dirty="0"/>
          </a:p>
        </p:txBody>
      </p:sp>
      <p:sp>
        <p:nvSpPr>
          <p:cNvPr id="3" name="Text 0"/>
          <p:cNvSpPr/>
          <p:nvPr>
            <p:ph idx="101" type="body" hasCustomPrompt="1"/>
          </p:nvPr>
        </p:nvSpPr>
        <p:spPr>
          <a:xfrm>
            <a:off x="640080" y="2788920"/>
            <a:ext cx="7863840" cy="822960"/>
          </a:xfrm>
          <a:prstGeom prst="rect">
            <a:avLst/>
          </a:prstGeom>
          <a:noFill/>
          <a:ln/>
        </p:spPr>
        <p:txBody>
          <a:bodyPr wrap="square" lIns="0" tIns="0" rIns="0" bIns="0" rtlCol="0" anchor="t"/>
          <a:lstStyle/>
          <a:p>
            <a:pPr indent="0" marL="0">
              <a:buNone/>
            </a:pPr>
            <a:r>
              <a:rPr lang="en-US" sz="1500" dirty="0">
                <a:solidFill>
                  <a:schemeClr val="accent6"/>
                </a:solidFill>
              </a:rPr>
              <a:t>What changes with real data, the first 90 days, the technology worth evaluating, the risks, and what we would report every month.</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From the sample to Weibee's own numbers</a:t>
            </a:r>
            <a:endParaRPr lang="en-US" sz="2400" dirty="0"/>
          </a:p>
        </p:txBody>
      </p:sp>
      <p:graphicFrame>
        <p:nvGraphicFramePr>
          <p:cNvPr id="29" name="synthetic to real"/>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71600"/>
                <a:gridCol w="3017520"/>
                <a:gridCol w="3840480"/>
              </a:tblGrid>
              <a:tr h="384048">
                <a:tc>
                  <a:txBody>
                    <a:bodyPr/>
                    <a:lstStyle/>
                    <a:p>
                      <a:pPr algn="l" indent="0" marL="0">
                        <a:buNone/>
                      </a:pPr>
                      <a:r>
                        <a:rPr lang="en-US" sz="950" b="1" dirty="0">
                          <a:solidFill>
                            <a:srgbClr val="4A5660"/>
                          </a:solidFill>
                          <a:latin typeface="+mn-lt" pitchFamily="34" charset="0"/>
                          <a:ea typeface="+mn-lt" pitchFamily="34" charset="-122"/>
                          <a:cs typeface="+mn-lt" pitchFamily="34" charset="-120"/>
                        </a:rPr>
                        <a:t>Piece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50" b="1" dirty="0">
                          <a:solidFill>
                            <a:srgbClr val="4A5660"/>
                          </a:solidFill>
                          <a:latin typeface="+mn-lt" pitchFamily="34" charset="0"/>
                          <a:ea typeface="+mn-lt" pitchFamily="34" charset="-122"/>
                          <a:cs typeface="+mn-lt" pitchFamily="34" charset="-120"/>
                        </a:rPr>
                        <a:t>In this sample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50" b="1" dirty="0">
                          <a:solidFill>
                            <a:srgbClr val="4A5660"/>
                          </a:solidFill>
                          <a:latin typeface="+mn-lt" pitchFamily="34" charset="0"/>
                          <a:ea typeface="+mn-lt" pitchFamily="34" charset="-122"/>
                          <a:cs typeface="+mn-lt" pitchFamily="34" charset="-120"/>
                        </a:rPr>
                        <a:t>On real data</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Source data</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Sample history shaped like a mid-size fabricator</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Estimating log, job-cost close-outs, GC list, loaded through the same five tables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Capacity</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140 tons a week, one step change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The shop calendar with shifts, holidays and outsourced fabrication</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Expected revenue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Historical price per ton by project type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The actual estimate once one exists; type median only at lead stage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Win model</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Type, size, miles, complexity, delivery, bidders, GC history</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Add the estimator, bid-tab bidder names, time since last award, contact changes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Thresholds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Relative to our historical return per estimating hour</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Same; reviewed quarterly with the estimating manager</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The report</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One HTML page, a PDF, a Tableau data layer</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Same files on the shared drive, or the same tables behind Power BI or Tableau</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Findings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Illustrate the kind of result</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Become decisions with names and dates attached</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The first 90 days</a:t>
            </a:r>
            <a:endParaRPr lang="en-US" sz="2400" dirty="0"/>
          </a:p>
        </p:txBody>
      </p:sp>
      <p:sp>
        <p:nvSpPr>
          <p:cNvPr id="3" name="phase Weeks 1 to 4"/>
          <p:cNvSpPr/>
          <p:nvPr/>
        </p:nvSpPr>
        <p:spPr>
          <a:xfrm>
            <a:off x="457200" y="1097280"/>
            <a:ext cx="2651760" cy="3566160"/>
          </a:xfrm>
          <a:prstGeom prst="roundRect">
            <a:avLst>
              <a:gd name="adj" fmla="val 2759"/>
            </a:avLst>
          </a:prstGeom>
          <a:solidFill>
            <a:schemeClr val="bg2"/>
          </a:solidFill>
          <a:ln w="9525">
            <a:solidFill>
              <a:schemeClr val="accent6"/>
            </a:solidFill>
            <a:prstDash val="solid"/>
          </a:ln>
        </p:spPr>
      </p:sp>
      <p:sp>
        <p:nvSpPr>
          <p:cNvPr id="4" name="phase when"/>
          <p:cNvSpPr txBox="1"/>
          <p:nvPr/>
        </p:nvSpPr>
        <p:spPr>
          <a:xfrm>
            <a:off x="640080" y="1188720"/>
            <a:ext cx="2286000" cy="274320"/>
          </a:xfrm>
          <a:prstGeom prst="rect">
            <a:avLst/>
          </a:prstGeom>
          <a:noFill/>
          <a:ln/>
        </p:spPr>
        <p:txBody>
          <a:bodyPr wrap="square" lIns="0" tIns="0" rIns="0" bIns="0" rtlCol="0" anchor="ctr"/>
          <a:lstStyle/>
          <a:p>
            <a:pPr indent="0" marL="0">
              <a:buNone/>
            </a:pPr>
            <a:r>
              <a:rPr lang="en-US" sz="1100" b="1" dirty="0">
                <a:solidFill>
                  <a:schemeClr val="accent1"/>
                </a:solidFill>
              </a:rPr>
              <a:t>Weeks 1 to 4</a:t>
            </a:r>
            <a:endParaRPr lang="en-US" sz="1100" dirty="0"/>
          </a:p>
        </p:txBody>
      </p:sp>
      <p:sp>
        <p:nvSpPr>
          <p:cNvPr id="5" name="phase head"/>
          <p:cNvSpPr txBox="1"/>
          <p:nvPr/>
        </p:nvSpPr>
        <p:spPr>
          <a:xfrm>
            <a:off x="640080" y="1463040"/>
            <a:ext cx="2286000" cy="457200"/>
          </a:xfrm>
          <a:prstGeom prst="rect">
            <a:avLst/>
          </a:prstGeom>
          <a:noFill/>
          <a:ln/>
        </p:spPr>
        <p:txBody>
          <a:bodyPr wrap="square" lIns="0" tIns="0" rIns="0" bIns="0" rtlCol="0" anchor="t"/>
          <a:lstStyle/>
          <a:p>
            <a:pPr indent="0" marL="0">
              <a:buNone/>
            </a:pPr>
            <a:r>
              <a:rPr lang="en-US" sz="1400" b="1" dirty="0">
                <a:solidFill>
                  <a:schemeClr val="tx1"/>
                </a:solidFill>
              </a:rPr>
              <a:t>Learn the shop, build the intake</a:t>
            </a:r>
            <a:endParaRPr lang="en-US" sz="1400" dirty="0"/>
          </a:p>
        </p:txBody>
      </p:sp>
      <p:sp>
        <p:nvSpPr>
          <p:cNvPr id="6" name="phase items"/>
          <p:cNvSpPr txBox="1"/>
          <p:nvPr/>
        </p:nvSpPr>
        <p:spPr>
          <a:xfrm>
            <a:off x="640080" y="1965960"/>
            <a:ext cx="2331720" cy="26060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chemeClr val="tx2"/>
                </a:solidFill>
              </a:rPr>
              <a:t>Shadow estimating, PM, QC, shop and field as the posting describes</a:t>
            </a:r>
            <a:endParaRPr lang="en-US" sz="1050" dirty="0"/>
          </a:p>
          <a:p>
            <a:pPr marL="342900" indent="-342900">
              <a:spcAft>
                <a:spcPts val="500"/>
              </a:spcAft>
              <a:buSzPct val="100000"/>
              <a:buChar char="•"/>
            </a:pPr>
            <a:r>
              <a:rPr lang="en-US" sz="1050" dirty="0">
                <a:solidFill>
                  <a:schemeClr val="tx2"/>
                </a:solidFill>
              </a:rPr>
              <a:t>Stand up the five tables; load three years of bid logs and job closes</a:t>
            </a:r>
            <a:endParaRPr lang="en-US" sz="1050" dirty="0"/>
          </a:p>
          <a:p>
            <a:pPr marL="342900" indent="-342900">
              <a:spcAft>
                <a:spcPts val="500"/>
              </a:spcAft>
              <a:buSzPct val="100000"/>
              <a:buChar char="•"/>
            </a:pPr>
            <a:r>
              <a:rPr lang="en-US" sz="1050" dirty="0">
                <a:solidFill>
                  <a:schemeClr val="tx2"/>
                </a:solidFill>
              </a:rPr>
              <a:t>Phone the GCs we lost to for the low number; log no-bids going forward</a:t>
            </a:r>
            <a:endParaRPr lang="en-US" sz="1050" dirty="0"/>
          </a:p>
          <a:p>
            <a:pPr marL="342900" indent="-342900">
              <a:spcAft>
                <a:spcPts val="500"/>
              </a:spcAft>
              <a:buSzPct val="100000"/>
              <a:buChar char="•"/>
            </a:pPr>
            <a:r>
              <a:rPr lang="en-US" sz="1050" dirty="0">
                <a:solidFill>
                  <a:schemeClr val="tx2"/>
                </a:solidFill>
              </a:rPr>
              <a:t>KPI: coverage of lost reason and low-bid fields</a:t>
            </a:r>
            <a:endParaRPr lang="en-US" sz="1050" dirty="0"/>
          </a:p>
        </p:txBody>
      </p:sp>
      <p:sp>
        <p:nvSpPr>
          <p:cNvPr id="7" name="phase Weeks 5 to 8"/>
          <p:cNvSpPr/>
          <p:nvPr/>
        </p:nvSpPr>
        <p:spPr>
          <a:xfrm>
            <a:off x="3246120" y="1097280"/>
            <a:ext cx="2651760" cy="3566160"/>
          </a:xfrm>
          <a:prstGeom prst="roundRect">
            <a:avLst>
              <a:gd name="adj" fmla="val 2759"/>
            </a:avLst>
          </a:prstGeom>
          <a:solidFill>
            <a:schemeClr val="bg2"/>
          </a:solidFill>
          <a:ln w="9525">
            <a:solidFill>
              <a:schemeClr val="accent6"/>
            </a:solidFill>
            <a:prstDash val="solid"/>
          </a:ln>
        </p:spPr>
      </p:sp>
      <p:sp>
        <p:nvSpPr>
          <p:cNvPr id="8" name="phase when"/>
          <p:cNvSpPr txBox="1"/>
          <p:nvPr/>
        </p:nvSpPr>
        <p:spPr>
          <a:xfrm>
            <a:off x="3429000" y="1188720"/>
            <a:ext cx="2286000" cy="274320"/>
          </a:xfrm>
          <a:prstGeom prst="rect">
            <a:avLst/>
          </a:prstGeom>
          <a:noFill/>
          <a:ln/>
        </p:spPr>
        <p:txBody>
          <a:bodyPr wrap="square" lIns="0" tIns="0" rIns="0" bIns="0" rtlCol="0" anchor="ctr"/>
          <a:lstStyle/>
          <a:p>
            <a:pPr indent="0" marL="0">
              <a:buNone/>
            </a:pPr>
            <a:r>
              <a:rPr lang="en-US" sz="1100" b="1" dirty="0">
                <a:solidFill>
                  <a:schemeClr val="accent1"/>
                </a:solidFill>
              </a:rPr>
              <a:t>Weeks 5 to 8</a:t>
            </a:r>
            <a:endParaRPr lang="en-US" sz="1100" dirty="0"/>
          </a:p>
        </p:txBody>
      </p:sp>
      <p:sp>
        <p:nvSpPr>
          <p:cNvPr id="9" name="phase head"/>
          <p:cNvSpPr txBox="1"/>
          <p:nvPr/>
        </p:nvSpPr>
        <p:spPr>
          <a:xfrm>
            <a:off x="3429000" y="1463040"/>
            <a:ext cx="2286000" cy="457200"/>
          </a:xfrm>
          <a:prstGeom prst="rect">
            <a:avLst/>
          </a:prstGeom>
          <a:noFill/>
          <a:ln/>
        </p:spPr>
        <p:txBody>
          <a:bodyPr wrap="square" lIns="0" tIns="0" rIns="0" bIns="0" rtlCol="0" anchor="t"/>
          <a:lstStyle/>
          <a:p>
            <a:pPr indent="0" marL="0">
              <a:buNone/>
            </a:pPr>
            <a:r>
              <a:rPr lang="en-US" sz="1400" b="1" dirty="0">
                <a:solidFill>
                  <a:schemeClr val="tx1"/>
                </a:solidFill>
              </a:rPr>
              <a:t>Get the numbers live</a:t>
            </a:r>
            <a:endParaRPr lang="en-US" sz="1400" dirty="0"/>
          </a:p>
        </p:txBody>
      </p:sp>
      <p:sp>
        <p:nvSpPr>
          <p:cNvPr id="10" name="phase items"/>
          <p:cNvSpPr txBox="1"/>
          <p:nvPr/>
        </p:nvSpPr>
        <p:spPr>
          <a:xfrm>
            <a:off x="3429000" y="1965960"/>
            <a:ext cx="2331720" cy="26060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chemeClr val="tx2"/>
                </a:solidFill>
              </a:rPr>
              <a:t>Hit rate, customer and estimate-versus-actual pages on real history</a:t>
            </a:r>
            <a:endParaRPr lang="en-US" sz="1050" dirty="0"/>
          </a:p>
          <a:p>
            <a:pPr marL="342900" indent="-342900">
              <a:spcAft>
                <a:spcPts val="500"/>
              </a:spcAft>
              <a:buSzPct val="100000"/>
              <a:buChar char="•"/>
            </a:pPr>
            <a:r>
              <a:rPr lang="en-US" sz="1050" dirty="0">
                <a:solidFill>
                  <a:schemeClr val="tx2"/>
                </a:solidFill>
              </a:rPr>
              <a:t>Sit with estimators and PMs until definitions are agreed: decided bid, direct cost, change-order booking</a:t>
            </a:r>
            <a:endParaRPr lang="en-US" sz="1050" dirty="0"/>
          </a:p>
          <a:p>
            <a:pPr marL="342900" indent="-342900">
              <a:spcAft>
                <a:spcPts val="500"/>
              </a:spcAft>
              <a:buSzPct val="100000"/>
              <a:buChar char="•"/>
            </a:pPr>
            <a:r>
              <a:rPr lang="en-US" sz="1050" dirty="0">
                <a:solidFill>
                  <a:schemeClr val="tx2"/>
                </a:solidFill>
              </a:rPr>
              <a:t>First account plan from the customer scorecard</a:t>
            </a:r>
            <a:endParaRPr lang="en-US" sz="1050" dirty="0"/>
          </a:p>
          <a:p>
            <a:pPr marL="342900" indent="-342900">
              <a:spcAft>
                <a:spcPts val="500"/>
              </a:spcAft>
              <a:buSzPct val="100000"/>
              <a:buChar char="•"/>
            </a:pPr>
            <a:r>
              <a:rPr lang="en-US" sz="1050" dirty="0">
                <a:solidFill>
                  <a:schemeClr val="tx2"/>
                </a:solidFill>
              </a:rPr>
              <a:t>KPI: the report runs weekly without me touching it</a:t>
            </a:r>
            <a:endParaRPr lang="en-US" sz="1050" dirty="0"/>
          </a:p>
        </p:txBody>
      </p:sp>
      <p:sp>
        <p:nvSpPr>
          <p:cNvPr id="11" name="phase Weeks 9 to 13"/>
          <p:cNvSpPr/>
          <p:nvPr/>
        </p:nvSpPr>
        <p:spPr>
          <a:xfrm>
            <a:off x="6035040" y="1097280"/>
            <a:ext cx="2651760" cy="3566160"/>
          </a:xfrm>
          <a:prstGeom prst="roundRect">
            <a:avLst>
              <a:gd name="adj" fmla="val 2759"/>
            </a:avLst>
          </a:prstGeom>
          <a:solidFill>
            <a:schemeClr val="bg2"/>
          </a:solidFill>
          <a:ln w="9525">
            <a:solidFill>
              <a:schemeClr val="accent6"/>
            </a:solidFill>
            <a:prstDash val="solid"/>
          </a:ln>
        </p:spPr>
      </p:sp>
      <p:sp>
        <p:nvSpPr>
          <p:cNvPr id="12" name="phase when"/>
          <p:cNvSpPr txBox="1"/>
          <p:nvPr/>
        </p:nvSpPr>
        <p:spPr>
          <a:xfrm>
            <a:off x="6217920" y="1188720"/>
            <a:ext cx="2286000" cy="274320"/>
          </a:xfrm>
          <a:prstGeom prst="rect">
            <a:avLst/>
          </a:prstGeom>
          <a:noFill/>
          <a:ln/>
        </p:spPr>
        <p:txBody>
          <a:bodyPr wrap="square" lIns="0" tIns="0" rIns="0" bIns="0" rtlCol="0" anchor="ctr"/>
          <a:lstStyle/>
          <a:p>
            <a:pPr indent="0" marL="0">
              <a:buNone/>
            </a:pPr>
            <a:r>
              <a:rPr lang="en-US" sz="1100" b="1" dirty="0">
                <a:solidFill>
                  <a:schemeClr val="accent1"/>
                </a:solidFill>
              </a:rPr>
              <a:t>Weeks 9 to 13</a:t>
            </a:r>
            <a:endParaRPr lang="en-US" sz="1100" dirty="0"/>
          </a:p>
        </p:txBody>
      </p:sp>
      <p:sp>
        <p:nvSpPr>
          <p:cNvPr id="13" name="phase head"/>
          <p:cNvSpPr txBox="1"/>
          <p:nvPr/>
        </p:nvSpPr>
        <p:spPr>
          <a:xfrm>
            <a:off x="6217920" y="1463040"/>
            <a:ext cx="2286000" cy="457200"/>
          </a:xfrm>
          <a:prstGeom prst="rect">
            <a:avLst/>
          </a:prstGeom>
          <a:noFill/>
          <a:ln/>
        </p:spPr>
        <p:txBody>
          <a:bodyPr wrap="square" lIns="0" tIns="0" rIns="0" bIns="0" rtlCol="0" anchor="t"/>
          <a:lstStyle/>
          <a:p>
            <a:pPr indent="0" marL="0">
              <a:buNone/>
            </a:pPr>
            <a:r>
              <a:rPr lang="en-US" sz="1400" b="1" dirty="0">
                <a:solidFill>
                  <a:schemeClr val="tx1"/>
                </a:solidFill>
              </a:rPr>
              <a:t>Turn on the Monday scorecard</a:t>
            </a:r>
            <a:endParaRPr lang="en-US" sz="1400" dirty="0"/>
          </a:p>
        </p:txBody>
      </p:sp>
      <p:sp>
        <p:nvSpPr>
          <p:cNvPr id="14" name="phase items"/>
          <p:cNvSpPr txBox="1"/>
          <p:nvPr/>
        </p:nvSpPr>
        <p:spPr>
          <a:xfrm>
            <a:off x="6217920" y="1965960"/>
            <a:ext cx="2331720" cy="26060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chemeClr val="tx2"/>
                </a:solidFill>
              </a:rPr>
              <a:t>Score the pipeline; set the quarterly estimating-hour budget</a:t>
            </a:r>
            <a:endParaRPr lang="en-US" sz="1050" dirty="0"/>
          </a:p>
          <a:p>
            <a:pPr marL="342900" indent="-342900">
              <a:spcAft>
                <a:spcPts val="500"/>
              </a:spcAft>
              <a:buSzPct val="100000"/>
              <a:buChar char="•"/>
            </a:pPr>
            <a:r>
              <a:rPr lang="en-US" sz="1050" dirty="0">
                <a:solidFill>
                  <a:schemeClr val="tx2"/>
                </a:solidFill>
              </a:rPr>
              <a:t>Log every override with a reason</a:t>
            </a:r>
            <a:endParaRPr lang="en-US" sz="1050" dirty="0"/>
          </a:p>
          <a:p>
            <a:pPr marL="342900" indent="-342900">
              <a:spcAft>
                <a:spcPts val="500"/>
              </a:spcAft>
              <a:buSzPct val="100000"/>
              <a:buChar char="•"/>
            </a:pPr>
            <a:r>
              <a:rPr lang="en-US" sz="1050" dirty="0">
                <a:solidFill>
                  <a:schemeClr val="tx2"/>
                </a:solidFill>
              </a:rPr>
              <a:t>Monthly capacity review with shop leadership</a:t>
            </a:r>
            <a:endParaRPr lang="en-US" sz="1050" dirty="0"/>
          </a:p>
          <a:p>
            <a:pPr marL="342900" indent="-342900">
              <a:spcAft>
                <a:spcPts val="500"/>
              </a:spcAft>
              <a:buSzPct val="100000"/>
              <a:buChar char="•"/>
            </a:pPr>
            <a:r>
              <a:rPr lang="en-US" sz="1050" dirty="0">
                <a:solidFill>
                  <a:schemeClr val="tx2"/>
                </a:solidFill>
              </a:rPr>
              <a:t>KPI: share of estimating hours on Pursue work; pipeline tons versus the gap</a:t>
            </a:r>
            <a:endParaRPr lang="en-US" sz="10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Technology worth evaluating, in this order, and how we would judge each</a:t>
            </a:r>
            <a:endParaRPr lang="en-US" sz="2400" dirty="0"/>
          </a:p>
        </p:txBody>
      </p:sp>
      <p:sp>
        <p:nvSpPr>
          <p:cNvPr id="3" name="tech circle"/>
          <p:cNvSpPr/>
          <p:nvPr/>
        </p:nvSpPr>
        <p:spPr>
          <a:xfrm>
            <a:off x="548640" y="1207008"/>
            <a:ext cx="548640" cy="548640"/>
          </a:xfrm>
          <a:prstGeom prst="ellipse">
            <a:avLst/>
          </a:prstGeom>
          <a:solidFill>
            <a:schemeClr val="accent2"/>
          </a:solidFill>
          <a:ln w="12700">
            <a:solidFill>
              <a:schemeClr val="accent2"/>
            </a:solidFill>
            <a:prstDash val="solid"/>
          </a:ln>
        </p:spPr>
      </p:sp>
      <p:pic>
        <p:nvPicPr>
          <p:cNvPr id="4" name="tech icon" descr="preencoded.png">    </p:cNvPr>
          <p:cNvPicPr>
            <a:picLocks noChangeAspect="1"/>
          </p:cNvPicPr>
          <p:nvPr/>
        </p:nvPicPr>
        <p:blipFill>
          <a:blip r:embed="rId1"/>
          <a:stretch>
            <a:fillRect/>
          </a:stretch>
        </p:blipFill>
        <p:spPr>
          <a:xfrm>
            <a:off x="685800" y="1344168"/>
            <a:ext cx="274320" cy="274320"/>
          </a:xfrm>
          <a:prstGeom prst="rect">
            <a:avLst/>
          </a:prstGeom>
        </p:spPr>
      </p:pic>
      <p:sp>
        <p:nvSpPr>
          <p:cNvPr id="5" name="tech head"/>
          <p:cNvSpPr txBox="1"/>
          <p:nvPr/>
        </p:nvSpPr>
        <p:spPr>
          <a:xfrm>
            <a:off x="1325880" y="1097280"/>
            <a:ext cx="7315200" cy="347472"/>
          </a:xfrm>
          <a:prstGeom prst="rect">
            <a:avLst/>
          </a:prstGeom>
          <a:noFill/>
          <a:ln/>
        </p:spPr>
        <p:txBody>
          <a:bodyPr wrap="square" lIns="0" tIns="0" rIns="0" bIns="0" rtlCol="0" anchor="ctr"/>
          <a:lstStyle/>
          <a:p>
            <a:pPr indent="0" marL="0">
              <a:buNone/>
            </a:pPr>
            <a:r>
              <a:rPr lang="en-US" sz="1350" b="1" dirty="0">
                <a:solidFill>
                  <a:schemeClr val="tx1"/>
                </a:solidFill>
              </a:rPr>
              <a:t>1. GC and opportunity database</a:t>
            </a:r>
            <a:endParaRPr lang="en-US" sz="1350" dirty="0"/>
          </a:p>
        </p:txBody>
      </p:sp>
      <p:sp>
        <p:nvSpPr>
          <p:cNvPr id="6" name="tech text"/>
          <p:cNvSpPr txBox="1"/>
          <p:nvPr/>
        </p:nvSpPr>
        <p:spPr>
          <a:xfrm>
            <a:off x="1325880" y="1444752"/>
            <a:ext cx="7315200" cy="457200"/>
          </a:xfrm>
          <a:prstGeom prst="rect">
            <a:avLst/>
          </a:prstGeom>
          <a:noFill/>
          <a:ln/>
        </p:spPr>
        <p:txBody>
          <a:bodyPr wrap="square" lIns="0" tIns="0" rIns="0" bIns="0" rtlCol="0" anchor="t"/>
          <a:lstStyle/>
          <a:p>
            <a:pPr indent="0" marL="0">
              <a:buNone/>
            </a:pPr>
            <a:r>
              <a:rPr lang="en-US" sz="1100" dirty="0">
                <a:solidFill>
                  <a:schemeClr val="tx2"/>
                </a:solidFill>
              </a:rPr>
              <a:t>A spreadsheet with discipline first, then a light CRM. Judged on whether the intake survives staff changes.</a:t>
            </a:r>
            <a:endParaRPr lang="en-US" sz="1100" dirty="0"/>
          </a:p>
        </p:txBody>
      </p:sp>
      <p:sp>
        <p:nvSpPr>
          <p:cNvPr id="7" name="tech circle"/>
          <p:cNvSpPr/>
          <p:nvPr/>
        </p:nvSpPr>
        <p:spPr>
          <a:xfrm>
            <a:off x="548640" y="2093976"/>
            <a:ext cx="548640" cy="548640"/>
          </a:xfrm>
          <a:prstGeom prst="ellipse">
            <a:avLst/>
          </a:prstGeom>
          <a:solidFill>
            <a:schemeClr val="accent2"/>
          </a:solidFill>
          <a:ln w="12700">
            <a:solidFill>
              <a:schemeClr val="accent2"/>
            </a:solidFill>
            <a:prstDash val="solid"/>
          </a:ln>
        </p:spPr>
      </p:sp>
      <p:pic>
        <p:nvPicPr>
          <p:cNvPr id="8" name="tech icon" descr="preencoded.png">    </p:cNvPr>
          <p:cNvPicPr>
            <a:picLocks noChangeAspect="1"/>
          </p:cNvPicPr>
          <p:nvPr/>
        </p:nvPicPr>
        <p:blipFill>
          <a:blip r:embed="rId2"/>
          <a:stretch>
            <a:fillRect/>
          </a:stretch>
        </p:blipFill>
        <p:spPr>
          <a:xfrm>
            <a:off x="685800" y="2231136"/>
            <a:ext cx="274320" cy="274320"/>
          </a:xfrm>
          <a:prstGeom prst="rect">
            <a:avLst/>
          </a:prstGeom>
        </p:spPr>
      </p:pic>
      <p:sp>
        <p:nvSpPr>
          <p:cNvPr id="9" name="tech head"/>
          <p:cNvSpPr txBox="1"/>
          <p:nvPr/>
        </p:nvSpPr>
        <p:spPr>
          <a:xfrm>
            <a:off x="1325880" y="1984248"/>
            <a:ext cx="7315200" cy="347472"/>
          </a:xfrm>
          <a:prstGeom prst="rect">
            <a:avLst/>
          </a:prstGeom>
          <a:noFill/>
          <a:ln/>
        </p:spPr>
        <p:txBody>
          <a:bodyPr wrap="square" lIns="0" tIns="0" rIns="0" bIns="0" rtlCol="0" anchor="ctr"/>
          <a:lstStyle/>
          <a:p>
            <a:pPr indent="0" marL="0">
              <a:buNone/>
            </a:pPr>
            <a:r>
              <a:rPr lang="en-US" sz="1350" b="1" dirty="0">
                <a:solidFill>
                  <a:schemeClr val="tx1"/>
                </a:solidFill>
              </a:rPr>
              <a:t>2. Automated and AI-assisted takeoff</a:t>
            </a:r>
            <a:endParaRPr lang="en-US" sz="1350" dirty="0"/>
          </a:p>
        </p:txBody>
      </p:sp>
      <p:sp>
        <p:nvSpPr>
          <p:cNvPr id="10" name="tech text"/>
          <p:cNvSpPr txBox="1"/>
          <p:nvPr/>
        </p:nvSpPr>
        <p:spPr>
          <a:xfrm>
            <a:off x="1325880" y="2331720"/>
            <a:ext cx="7315200" cy="457200"/>
          </a:xfrm>
          <a:prstGeom prst="rect">
            <a:avLst/>
          </a:prstGeom>
          <a:noFill/>
          <a:ln/>
        </p:spPr>
        <p:txBody>
          <a:bodyPr wrap="square" lIns="0" tIns="0" rIns="0" bIns="0" rtlCol="0" anchor="t"/>
          <a:lstStyle/>
          <a:p>
            <a:pPr indent="0" marL="0">
              <a:buNone/>
            </a:pPr>
            <a:r>
              <a:rPr lang="en-US" sz="1100" dirty="0">
                <a:solidFill>
                  <a:schemeClr val="tx2"/>
                </a:solidFill>
              </a:rPr>
              <a:t>Model-based quantities from Revit or IFC, or AI-assisted PDF takeoff. Judged against our fitted hours-per-bid curve on the project types we actually pursue.</a:t>
            </a:r>
            <a:endParaRPr lang="en-US" sz="1100" dirty="0"/>
          </a:p>
        </p:txBody>
      </p:sp>
      <p:sp>
        <p:nvSpPr>
          <p:cNvPr id="11" name="tech circle"/>
          <p:cNvSpPr/>
          <p:nvPr/>
        </p:nvSpPr>
        <p:spPr>
          <a:xfrm>
            <a:off x="548640" y="2980944"/>
            <a:ext cx="548640" cy="548640"/>
          </a:xfrm>
          <a:prstGeom prst="ellipse">
            <a:avLst/>
          </a:prstGeom>
          <a:solidFill>
            <a:schemeClr val="accent2"/>
          </a:solidFill>
          <a:ln w="12700">
            <a:solidFill>
              <a:schemeClr val="accent2"/>
            </a:solidFill>
            <a:prstDash val="solid"/>
          </a:ln>
        </p:spPr>
      </p:sp>
      <p:pic>
        <p:nvPicPr>
          <p:cNvPr id="12" name="tech icon" descr="preencoded.png">    </p:cNvPr>
          <p:cNvPicPr>
            <a:picLocks noChangeAspect="1"/>
          </p:cNvPicPr>
          <p:nvPr/>
        </p:nvPicPr>
        <p:blipFill>
          <a:blip r:embed="rId3"/>
          <a:stretch>
            <a:fillRect/>
          </a:stretch>
        </p:blipFill>
        <p:spPr>
          <a:xfrm>
            <a:off x="685800" y="3118104"/>
            <a:ext cx="274320" cy="274320"/>
          </a:xfrm>
          <a:prstGeom prst="rect">
            <a:avLst/>
          </a:prstGeom>
        </p:spPr>
      </p:pic>
      <p:sp>
        <p:nvSpPr>
          <p:cNvPr id="13" name="tech head"/>
          <p:cNvSpPr txBox="1"/>
          <p:nvPr/>
        </p:nvSpPr>
        <p:spPr>
          <a:xfrm>
            <a:off x="1325880" y="2871216"/>
            <a:ext cx="7315200" cy="347472"/>
          </a:xfrm>
          <a:prstGeom prst="rect">
            <a:avLst/>
          </a:prstGeom>
          <a:noFill/>
          <a:ln/>
        </p:spPr>
        <p:txBody>
          <a:bodyPr wrap="square" lIns="0" tIns="0" rIns="0" bIns="0" rtlCol="0" anchor="ctr"/>
          <a:lstStyle/>
          <a:p>
            <a:pPr indent="0" marL="0">
              <a:buNone/>
            </a:pPr>
            <a:r>
              <a:rPr lang="en-US" sz="1350" b="1" dirty="0">
                <a:solidFill>
                  <a:schemeClr val="tx1"/>
                </a:solidFill>
              </a:rPr>
              <a:t>3. Lead services</a:t>
            </a:r>
            <a:endParaRPr lang="en-US" sz="1350" dirty="0"/>
          </a:p>
        </p:txBody>
      </p:sp>
      <p:sp>
        <p:nvSpPr>
          <p:cNvPr id="14" name="tech text"/>
          <p:cNvSpPr txBox="1"/>
          <p:nvPr/>
        </p:nvSpPr>
        <p:spPr>
          <a:xfrm>
            <a:off x="1325880" y="3218688"/>
            <a:ext cx="7315200" cy="457200"/>
          </a:xfrm>
          <a:prstGeom prst="rect">
            <a:avLst/>
          </a:prstGeom>
          <a:noFill/>
          <a:ln/>
        </p:spPr>
        <p:txBody>
          <a:bodyPr wrap="square" lIns="0" tIns="0" rIns="0" bIns="0" rtlCol="0" anchor="t"/>
          <a:lstStyle/>
          <a:p>
            <a:pPr indent="0" marL="0">
              <a:buNone/>
            </a:pPr>
            <a:r>
              <a:rPr lang="en-US" sz="1100" dirty="0">
                <a:solidFill>
                  <a:schemeClr val="tx2"/>
                </a:solidFill>
              </a:rPr>
              <a:t>Dodge, ConstructConnect, BuildCentral. Every lead runs through the scorecard, so we buy leads where the model says we win.</a:t>
            </a:r>
            <a:endParaRPr lang="en-US" sz="1100" dirty="0"/>
          </a:p>
        </p:txBody>
      </p:sp>
      <p:sp>
        <p:nvSpPr>
          <p:cNvPr id="15" name="tech circle"/>
          <p:cNvSpPr/>
          <p:nvPr/>
        </p:nvSpPr>
        <p:spPr>
          <a:xfrm>
            <a:off x="548640" y="3867912"/>
            <a:ext cx="548640" cy="548640"/>
          </a:xfrm>
          <a:prstGeom prst="ellipse">
            <a:avLst/>
          </a:prstGeom>
          <a:solidFill>
            <a:schemeClr val="accent2"/>
          </a:solidFill>
          <a:ln w="12700">
            <a:solidFill>
              <a:schemeClr val="accent2"/>
            </a:solidFill>
            <a:prstDash val="solid"/>
          </a:ln>
        </p:spPr>
      </p:sp>
      <p:pic>
        <p:nvPicPr>
          <p:cNvPr id="16" name="tech icon" descr="preencoded.png">    </p:cNvPr>
          <p:cNvPicPr>
            <a:picLocks noChangeAspect="1"/>
          </p:cNvPicPr>
          <p:nvPr/>
        </p:nvPicPr>
        <p:blipFill>
          <a:blip r:embed="rId4"/>
          <a:stretch>
            <a:fillRect/>
          </a:stretch>
        </p:blipFill>
        <p:spPr>
          <a:xfrm>
            <a:off x="685800" y="4005072"/>
            <a:ext cx="274320" cy="274320"/>
          </a:xfrm>
          <a:prstGeom prst="rect">
            <a:avLst/>
          </a:prstGeom>
        </p:spPr>
      </p:pic>
      <p:sp>
        <p:nvSpPr>
          <p:cNvPr id="17" name="tech head"/>
          <p:cNvSpPr txBox="1"/>
          <p:nvPr/>
        </p:nvSpPr>
        <p:spPr>
          <a:xfrm>
            <a:off x="1325880" y="3758184"/>
            <a:ext cx="7315200" cy="347472"/>
          </a:xfrm>
          <a:prstGeom prst="rect">
            <a:avLst/>
          </a:prstGeom>
          <a:noFill/>
          <a:ln/>
        </p:spPr>
        <p:txBody>
          <a:bodyPr wrap="square" lIns="0" tIns="0" rIns="0" bIns="0" rtlCol="0" anchor="ctr"/>
          <a:lstStyle/>
          <a:p>
            <a:pPr indent="0" marL="0">
              <a:buNone/>
            </a:pPr>
            <a:r>
              <a:rPr lang="en-US" sz="1350" b="1" dirty="0">
                <a:solidFill>
                  <a:schemeClr val="tx1"/>
                </a:solidFill>
              </a:rPr>
              <a:t>4. Pricing feedback</a:t>
            </a:r>
            <a:endParaRPr lang="en-US" sz="1350" dirty="0"/>
          </a:p>
        </p:txBody>
      </p:sp>
      <p:sp>
        <p:nvSpPr>
          <p:cNvPr id="18" name="tech text"/>
          <p:cNvSpPr txBox="1"/>
          <p:nvPr/>
        </p:nvSpPr>
        <p:spPr>
          <a:xfrm>
            <a:off x="1325880" y="4105656"/>
            <a:ext cx="7315200" cy="457200"/>
          </a:xfrm>
          <a:prstGeom prst="rect">
            <a:avLst/>
          </a:prstGeom>
          <a:noFill/>
          <a:ln/>
        </p:spPr>
        <p:txBody>
          <a:bodyPr wrap="square" lIns="0" tIns="0" rIns="0" bIns="0" rtlCol="0" anchor="t"/>
          <a:lstStyle/>
          <a:p>
            <a:pPr indent="0" marL="0">
              <a:buNone/>
            </a:pPr>
            <a:r>
              <a:rPr lang="en-US" sz="1100" dirty="0">
                <a:solidFill>
                  <a:schemeClr val="tx2"/>
                </a:solidFill>
              </a:rPr>
              <a:t>A post-award email template and a field in the database before any software. Cheapest, highest return.</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Risks and limits, stated up front</a:t>
            </a:r>
            <a:endParaRPr lang="en-US" sz="2400" dirty="0"/>
          </a:p>
        </p:txBody>
      </p:sp>
      <p:sp>
        <p:nvSpPr>
          <p:cNvPr id="3" name="risk Garbage in"/>
          <p:cNvSpPr/>
          <p:nvPr/>
        </p:nvSpPr>
        <p:spPr>
          <a:xfrm>
            <a:off x="457200" y="1097280"/>
            <a:ext cx="4023360" cy="1078992"/>
          </a:xfrm>
          <a:prstGeom prst="roundRect">
            <a:avLst>
              <a:gd name="adj" fmla="val 6780"/>
            </a:avLst>
          </a:prstGeom>
          <a:solidFill>
            <a:schemeClr val="bg2"/>
          </a:solidFill>
          <a:ln w="9525">
            <a:solidFill>
              <a:schemeClr val="accent6"/>
            </a:solidFill>
            <a:prstDash val="solid"/>
          </a:ln>
        </p:spPr>
      </p:sp>
      <p:sp>
        <p:nvSpPr>
          <p:cNvPr id="4" name="risk head"/>
          <p:cNvSpPr txBox="1"/>
          <p:nvPr/>
        </p:nvSpPr>
        <p:spPr>
          <a:xfrm>
            <a:off x="640080" y="1188720"/>
            <a:ext cx="3657600" cy="292608"/>
          </a:xfrm>
          <a:prstGeom prst="rect">
            <a:avLst/>
          </a:prstGeom>
          <a:noFill/>
          <a:ln/>
        </p:spPr>
        <p:txBody>
          <a:bodyPr wrap="square" lIns="0" tIns="0" rIns="0" bIns="0" rtlCol="0" anchor="ctr"/>
          <a:lstStyle/>
          <a:p>
            <a:pPr indent="0" marL="0">
              <a:buNone/>
            </a:pPr>
            <a:r>
              <a:rPr lang="en-US" sz="1250" b="1" dirty="0">
                <a:solidFill>
                  <a:schemeClr val="accent1"/>
                </a:solidFill>
              </a:rPr>
              <a:t>Garbage in</a:t>
            </a:r>
            <a:endParaRPr lang="en-US" sz="1250" dirty="0"/>
          </a:p>
        </p:txBody>
      </p:sp>
      <p:sp>
        <p:nvSpPr>
          <p:cNvPr id="5" name="risk text"/>
          <p:cNvSpPr txBox="1"/>
          <p:nvPr/>
        </p:nvSpPr>
        <p:spPr>
          <a:xfrm>
            <a:off x="640080" y="1481328"/>
            <a:ext cx="3657600" cy="658368"/>
          </a:xfrm>
          <a:prstGeom prst="rect">
            <a:avLst/>
          </a:prstGeom>
          <a:noFill/>
          <a:ln/>
        </p:spPr>
        <p:txBody>
          <a:bodyPr wrap="square" lIns="0" tIns="0" rIns="0" bIns="0" rtlCol="0" anchor="t"/>
          <a:lstStyle/>
          <a:p>
            <a:pPr indent="0" marL="0">
              <a:buNone/>
            </a:pPr>
            <a:r>
              <a:rPr lang="en-US" sz="1000" dirty="0">
                <a:solidFill>
                  <a:schemeClr val="tx2"/>
                </a:solidFill>
              </a:rPr>
              <a:t>If lost reasons and low-bid numbers are not collected, the pricing section and the odds degrade quietly. Mitigation: coverage is a reported KPI.</a:t>
            </a:r>
            <a:endParaRPr lang="en-US" sz="1000" dirty="0"/>
          </a:p>
        </p:txBody>
      </p:sp>
      <p:sp>
        <p:nvSpPr>
          <p:cNvPr id="6" name="risk Small samples"/>
          <p:cNvSpPr/>
          <p:nvPr/>
        </p:nvSpPr>
        <p:spPr>
          <a:xfrm>
            <a:off x="4663440" y="1097280"/>
            <a:ext cx="4023360" cy="1078992"/>
          </a:xfrm>
          <a:prstGeom prst="roundRect">
            <a:avLst>
              <a:gd name="adj" fmla="val 6780"/>
            </a:avLst>
          </a:prstGeom>
          <a:solidFill>
            <a:schemeClr val="bg2"/>
          </a:solidFill>
          <a:ln w="9525">
            <a:solidFill>
              <a:schemeClr val="accent6"/>
            </a:solidFill>
            <a:prstDash val="solid"/>
          </a:ln>
        </p:spPr>
      </p:sp>
      <p:sp>
        <p:nvSpPr>
          <p:cNvPr id="7" name="risk head"/>
          <p:cNvSpPr txBox="1"/>
          <p:nvPr/>
        </p:nvSpPr>
        <p:spPr>
          <a:xfrm>
            <a:off x="4846320" y="1188720"/>
            <a:ext cx="3657600" cy="292608"/>
          </a:xfrm>
          <a:prstGeom prst="rect">
            <a:avLst/>
          </a:prstGeom>
          <a:noFill/>
          <a:ln/>
        </p:spPr>
        <p:txBody>
          <a:bodyPr wrap="square" lIns="0" tIns="0" rIns="0" bIns="0" rtlCol="0" anchor="ctr"/>
          <a:lstStyle/>
          <a:p>
            <a:pPr indent="0" marL="0">
              <a:buNone/>
            </a:pPr>
            <a:r>
              <a:rPr lang="en-US" sz="1250" b="1" dirty="0">
                <a:solidFill>
                  <a:schemeClr val="accent1"/>
                </a:solidFill>
              </a:rPr>
              <a:t>Small samples</a:t>
            </a:r>
            <a:endParaRPr lang="en-US" sz="1250" dirty="0"/>
          </a:p>
        </p:txBody>
      </p:sp>
      <p:sp>
        <p:nvSpPr>
          <p:cNvPr id="8" name="risk text"/>
          <p:cNvSpPr txBox="1"/>
          <p:nvPr/>
        </p:nvSpPr>
        <p:spPr>
          <a:xfrm>
            <a:off x="4846320" y="1481328"/>
            <a:ext cx="3657600" cy="658368"/>
          </a:xfrm>
          <a:prstGeom prst="rect">
            <a:avLst/>
          </a:prstGeom>
          <a:noFill/>
          <a:ln/>
        </p:spPr>
        <p:txBody>
          <a:bodyPr wrap="square" lIns="0" tIns="0" rIns="0" bIns="0" rtlCol="0" anchor="t"/>
          <a:lstStyle/>
          <a:p>
            <a:pPr indent="0" marL="0">
              <a:buNone/>
            </a:pPr>
            <a:r>
              <a:rPr lang="en-US" sz="1000" dirty="0">
                <a:solidFill>
                  <a:schemeClr val="tx2"/>
                </a:solidFill>
              </a:rPr>
              <a:t>A few hundred bids. Quarterly hit rates swing, project-type effects are noisy. Mitigation: report sample sizes, shrink thin cuts toward the average.</a:t>
            </a:r>
            <a:endParaRPr lang="en-US" sz="1000" dirty="0"/>
          </a:p>
        </p:txBody>
      </p:sp>
      <p:sp>
        <p:nvSpPr>
          <p:cNvPr id="9" name="risk False precision"/>
          <p:cNvSpPr/>
          <p:nvPr/>
        </p:nvSpPr>
        <p:spPr>
          <a:xfrm>
            <a:off x="457200" y="2286000"/>
            <a:ext cx="4023360" cy="1078992"/>
          </a:xfrm>
          <a:prstGeom prst="roundRect">
            <a:avLst>
              <a:gd name="adj" fmla="val 6780"/>
            </a:avLst>
          </a:prstGeom>
          <a:solidFill>
            <a:schemeClr val="bg2"/>
          </a:solidFill>
          <a:ln w="9525">
            <a:solidFill>
              <a:schemeClr val="accent6"/>
            </a:solidFill>
            <a:prstDash val="solid"/>
          </a:ln>
        </p:spPr>
      </p:sp>
      <p:sp>
        <p:nvSpPr>
          <p:cNvPr id="10" name="risk head"/>
          <p:cNvSpPr txBox="1"/>
          <p:nvPr/>
        </p:nvSpPr>
        <p:spPr>
          <a:xfrm>
            <a:off x="640080" y="2377440"/>
            <a:ext cx="3657600" cy="292608"/>
          </a:xfrm>
          <a:prstGeom prst="rect">
            <a:avLst/>
          </a:prstGeom>
          <a:noFill/>
          <a:ln/>
        </p:spPr>
        <p:txBody>
          <a:bodyPr wrap="square" lIns="0" tIns="0" rIns="0" bIns="0" rtlCol="0" anchor="ctr"/>
          <a:lstStyle/>
          <a:p>
            <a:pPr indent="0" marL="0">
              <a:buNone/>
            </a:pPr>
            <a:r>
              <a:rPr lang="en-US" sz="1250" b="1" dirty="0">
                <a:solidFill>
                  <a:schemeClr val="accent1"/>
                </a:solidFill>
              </a:rPr>
              <a:t>False precision</a:t>
            </a:r>
            <a:endParaRPr lang="en-US" sz="1250" dirty="0"/>
          </a:p>
        </p:txBody>
      </p:sp>
      <p:sp>
        <p:nvSpPr>
          <p:cNvPr id="11" name="risk text"/>
          <p:cNvSpPr txBox="1"/>
          <p:nvPr/>
        </p:nvSpPr>
        <p:spPr>
          <a:xfrm>
            <a:off x="640080" y="2670048"/>
            <a:ext cx="3657600" cy="658368"/>
          </a:xfrm>
          <a:prstGeom prst="rect">
            <a:avLst/>
          </a:prstGeom>
          <a:noFill/>
          <a:ln/>
        </p:spPr>
        <p:txBody>
          <a:bodyPr wrap="square" lIns="0" tIns="0" rIns="0" bIns="0" rtlCol="0" anchor="t"/>
          <a:lstStyle/>
          <a:p>
            <a:pPr indent="0" marL="0">
              <a:buNone/>
            </a:pPr>
            <a:r>
              <a:rPr lang="en-US" sz="1000" dirty="0">
                <a:solidFill>
                  <a:schemeClr val="tx2"/>
                </a:solidFill>
              </a:rPr>
              <a:t>A 38% win probability is not a fact. Mitigation: show odds as ranges in the room, never overrule a person on one job.</a:t>
            </a:r>
            <a:endParaRPr lang="en-US" sz="1000" dirty="0"/>
          </a:p>
        </p:txBody>
      </p:sp>
      <p:sp>
        <p:nvSpPr>
          <p:cNvPr id="12" name="risk Gaming"/>
          <p:cNvSpPr/>
          <p:nvPr/>
        </p:nvSpPr>
        <p:spPr>
          <a:xfrm>
            <a:off x="4663440" y="2286000"/>
            <a:ext cx="4023360" cy="1078992"/>
          </a:xfrm>
          <a:prstGeom prst="roundRect">
            <a:avLst>
              <a:gd name="adj" fmla="val 6780"/>
            </a:avLst>
          </a:prstGeom>
          <a:solidFill>
            <a:schemeClr val="bg2"/>
          </a:solidFill>
          <a:ln w="9525">
            <a:solidFill>
              <a:schemeClr val="accent6"/>
            </a:solidFill>
            <a:prstDash val="solid"/>
          </a:ln>
        </p:spPr>
      </p:sp>
      <p:sp>
        <p:nvSpPr>
          <p:cNvPr id="13" name="risk head"/>
          <p:cNvSpPr txBox="1"/>
          <p:nvPr/>
        </p:nvSpPr>
        <p:spPr>
          <a:xfrm>
            <a:off x="4846320" y="2377440"/>
            <a:ext cx="3657600" cy="292608"/>
          </a:xfrm>
          <a:prstGeom prst="rect">
            <a:avLst/>
          </a:prstGeom>
          <a:noFill/>
          <a:ln/>
        </p:spPr>
        <p:txBody>
          <a:bodyPr wrap="square" lIns="0" tIns="0" rIns="0" bIns="0" rtlCol="0" anchor="ctr"/>
          <a:lstStyle/>
          <a:p>
            <a:pPr indent="0" marL="0">
              <a:buNone/>
            </a:pPr>
            <a:r>
              <a:rPr lang="en-US" sz="1250" b="1" dirty="0">
                <a:solidFill>
                  <a:schemeClr val="accent1"/>
                </a:solidFill>
              </a:rPr>
              <a:t>Gaming</a:t>
            </a:r>
            <a:endParaRPr lang="en-US" sz="1250" dirty="0"/>
          </a:p>
        </p:txBody>
      </p:sp>
      <p:sp>
        <p:nvSpPr>
          <p:cNvPr id="14" name="risk text"/>
          <p:cNvSpPr txBox="1"/>
          <p:nvPr/>
        </p:nvSpPr>
        <p:spPr>
          <a:xfrm>
            <a:off x="4846320" y="2670048"/>
            <a:ext cx="3657600" cy="658368"/>
          </a:xfrm>
          <a:prstGeom prst="rect">
            <a:avLst/>
          </a:prstGeom>
          <a:noFill/>
          <a:ln/>
        </p:spPr>
        <p:txBody>
          <a:bodyPr wrap="square" lIns="0" tIns="0" rIns="0" bIns="0" rtlCol="0" anchor="t"/>
          <a:lstStyle/>
          <a:p>
            <a:pPr indent="0" marL="0">
              <a:buNone/>
            </a:pPr>
            <a:r>
              <a:rPr lang="en-US" sz="1000" dirty="0">
                <a:solidFill>
                  <a:schemeClr val="tx2"/>
                </a:solidFill>
              </a:rPr>
              <a:t>If hours or markup are judged by the scorecard, people will manage to it. Mitigation: the scorecard allocates hours; it does not grade estimators.</a:t>
            </a:r>
            <a:endParaRPr lang="en-US" sz="1000" dirty="0"/>
          </a:p>
        </p:txBody>
      </p:sp>
      <p:sp>
        <p:nvSpPr>
          <p:cNvPr id="15" name="risk Scope"/>
          <p:cNvSpPr/>
          <p:nvPr/>
        </p:nvSpPr>
        <p:spPr>
          <a:xfrm>
            <a:off x="457200" y="3474720"/>
            <a:ext cx="4023360" cy="1078992"/>
          </a:xfrm>
          <a:prstGeom prst="roundRect">
            <a:avLst>
              <a:gd name="adj" fmla="val 6780"/>
            </a:avLst>
          </a:prstGeom>
          <a:solidFill>
            <a:schemeClr val="bg2"/>
          </a:solidFill>
          <a:ln w="9525">
            <a:solidFill>
              <a:schemeClr val="accent6"/>
            </a:solidFill>
            <a:prstDash val="solid"/>
          </a:ln>
        </p:spPr>
      </p:sp>
      <p:sp>
        <p:nvSpPr>
          <p:cNvPr id="16" name="risk head"/>
          <p:cNvSpPr txBox="1"/>
          <p:nvPr/>
        </p:nvSpPr>
        <p:spPr>
          <a:xfrm>
            <a:off x="640080" y="3566160"/>
            <a:ext cx="3657600" cy="292608"/>
          </a:xfrm>
          <a:prstGeom prst="rect">
            <a:avLst/>
          </a:prstGeom>
          <a:noFill/>
          <a:ln/>
        </p:spPr>
        <p:txBody>
          <a:bodyPr wrap="square" lIns="0" tIns="0" rIns="0" bIns="0" rtlCol="0" anchor="ctr"/>
          <a:lstStyle/>
          <a:p>
            <a:pPr indent="0" marL="0">
              <a:buNone/>
            </a:pPr>
            <a:r>
              <a:rPr lang="en-US" sz="1250" b="1" dirty="0">
                <a:solidFill>
                  <a:schemeClr val="accent1"/>
                </a:solidFill>
              </a:rPr>
              <a:t>Scope</a:t>
            </a:r>
            <a:endParaRPr lang="en-US" sz="1250" dirty="0"/>
          </a:p>
        </p:txBody>
      </p:sp>
      <p:sp>
        <p:nvSpPr>
          <p:cNvPr id="17" name="risk text"/>
          <p:cNvSpPr txBox="1"/>
          <p:nvPr/>
        </p:nvSpPr>
        <p:spPr>
          <a:xfrm>
            <a:off x="640080" y="3858768"/>
            <a:ext cx="3657600" cy="658368"/>
          </a:xfrm>
          <a:prstGeom prst="rect">
            <a:avLst/>
          </a:prstGeom>
          <a:noFill/>
          <a:ln/>
        </p:spPr>
        <p:txBody>
          <a:bodyPr wrap="square" lIns="0" tIns="0" rIns="0" bIns="0" rtlCol="0" anchor="t"/>
          <a:lstStyle/>
          <a:p>
            <a:pPr indent="0" marL="0">
              <a:buNone/>
            </a:pPr>
            <a:r>
              <a:rPr lang="en-US" sz="1000" dirty="0">
                <a:solidFill>
                  <a:schemeClr val="tx2"/>
                </a:solidFill>
              </a:rPr>
              <a:t>Only estimating hours are modelled as scarce. Bonding, cash, crews and GC schedule risk belong in the reasons column once data exists.</a:t>
            </a:r>
            <a:endParaRPr lang="en-US" sz="1000" dirty="0"/>
          </a:p>
        </p:txBody>
      </p:sp>
      <p:sp>
        <p:nvSpPr>
          <p:cNvPr id="18" name="risk Adoption"/>
          <p:cNvSpPr/>
          <p:nvPr/>
        </p:nvSpPr>
        <p:spPr>
          <a:xfrm>
            <a:off x="4663440" y="3474720"/>
            <a:ext cx="4023360" cy="1078992"/>
          </a:xfrm>
          <a:prstGeom prst="roundRect">
            <a:avLst>
              <a:gd name="adj" fmla="val 6780"/>
            </a:avLst>
          </a:prstGeom>
          <a:solidFill>
            <a:schemeClr val="bg2"/>
          </a:solidFill>
          <a:ln w="9525">
            <a:solidFill>
              <a:schemeClr val="accent6"/>
            </a:solidFill>
            <a:prstDash val="solid"/>
          </a:ln>
        </p:spPr>
      </p:sp>
      <p:sp>
        <p:nvSpPr>
          <p:cNvPr id="19" name="risk head"/>
          <p:cNvSpPr txBox="1"/>
          <p:nvPr/>
        </p:nvSpPr>
        <p:spPr>
          <a:xfrm>
            <a:off x="4846320" y="3566160"/>
            <a:ext cx="3657600" cy="292608"/>
          </a:xfrm>
          <a:prstGeom prst="rect">
            <a:avLst/>
          </a:prstGeom>
          <a:noFill/>
          <a:ln/>
        </p:spPr>
        <p:txBody>
          <a:bodyPr wrap="square" lIns="0" tIns="0" rIns="0" bIns="0" rtlCol="0" anchor="ctr"/>
          <a:lstStyle/>
          <a:p>
            <a:pPr indent="0" marL="0">
              <a:buNone/>
            </a:pPr>
            <a:r>
              <a:rPr lang="en-US" sz="1250" b="1" dirty="0">
                <a:solidFill>
                  <a:schemeClr val="accent1"/>
                </a:solidFill>
              </a:rPr>
              <a:t>Adoption</a:t>
            </a:r>
            <a:endParaRPr lang="en-US" sz="1250" dirty="0"/>
          </a:p>
        </p:txBody>
      </p:sp>
      <p:sp>
        <p:nvSpPr>
          <p:cNvPr id="20" name="risk text"/>
          <p:cNvSpPr txBox="1"/>
          <p:nvPr/>
        </p:nvSpPr>
        <p:spPr>
          <a:xfrm>
            <a:off x="4846320" y="3858768"/>
            <a:ext cx="3657600" cy="658368"/>
          </a:xfrm>
          <a:prstGeom prst="rect">
            <a:avLst/>
          </a:prstGeom>
          <a:noFill/>
          <a:ln/>
        </p:spPr>
        <p:txBody>
          <a:bodyPr wrap="square" lIns="0" tIns="0" rIns="0" bIns="0" rtlCol="0" anchor="t"/>
          <a:lstStyle/>
          <a:p>
            <a:pPr indent="0" marL="0">
              <a:buNone/>
            </a:pPr>
            <a:r>
              <a:rPr lang="en-US" sz="1000" dirty="0">
                <a:solidFill>
                  <a:schemeClr val="tx2"/>
                </a:solidFill>
              </a:rPr>
              <a:t>If the Monday meeting does not work the list, it is a report nobody reads. Mitigation: the estimating manager owns the rules and the hour budget, not the analyst.</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What we would report every month</a:t>
            </a:r>
            <a:endParaRPr lang="en-US" sz="2400" dirty="0"/>
          </a:p>
        </p:txBody>
      </p:sp>
      <p:graphicFrame>
        <p:nvGraphicFramePr>
          <p:cNvPr id="33" name="kpi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3657600"/>
                <a:gridCol w="2743200"/>
              </a:tblGrid>
              <a:tr h="384048">
                <a:tc>
                  <a:txBody>
                    <a:bodyPr/>
                    <a:lstStyle/>
                    <a:p>
                      <a:pPr algn="l" indent="0" marL="0">
                        <a:buNone/>
                      </a:pPr>
                      <a:r>
                        <a:rPr lang="en-US" sz="950" b="1" dirty="0">
                          <a:solidFill>
                            <a:srgbClr val="4A5660"/>
                          </a:solidFill>
                          <a:latin typeface="+mn-lt" pitchFamily="34" charset="0"/>
                          <a:ea typeface="+mn-lt" pitchFamily="34" charset="-122"/>
                          <a:cs typeface="+mn-lt" pitchFamily="34" charset="-120"/>
                        </a:rPr>
                        <a:t>KPI</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50" b="1" dirty="0">
                          <a:solidFill>
                            <a:srgbClr val="4A5660"/>
                          </a:solidFill>
                          <a:latin typeface="+mn-lt" pitchFamily="34" charset="0"/>
                          <a:ea typeface="+mn-lt" pitchFamily="34" charset="-122"/>
                          <a:cs typeface="+mn-lt" pitchFamily="34" charset="-120"/>
                        </a:rPr>
                        <a:t>Definition</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c>
                  <a:txBody>
                    <a:bodyPr/>
                    <a:lstStyle/>
                    <a:p>
                      <a:pPr algn="l" indent="0" marL="0">
                        <a:buNone/>
                      </a:pPr>
                      <a:r>
                        <a:rPr lang="en-US" sz="950" b="1" dirty="0">
                          <a:solidFill>
                            <a:srgbClr val="4A5660"/>
                          </a:solidFill>
                          <a:latin typeface="+mn-lt" pitchFamily="34" charset="0"/>
                          <a:ea typeface="+mn-lt" pitchFamily="34" charset="-122"/>
                          <a:cs typeface="+mn-lt" pitchFamily="34" charset="-120"/>
                        </a:rPr>
                        <a:t>Why it matters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rgbClr val="EEF1F3"/>
                    </a:solidFill>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Hit rate, count and value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Wins over decided bids; dollars won over dollars bid, trailing 12 months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The headline, both ways, so we see if we are winning only the small jobs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Won dollars per estimating hour</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Value won over all estimating hours spent, by project type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The return on the estimating team's time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Feedback coverage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Share of price losses with the low number recorded; share of no-bids with a reason</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Everything else depends on it</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Median price gap</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Our bid over the low bid when we lost on price, by delivery method</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Markup problem or fit problem</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Margin slip</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Estimated minus realised gross margin on jobs closed this quarter, by type and complexity</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Whether the estimate is learning</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Pipeline coverage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Backlog plus weighted pipeline over capacity, next four quarters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The business-development target in tons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Hours on Pursue work</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Share of estimating hours spent on Pursue calls; override count and reasons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Whether the scorecard is being used, and where it is wrong</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384048">
                <a:tc>
                  <a:txBody>
                    <a:bodyPr/>
                    <a:lstStyle/>
                    <a:p>
                      <a:pPr algn="l" indent="0" marL="0">
                        <a:buNone/>
                      </a:pPr>
                      <a:r>
                        <a:rPr lang="en-US" sz="950" dirty="0">
                          <a:solidFill>
                            <a:srgbClr val="1F2A33"/>
                          </a:solidFill>
                          <a:latin typeface="+mn-lt" pitchFamily="34" charset="0"/>
                          <a:ea typeface="+mn-lt" pitchFamily="34" charset="-122"/>
                          <a:cs typeface="+mn-lt" pitchFamily="34" charset="-120"/>
                        </a:rPr>
                        <a:t>A-class share</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Share of bids and of won dollars from A-class accounts; new A-class candidates</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algn="l" indent="0" marL="0">
                        <a:buNone/>
                      </a:pPr>
                      <a:r>
                        <a:rPr lang="en-US" sz="950" dirty="0">
                          <a:solidFill>
                            <a:srgbClr val="1F2A33"/>
                          </a:solidFill>
                          <a:latin typeface="+mn-lt" pitchFamily="34" charset="0"/>
                          <a:ea typeface="+mn-lt" pitchFamily="34" charset="-122"/>
                          <a:cs typeface="+mn-lt" pitchFamily="34" charset="-120"/>
                        </a:rPr>
                        <a:t>Account planning</a:t>
                      </a:r>
                      <a:endParaRPr lang="en-US" sz="950" dirty="0">
                        <a:latin typeface="+mn-lt" charset="0"/>
                        <a:ea typeface="+mn-lt" charset="0"/>
                        <a:cs typeface="+mn-lt" charset="0"/>
                      </a:endParaRPr>
                    </a:p>
                  </a:txBody>
                  <a:tcPr marL="36576" marR="36576" marT="36576" marB="36576" anchor="ctr">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8A96A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463040"/>
          </a:xfrm>
          <a:prstGeom prst="rect">
            <a:avLst/>
          </a:prstGeom>
          <a:noFill/>
          <a:ln/>
        </p:spPr>
        <p:txBody>
          <a:bodyPr wrap="square" lIns="0" tIns="0" rIns="0" bIns="0" rtlCol="0" anchor="b"/>
          <a:lstStyle/>
          <a:p>
            <a:pPr indent="0" marL="0">
              <a:buNone/>
            </a:pPr>
            <a:r>
              <a:rPr lang="en-US" sz="3600" b="1" dirty="0">
                <a:solidFill>
                  <a:schemeClr val="bg1"/>
                </a:solidFill>
              </a:rPr>
              <a:t>Every bid teaches us something. This puts the lesson in a table and on the Monday agenda.</a:t>
            </a:r>
            <a:endParaRPr lang="en-US" sz="3600" dirty="0"/>
          </a:p>
        </p:txBody>
      </p:sp>
      <p:sp>
        <p:nvSpPr>
          <p:cNvPr id="3" name="Text 0"/>
          <p:cNvSpPr/>
          <p:nvPr>
            <p:ph idx="101" type="body" hasCustomPrompt="1"/>
          </p:nvPr>
        </p:nvSpPr>
        <p:spPr>
          <a:xfrm>
            <a:off x="640080" y="2971800"/>
            <a:ext cx="7863840" cy="1188720"/>
          </a:xfrm>
          <a:prstGeom prst="rect">
            <a:avLst/>
          </a:prstGeom>
          <a:noFill/>
          <a:ln/>
        </p:spPr>
        <p:txBody>
          <a:bodyPr wrap="square" lIns="0" tIns="0" rIns="0" bIns="0" rtlCol="0" anchor="t"/>
          <a:lstStyle/>
          <a:p>
            <a:pPr indent="0" marL="0">
              <a:buNone/>
            </a:pPr>
            <a:r>
              <a:rPr lang="en-US" sz="1700" dirty="0">
                <a:solidFill>
                  <a:schemeClr val="accent6"/>
                </a:solidFill>
              </a:rPr>
              <a:t>Report, Tableau data, technical design and code are in the repository. The method runs unchanged on real history.</a:t>
            </a:r>
            <a:endParaRPr lang="en-US" sz="1700" dirty="0"/>
          </a:p>
        </p:txBody>
      </p:sp>
      <p:sp>
        <p:nvSpPr>
          <p:cNvPr id="4" name="thanks"/>
          <p:cNvSpPr txBox="1"/>
          <p:nvPr/>
        </p:nvSpPr>
        <p:spPr>
          <a:xfrm>
            <a:off x="640080" y="4297680"/>
            <a:ext cx="7863840" cy="365760"/>
          </a:xfrm>
          <a:prstGeom prst="rect">
            <a:avLst/>
          </a:prstGeom>
          <a:noFill/>
          <a:ln/>
        </p:spPr>
        <p:txBody>
          <a:bodyPr wrap="square" lIns="0" tIns="0" rIns="0" bIns="0" rtlCol="0" anchor="ctr"/>
          <a:lstStyle/>
          <a:p>
            <a:pPr indent="0" marL="0">
              <a:buNone/>
            </a:pPr>
            <a:r>
              <a:rPr lang="en-US" sz="1200" dirty="0">
                <a:solidFill>
                  <a:schemeClr val="accent5"/>
                </a:solidFill>
              </a:rPr>
              <a:t>Thank you</a:t>
            </a:r>
            <a:endParaRPr lang="en-US" sz="1200" dirty="0"/>
          </a:p>
        </p:txBody>
      </p:sp>
    </p:spTree>
  </p:cSld>
  <p:clrMapOvr>
    <a:masterClrMapping/>
  </p:clrMapOvr>
</p:sld>
</file>

<file path=ppt/theme/theme1.xml><?xml version="1.0" encoding="utf-8"?>
<a:theme xmlns:a="http://schemas.openxmlformats.org/drawingml/2006/main" name="Weibee Steel">
  <a:themeElements>
    <a:clrScheme name="Weibee Steel">
      <a:dk1>
        <a:srgbClr val="1F2A33"/>
      </a:dk1>
      <a:lt1>
        <a:srgbClr val="FFFFFF"/>
      </a:lt1>
      <a:dk2>
        <a:srgbClr val="4A5660"/>
      </a:dk2>
      <a:lt2>
        <a:srgbClr val="EEF1F3"/>
      </a:lt2>
      <a:accent1>
        <a:srgbClr val="EB6834"/>
      </a:accent1>
      <a:accent2>
        <a:srgbClr val="2A78D6"/>
      </a:accent2>
      <a:accent3>
        <a:srgbClr val="1BAF7A"/>
      </a:accent3>
      <a:accent4>
        <a:srgbClr val="EDA100"/>
      </a:accent4>
      <a:accent5>
        <a:srgbClr val="8A96A0"/>
      </a:accent5>
      <a:accent6>
        <a:srgbClr val="D5DBDF"/>
      </a:accent6>
      <a:hlink>
        <a:srgbClr val="2A78D6"/>
      </a:hlink>
      <a:folHlink>
        <a:srgbClr val="4A5660"/>
      </a:folHlink>
    </a:clrScheme>
    <a:fontScheme name="Weibee Ste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Weibee Steel bid intelligence, in depth</dc:title>
  <dc:subject>PptxGenJS Presentation</dc:subject>
  <dc:creator>Deepak Reddy</dc:creator>
  <cp:lastModifiedBy>Deepak Reddy</cp:lastModifiedBy>
  <cp:revision>1</cp:revision>
  <dcterms:created xsi:type="dcterms:W3CDTF">2026-10-12T00:48:55Z</dcterms:created>
  <dcterms:modified xsi:type="dcterms:W3CDTF">2026-10-12T00:48:55Z</dcterms:modified>
</cp:coreProperties>
</file>